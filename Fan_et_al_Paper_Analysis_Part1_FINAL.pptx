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6" r:id="rId5"/>
  </p:sldMasterIdLst>
  <p:notesMasterIdLst>
    <p:notesMasterId r:id="rId36"/>
  </p:notesMasterIdLst>
  <p:sldIdLst>
    <p:sldId id="808" r:id="rId6"/>
    <p:sldId id="821" r:id="rId7"/>
    <p:sldId id="312" r:id="rId8"/>
    <p:sldId id="837" r:id="rId9"/>
    <p:sldId id="822" r:id="rId10"/>
    <p:sldId id="809" r:id="rId11"/>
    <p:sldId id="812" r:id="rId12"/>
    <p:sldId id="823" r:id="rId13"/>
    <p:sldId id="810" r:id="rId14"/>
    <p:sldId id="811" r:id="rId15"/>
    <p:sldId id="819" r:id="rId16"/>
    <p:sldId id="830" r:id="rId17"/>
    <p:sldId id="820" r:id="rId18"/>
    <p:sldId id="831" r:id="rId19"/>
    <p:sldId id="839" r:id="rId20"/>
    <p:sldId id="835" r:id="rId21"/>
    <p:sldId id="836" r:id="rId22"/>
    <p:sldId id="827" r:id="rId23"/>
    <p:sldId id="833" r:id="rId24"/>
    <p:sldId id="834" r:id="rId25"/>
    <p:sldId id="826" r:id="rId26"/>
    <p:sldId id="825" r:id="rId27"/>
    <p:sldId id="824" r:id="rId28"/>
    <p:sldId id="838" r:id="rId29"/>
    <p:sldId id="840" r:id="rId30"/>
    <p:sldId id="816" r:id="rId31"/>
    <p:sldId id="818" r:id="rId32"/>
    <p:sldId id="815" r:id="rId33"/>
    <p:sldId id="817" r:id="rId34"/>
    <p:sldId id="686" r:id="rId35"/>
  </p:sldIdLst>
  <p:sldSz cx="12161838" cy="6858000"/>
  <p:notesSz cx="7026275" cy="9312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6811A12-4A59-4CEC-BACD-0600D5342D68}">
          <p14:sldIdLst>
            <p14:sldId id="808"/>
            <p14:sldId id="821"/>
            <p14:sldId id="312"/>
            <p14:sldId id="837"/>
            <p14:sldId id="822"/>
            <p14:sldId id="809"/>
            <p14:sldId id="812"/>
            <p14:sldId id="823"/>
            <p14:sldId id="810"/>
            <p14:sldId id="811"/>
            <p14:sldId id="819"/>
            <p14:sldId id="830"/>
            <p14:sldId id="820"/>
            <p14:sldId id="831"/>
            <p14:sldId id="839"/>
            <p14:sldId id="835"/>
            <p14:sldId id="836"/>
            <p14:sldId id="827"/>
            <p14:sldId id="833"/>
            <p14:sldId id="834"/>
            <p14:sldId id="826"/>
            <p14:sldId id="825"/>
            <p14:sldId id="824"/>
            <p14:sldId id="838"/>
            <p14:sldId id="840"/>
            <p14:sldId id="816"/>
            <p14:sldId id="818"/>
            <p14:sldId id="815"/>
            <p14:sldId id="817"/>
            <p14:sldId id="686"/>
          </p14:sldIdLst>
        </p14:section>
      </p14:sectionLst>
    </p:ext>
    <p:ext uri="{EFAFB233-063F-42B5-8137-9DF3F51BA10A}">
      <p15:sldGuideLst xmlns:p15="http://schemas.microsoft.com/office/powerpoint/2012/main">
        <p15:guide id="1" orient="horz" pos="2544" userDrawn="1">
          <p15:clr>
            <a:srgbClr val="A4A3A4"/>
          </p15:clr>
        </p15:guide>
        <p15:guide id="2" pos="2919" userDrawn="1">
          <p15:clr>
            <a:srgbClr val="A4A3A4"/>
          </p15:clr>
        </p15:guide>
        <p15:guide id="3" orient="horz" pos="552" userDrawn="1">
          <p15:clr>
            <a:srgbClr val="A4A3A4"/>
          </p15:clr>
        </p15:guide>
        <p15:guide id="4" pos="3831">
          <p15:clr>
            <a:srgbClr val="A4A3A4"/>
          </p15:clr>
        </p15:guide>
        <p15:guide id="5" orient="horz" pos="3720" userDrawn="1">
          <p15:clr>
            <a:srgbClr val="A4A3A4"/>
          </p15:clr>
        </p15:guide>
        <p15:guide id="6" pos="543" userDrawn="1">
          <p15:clr>
            <a:srgbClr val="A4A3A4"/>
          </p15:clr>
        </p15:guide>
        <p15:guide id="7" pos="4431" userDrawn="1">
          <p15:clr>
            <a:srgbClr val="A4A3A4"/>
          </p15:clr>
        </p15:guide>
        <p15:guide id="8" orient="horz" pos="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3D8B68-5576-A61A-E781-2A4D4AA13FF3}" name="Beau DeBoer" initials="BD" userId="S::bdeboer@epsilonsystems.com::d7482f17-9bc2-4dc1-9f8d-fdd3dde56b99" providerId="AD"/>
  <p188:author id="{6F0318A7-EB16-5C9C-7A59-8185EE7D57C7}" name="Kirsten Chandler" initials="KC" userId="S::kchandler@epsilonsystems.com::bf2025d3-4bb7-44bc-8a73-fd65b9a8e7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irsten Chandler" initials="KC" lastIdx="1" clrIdx="0">
    <p:extLst>
      <p:ext uri="{19B8F6BF-5375-455C-9EA6-DF929625EA0E}">
        <p15:presenceInfo xmlns:p15="http://schemas.microsoft.com/office/powerpoint/2012/main" userId="S::kchandler@epsilonsystems.com::bf2025d3-4bb7-44bc-8a73-fd65b9a8e79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42A"/>
    <a:srgbClr val="1B4A7E"/>
    <a:srgbClr val="152754"/>
    <a:srgbClr val="5FB1E3"/>
    <a:srgbClr val="3F6E9A"/>
    <a:srgbClr val="1E2554"/>
    <a:srgbClr val="0F578E"/>
    <a:srgbClr val="11568C"/>
    <a:srgbClr val="26408B"/>
    <a:srgbClr val="0D1426"/>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5EC41-7CFC-4B6B-9575-4793E31963A7}" v="71" dt="2026-05-19T18:00:50.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94" autoAdjust="0"/>
    <p:restoredTop sz="94821" autoAdjust="0"/>
  </p:normalViewPr>
  <p:slideViewPr>
    <p:cSldViewPr snapToGrid="0">
      <p:cViewPr varScale="1">
        <p:scale>
          <a:sx n="95" d="100"/>
          <a:sy n="95" d="100"/>
        </p:scale>
        <p:origin x="336" y="66"/>
      </p:cViewPr>
      <p:guideLst>
        <p:guide orient="horz" pos="2544"/>
        <p:guide pos="2919"/>
        <p:guide orient="horz" pos="552"/>
        <p:guide pos="3831"/>
        <p:guide orient="horz" pos="3720"/>
        <p:guide pos="543"/>
        <p:guide pos="4431"/>
        <p:guide orient="horz" pos="86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er Iler" userId="de83aacb-f55d-4228-9efe-c2e37645148b" providerId="ADAL" clId="{EA510842-AE2E-46C5-A0D2-6728B20F15C6}"/>
    <pc:docChg chg="modSld sldOrd">
      <pc:chgData name="Amber Iler" userId="de83aacb-f55d-4228-9efe-c2e37645148b" providerId="ADAL" clId="{EA510842-AE2E-46C5-A0D2-6728B20F15C6}" dt="2026-05-19T18:21:46.308" v="64" actId="2711"/>
      <pc:docMkLst>
        <pc:docMk/>
      </pc:docMkLst>
      <pc:sldChg chg="modSp mod">
        <pc:chgData name="Amber Iler" userId="de83aacb-f55d-4228-9efe-c2e37645148b" providerId="ADAL" clId="{EA510842-AE2E-46C5-A0D2-6728B20F15C6}" dt="2026-05-19T18:21:46.308" v="64" actId="2711"/>
        <pc:sldMkLst>
          <pc:docMk/>
          <pc:sldMk cId="3740137405" sldId="808"/>
        </pc:sldMkLst>
        <pc:spChg chg="mod">
          <ac:chgData name="Amber Iler" userId="de83aacb-f55d-4228-9efe-c2e37645148b" providerId="ADAL" clId="{EA510842-AE2E-46C5-A0D2-6728B20F15C6}" dt="2026-05-19T18:21:46.308" v="64" actId="2711"/>
          <ac:spMkLst>
            <pc:docMk/>
            <pc:sldMk cId="3740137405" sldId="808"/>
            <ac:spMk id="2" creationId="{731A3A7E-B63D-5CD0-CB66-5DF888A29B54}"/>
          </ac:spMkLst>
        </pc:spChg>
      </pc:sldChg>
      <pc:sldChg chg="modSp">
        <pc:chgData name="Amber Iler" userId="de83aacb-f55d-4228-9efe-c2e37645148b" providerId="ADAL" clId="{EA510842-AE2E-46C5-A0D2-6728B20F15C6}" dt="2026-05-19T12:53:16.661" v="0"/>
        <pc:sldMkLst>
          <pc:docMk/>
          <pc:sldMk cId="564740710" sldId="811"/>
        </pc:sldMkLst>
        <pc:spChg chg="mod">
          <ac:chgData name="Amber Iler" userId="de83aacb-f55d-4228-9efe-c2e37645148b" providerId="ADAL" clId="{EA510842-AE2E-46C5-A0D2-6728B20F15C6}" dt="2026-05-19T12:53:16.661" v="0"/>
          <ac:spMkLst>
            <pc:docMk/>
            <pc:sldMk cId="564740710" sldId="811"/>
            <ac:spMk id="2" creationId="{DCD9B4EE-51D3-53A1-C63F-FF959ABD0F5D}"/>
          </ac:spMkLst>
        </pc:spChg>
      </pc:sldChg>
      <pc:sldChg chg="modSp">
        <pc:chgData name="Amber Iler" userId="de83aacb-f55d-4228-9efe-c2e37645148b" providerId="ADAL" clId="{EA510842-AE2E-46C5-A0D2-6728B20F15C6}" dt="2026-05-19T17:41:18.319" v="57"/>
        <pc:sldMkLst>
          <pc:docMk/>
          <pc:sldMk cId="3373881744" sldId="816"/>
        </pc:sldMkLst>
        <pc:spChg chg="mod">
          <ac:chgData name="Amber Iler" userId="de83aacb-f55d-4228-9efe-c2e37645148b" providerId="ADAL" clId="{EA510842-AE2E-46C5-A0D2-6728B20F15C6}" dt="2026-05-19T17:41:18.319" v="57"/>
          <ac:spMkLst>
            <pc:docMk/>
            <pc:sldMk cId="3373881744" sldId="816"/>
            <ac:spMk id="2" creationId="{01165FCB-3AC3-B6F0-C89C-1234B437A619}"/>
          </ac:spMkLst>
        </pc:spChg>
      </pc:sldChg>
      <pc:sldChg chg="modSp ord">
        <pc:chgData name="Amber Iler" userId="de83aacb-f55d-4228-9efe-c2e37645148b" providerId="ADAL" clId="{EA510842-AE2E-46C5-A0D2-6728B20F15C6}" dt="2026-05-19T17:48:29.943" v="61" actId="20578"/>
        <pc:sldMkLst>
          <pc:docMk/>
          <pc:sldMk cId="2369161307" sldId="818"/>
        </pc:sldMkLst>
        <pc:spChg chg="mod">
          <ac:chgData name="Amber Iler" userId="de83aacb-f55d-4228-9efe-c2e37645148b" providerId="ADAL" clId="{EA510842-AE2E-46C5-A0D2-6728B20F15C6}" dt="2026-05-19T17:48:29.943" v="61" actId="20578"/>
          <ac:spMkLst>
            <pc:docMk/>
            <pc:sldMk cId="2369161307" sldId="818"/>
            <ac:spMk id="2" creationId="{3D2F490F-9570-9F82-D3E3-B4B8F4A30DD8}"/>
          </ac:spMkLst>
        </pc:spChg>
      </pc:sldChg>
      <pc:sldChg chg="modSp">
        <pc:chgData name="Amber Iler" userId="de83aacb-f55d-4228-9efe-c2e37645148b" providerId="ADAL" clId="{EA510842-AE2E-46C5-A0D2-6728B20F15C6}" dt="2026-05-19T18:00:50.547" v="63"/>
        <pc:sldMkLst>
          <pc:docMk/>
          <pc:sldMk cId="370943293" sldId="826"/>
        </pc:sldMkLst>
        <pc:spChg chg="mod">
          <ac:chgData name="Amber Iler" userId="de83aacb-f55d-4228-9efe-c2e37645148b" providerId="ADAL" clId="{EA510842-AE2E-46C5-A0D2-6728B20F15C6}" dt="2026-05-19T18:00:50.547" v="63"/>
          <ac:spMkLst>
            <pc:docMk/>
            <pc:sldMk cId="370943293" sldId="826"/>
            <ac:spMk id="2" creationId="{7B30AF8E-43FE-7A2A-0031-3751AC1F6B83}"/>
          </ac:spMkLst>
        </pc:spChg>
      </pc:sldChg>
      <pc:sldChg chg="modSp">
        <pc:chgData name="Amber Iler" userId="de83aacb-f55d-4228-9efe-c2e37645148b" providerId="ADAL" clId="{EA510842-AE2E-46C5-A0D2-6728B20F15C6}" dt="2026-05-19T13:09:10.170" v="1" actId="20577"/>
        <pc:sldMkLst>
          <pc:docMk/>
          <pc:sldMk cId="2180500931" sldId="830"/>
        </pc:sldMkLst>
        <pc:spChg chg="mod">
          <ac:chgData name="Amber Iler" userId="de83aacb-f55d-4228-9efe-c2e37645148b" providerId="ADAL" clId="{EA510842-AE2E-46C5-A0D2-6728B20F15C6}" dt="2026-05-19T13:09:10.170" v="1" actId="20577"/>
          <ac:spMkLst>
            <pc:docMk/>
            <pc:sldMk cId="2180500931" sldId="830"/>
            <ac:spMk id="2" creationId="{67683D83-A675-8CD2-999F-AAD1A37BC442}"/>
          </ac:spMkLst>
        </pc:spChg>
      </pc:sldChg>
      <pc:sldChg chg="modSp">
        <pc:chgData name="Amber Iler" userId="de83aacb-f55d-4228-9efe-c2e37645148b" providerId="ADAL" clId="{EA510842-AE2E-46C5-A0D2-6728B20F15C6}" dt="2026-05-19T13:24:43.816" v="16"/>
        <pc:sldMkLst>
          <pc:docMk/>
          <pc:sldMk cId="2561443064" sldId="831"/>
        </pc:sldMkLst>
        <pc:spChg chg="mod">
          <ac:chgData name="Amber Iler" userId="de83aacb-f55d-4228-9efe-c2e37645148b" providerId="ADAL" clId="{EA510842-AE2E-46C5-A0D2-6728B20F15C6}" dt="2026-05-19T13:24:43.816" v="16"/>
          <ac:spMkLst>
            <pc:docMk/>
            <pc:sldMk cId="2561443064" sldId="831"/>
            <ac:spMk id="2" creationId="{8F73EC81-A2B7-E271-3C70-62298E9B60FB}"/>
          </ac:spMkLst>
        </pc:spChg>
      </pc:sldChg>
      <pc:sldChg chg="modSp">
        <pc:chgData name="Amber Iler" userId="de83aacb-f55d-4228-9efe-c2e37645148b" providerId="ADAL" clId="{EA510842-AE2E-46C5-A0D2-6728B20F15C6}" dt="2026-05-19T13:34:37.980" v="18" actId="20577"/>
        <pc:sldMkLst>
          <pc:docMk/>
          <pc:sldMk cId="1459610687" sldId="833"/>
        </pc:sldMkLst>
        <pc:spChg chg="mod">
          <ac:chgData name="Amber Iler" userId="de83aacb-f55d-4228-9efe-c2e37645148b" providerId="ADAL" clId="{EA510842-AE2E-46C5-A0D2-6728B20F15C6}" dt="2026-05-19T13:34:37.980" v="18" actId="20577"/>
          <ac:spMkLst>
            <pc:docMk/>
            <pc:sldMk cId="1459610687" sldId="833"/>
            <ac:spMk id="2" creationId="{5F243AFE-F037-339B-B81E-49432EEF364A}"/>
          </ac:spMkLst>
        </pc:spChg>
      </pc:sldChg>
      <pc:sldChg chg="modSp">
        <pc:chgData name="Amber Iler" userId="de83aacb-f55d-4228-9efe-c2e37645148b" providerId="ADAL" clId="{EA510842-AE2E-46C5-A0D2-6728B20F15C6}" dt="2026-05-19T13:36:45.352" v="41" actId="20577"/>
        <pc:sldMkLst>
          <pc:docMk/>
          <pc:sldMk cId="2915300260" sldId="834"/>
        </pc:sldMkLst>
        <pc:spChg chg="mod">
          <ac:chgData name="Amber Iler" userId="de83aacb-f55d-4228-9efe-c2e37645148b" providerId="ADAL" clId="{EA510842-AE2E-46C5-A0D2-6728B20F15C6}" dt="2026-05-19T13:36:45.352" v="41" actId="20577"/>
          <ac:spMkLst>
            <pc:docMk/>
            <pc:sldMk cId="2915300260" sldId="834"/>
            <ac:spMk id="2" creationId="{8E6B777B-D23B-B80F-C385-089648297B4A}"/>
          </ac:spMkLst>
        </pc:spChg>
      </pc:sldChg>
      <pc:sldChg chg="modSp">
        <pc:chgData name="Amber Iler" userId="de83aacb-f55d-4228-9efe-c2e37645148b" providerId="ADAL" clId="{EA510842-AE2E-46C5-A0D2-6728B20F15C6}" dt="2026-05-19T17:57:42.400" v="62"/>
        <pc:sldMkLst>
          <pc:docMk/>
          <pc:sldMk cId="2148947884" sldId="839"/>
        </pc:sldMkLst>
        <pc:spChg chg="mod">
          <ac:chgData name="Amber Iler" userId="de83aacb-f55d-4228-9efe-c2e37645148b" providerId="ADAL" clId="{EA510842-AE2E-46C5-A0D2-6728B20F15C6}" dt="2026-05-19T17:57:42.400" v="62"/>
          <ac:spMkLst>
            <pc:docMk/>
            <pc:sldMk cId="2148947884" sldId="839"/>
            <ac:spMk id="2" creationId="{042E68F7-F673-0399-4690-BF64F664F5DC}"/>
          </ac:spMkLst>
        </pc:spChg>
      </pc:sldChg>
      <pc:sldChg chg="modSp">
        <pc:chgData name="Amber Iler" userId="de83aacb-f55d-4228-9efe-c2e37645148b" providerId="ADAL" clId="{EA510842-AE2E-46C5-A0D2-6728B20F15C6}" dt="2026-05-19T17:43:14.252" v="59"/>
        <pc:sldMkLst>
          <pc:docMk/>
          <pc:sldMk cId="829850432" sldId="840"/>
        </pc:sldMkLst>
        <pc:spChg chg="mod">
          <ac:chgData name="Amber Iler" userId="de83aacb-f55d-4228-9efe-c2e37645148b" providerId="ADAL" clId="{EA510842-AE2E-46C5-A0D2-6728B20F15C6}" dt="2026-05-19T17:39:31.364" v="54"/>
          <ac:spMkLst>
            <pc:docMk/>
            <pc:sldMk cId="829850432" sldId="840"/>
            <ac:spMk id="2" creationId="{4537E2FB-AA02-FE9B-5190-33DAADFAF8EB}"/>
          </ac:spMkLst>
        </pc:spChg>
        <pc:spChg chg="mod">
          <ac:chgData name="Amber Iler" userId="de83aacb-f55d-4228-9efe-c2e37645148b" providerId="ADAL" clId="{EA510842-AE2E-46C5-A0D2-6728B20F15C6}" dt="2026-05-19T17:43:14.252" v="59"/>
          <ac:spMkLst>
            <pc:docMk/>
            <pc:sldMk cId="829850432" sldId="840"/>
            <ac:spMk id="4" creationId="{5C805637-C315-90FC-3F4A-69E00F46C13F}"/>
          </ac:spMkLst>
        </pc:spChg>
      </pc:sldChg>
      <pc:sldChg chg="modSp">
        <pc:chgData name="Amber Iler" userId="de83aacb-f55d-4228-9efe-c2e37645148b" providerId="ADAL" clId="{EA510842-AE2E-46C5-A0D2-6728B20F15C6}" dt="2026-05-19T17:17:27.471" v="47"/>
        <pc:sldMkLst>
          <pc:docMk/>
          <pc:sldMk cId="1127723814" sldId="841"/>
        </pc:sldMkLst>
        <pc:spChg chg="mod">
          <ac:chgData name="Amber Iler" userId="de83aacb-f55d-4228-9efe-c2e37645148b" providerId="ADAL" clId="{EA510842-AE2E-46C5-A0D2-6728B20F15C6}" dt="2026-05-19T17:17:27.471" v="47"/>
          <ac:spMkLst>
            <pc:docMk/>
            <pc:sldMk cId="1127723814" sldId="841"/>
            <ac:spMk id="2" creationId="{25E69DBD-C3E8-A238-25E5-1AABE64DC6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719" cy="465614"/>
          </a:xfrm>
          <a:prstGeom prst="rect">
            <a:avLst/>
          </a:prstGeom>
        </p:spPr>
        <p:txBody>
          <a:bodyPr vert="horz" lIns="93360" tIns="46680" rIns="93360" bIns="46680" rtlCol="0"/>
          <a:lstStyle>
            <a:lvl1pPr algn="l">
              <a:defRPr sz="1200"/>
            </a:lvl1pPr>
          </a:lstStyle>
          <a:p>
            <a:endParaRPr lang="en-US"/>
          </a:p>
        </p:txBody>
      </p:sp>
      <p:sp>
        <p:nvSpPr>
          <p:cNvPr id="3" name="Date Placeholder 2"/>
          <p:cNvSpPr>
            <a:spLocks noGrp="1"/>
          </p:cNvSpPr>
          <p:nvPr>
            <p:ph type="dt" idx="1"/>
          </p:nvPr>
        </p:nvSpPr>
        <p:spPr>
          <a:xfrm>
            <a:off x="3979930" y="0"/>
            <a:ext cx="3044719" cy="465614"/>
          </a:xfrm>
          <a:prstGeom prst="rect">
            <a:avLst/>
          </a:prstGeom>
        </p:spPr>
        <p:txBody>
          <a:bodyPr vert="horz" lIns="93360" tIns="46680" rIns="93360" bIns="46680" rtlCol="0"/>
          <a:lstStyle>
            <a:lvl1pPr algn="r">
              <a:defRPr sz="1200"/>
            </a:lvl1pPr>
          </a:lstStyle>
          <a:p>
            <a:fld id="{12841A3E-4A69-4BFF-B298-1F711E7E1B36}" type="datetimeFigureOut">
              <a:rPr lang="en-US" smtClean="0"/>
              <a:t>5/19/2026</a:t>
            </a:fld>
            <a:endParaRPr lang="en-US"/>
          </a:p>
        </p:txBody>
      </p:sp>
      <p:sp>
        <p:nvSpPr>
          <p:cNvPr id="4" name="Slide Image Placeholder 3"/>
          <p:cNvSpPr>
            <a:spLocks noGrp="1" noRot="1" noChangeAspect="1"/>
          </p:cNvSpPr>
          <p:nvPr>
            <p:ph type="sldImg" idx="2"/>
          </p:nvPr>
        </p:nvSpPr>
        <p:spPr>
          <a:xfrm>
            <a:off x="415925" y="698500"/>
            <a:ext cx="6194425" cy="3492500"/>
          </a:xfrm>
          <a:prstGeom prst="rect">
            <a:avLst/>
          </a:prstGeom>
          <a:noFill/>
          <a:ln w="12700">
            <a:solidFill>
              <a:prstClr val="black"/>
            </a:solidFill>
          </a:ln>
        </p:spPr>
        <p:txBody>
          <a:bodyPr vert="horz" lIns="93360" tIns="46680" rIns="93360" bIns="46680" rtlCol="0" anchor="ctr"/>
          <a:lstStyle/>
          <a:p>
            <a:endParaRPr lang="en-US"/>
          </a:p>
        </p:txBody>
      </p:sp>
      <p:sp>
        <p:nvSpPr>
          <p:cNvPr id="5" name="Notes Placeholder 4"/>
          <p:cNvSpPr>
            <a:spLocks noGrp="1"/>
          </p:cNvSpPr>
          <p:nvPr>
            <p:ph type="body" sz="quarter" idx="3"/>
          </p:nvPr>
        </p:nvSpPr>
        <p:spPr>
          <a:xfrm>
            <a:off x="702628" y="4423331"/>
            <a:ext cx="5621020" cy="4190524"/>
          </a:xfrm>
          <a:prstGeom prst="rect">
            <a:avLst/>
          </a:prstGeom>
        </p:spPr>
        <p:txBody>
          <a:bodyPr vert="horz" lIns="93360" tIns="46680" rIns="93360" bIns="466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045"/>
            <a:ext cx="3044719" cy="465614"/>
          </a:xfrm>
          <a:prstGeom prst="rect">
            <a:avLst/>
          </a:prstGeom>
        </p:spPr>
        <p:txBody>
          <a:bodyPr vert="horz" lIns="93360" tIns="46680" rIns="93360" bIns="46680" rtlCol="0" anchor="b"/>
          <a:lstStyle>
            <a:lvl1pPr algn="l">
              <a:defRPr sz="1200"/>
            </a:lvl1pPr>
          </a:lstStyle>
          <a:p>
            <a:endParaRPr lang="en-US"/>
          </a:p>
        </p:txBody>
      </p:sp>
      <p:sp>
        <p:nvSpPr>
          <p:cNvPr id="7" name="Slide Number Placeholder 6"/>
          <p:cNvSpPr>
            <a:spLocks noGrp="1"/>
          </p:cNvSpPr>
          <p:nvPr>
            <p:ph type="sldNum" sz="quarter" idx="5"/>
          </p:nvPr>
        </p:nvSpPr>
        <p:spPr>
          <a:xfrm>
            <a:off x="3979930" y="8845045"/>
            <a:ext cx="3044719" cy="465614"/>
          </a:xfrm>
          <a:prstGeom prst="rect">
            <a:avLst/>
          </a:prstGeom>
        </p:spPr>
        <p:txBody>
          <a:bodyPr vert="horz" lIns="93360" tIns="46680" rIns="93360" bIns="46680" rtlCol="0" anchor="b"/>
          <a:lstStyle>
            <a:lvl1pPr algn="r">
              <a:defRPr sz="1200"/>
            </a:lvl1pPr>
          </a:lstStyle>
          <a:p>
            <a:fld id="{ED0E5A20-A57B-4E4C-82AF-912F54134BD7}" type="slidenum">
              <a:rPr lang="en-US" smtClean="0"/>
              <a:t>‹#›</a:t>
            </a:fld>
            <a:endParaRPr lang="en-US"/>
          </a:p>
        </p:txBody>
      </p:sp>
    </p:spTree>
    <p:extLst>
      <p:ext uri="{BB962C8B-B14F-4D97-AF65-F5344CB8AC3E}">
        <p14:creationId xmlns:p14="http://schemas.microsoft.com/office/powerpoint/2010/main" val="90548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0E5A20-A57B-4E4C-82AF-912F54134BD7}" type="slidenum">
              <a:rPr lang="en-US" smtClean="0"/>
              <a:t>1</a:t>
            </a:fld>
            <a:endParaRPr lang="en-US"/>
          </a:p>
        </p:txBody>
      </p:sp>
    </p:spTree>
    <p:extLst>
      <p:ext uri="{BB962C8B-B14F-4D97-AF65-F5344CB8AC3E}">
        <p14:creationId xmlns:p14="http://schemas.microsoft.com/office/powerpoint/2010/main" val="2861149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0E5A20-A57B-4E4C-82AF-912F54134BD7}" type="slidenum">
              <a:rPr lang="en-US" smtClean="0"/>
              <a:t>9</a:t>
            </a:fld>
            <a:endParaRPr lang="en-US"/>
          </a:p>
        </p:txBody>
      </p:sp>
    </p:spTree>
    <p:extLst>
      <p:ext uri="{BB962C8B-B14F-4D97-AF65-F5344CB8AC3E}">
        <p14:creationId xmlns:p14="http://schemas.microsoft.com/office/powerpoint/2010/main" val="940587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0E5A20-A57B-4E4C-82AF-912F54134BD7}" type="slidenum">
              <a:rPr lang="en-US" smtClean="0"/>
              <a:t>29</a:t>
            </a:fld>
            <a:endParaRPr lang="en-US"/>
          </a:p>
        </p:txBody>
      </p:sp>
    </p:spTree>
    <p:extLst>
      <p:ext uri="{BB962C8B-B14F-4D97-AF65-F5344CB8AC3E}">
        <p14:creationId xmlns:p14="http://schemas.microsoft.com/office/powerpoint/2010/main" val="275424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0E5A20-A57B-4E4C-82AF-912F54134BD7}" type="slidenum">
              <a:rPr lang="en-US" smtClean="0"/>
              <a:t>30</a:t>
            </a:fld>
            <a:endParaRPr lang="en-US"/>
          </a:p>
        </p:txBody>
      </p:sp>
    </p:spTree>
    <p:extLst>
      <p:ext uri="{BB962C8B-B14F-4D97-AF65-F5344CB8AC3E}">
        <p14:creationId xmlns:p14="http://schemas.microsoft.com/office/powerpoint/2010/main" val="29175564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A7F7C3C-0EF0-4DBE-8C01-A27BBA142FB2}"/>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15044" y="0"/>
            <a:ext cx="12161838" cy="6858000"/>
          </a:xfrm>
          <a:prstGeom prst="rect">
            <a:avLst/>
          </a:prstGeom>
        </p:spPr>
      </p:pic>
      <p:pic>
        <p:nvPicPr>
          <p:cNvPr id="3" name="Picture 2" descr="Logo&#10;&#10;AI-generated content may be incorrect.">
            <a:extLst>
              <a:ext uri="{FF2B5EF4-FFF2-40B4-BE49-F238E27FC236}">
                <a16:creationId xmlns:a16="http://schemas.microsoft.com/office/drawing/2014/main" id="{450317C5-EDA3-685E-A5F5-7009FBE56134}"/>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41537" y="315462"/>
            <a:ext cx="4114800" cy="1157699"/>
          </a:xfrm>
          <a:prstGeom prst="rect">
            <a:avLst/>
          </a:prstGeom>
        </p:spPr>
      </p:pic>
      <p:sp>
        <p:nvSpPr>
          <p:cNvPr id="4" name="Rectangle 3">
            <a:extLst>
              <a:ext uri="{FF2B5EF4-FFF2-40B4-BE49-F238E27FC236}">
                <a16:creationId xmlns:a16="http://schemas.microsoft.com/office/drawing/2014/main" id="{C0FD0BDA-9EC2-6DDC-E333-2011233985AA}"/>
              </a:ext>
            </a:extLst>
          </p:cNvPr>
          <p:cNvSpPr/>
          <p:nvPr userDrawn="1"/>
        </p:nvSpPr>
        <p:spPr>
          <a:xfrm>
            <a:off x="15044" y="2209307"/>
            <a:ext cx="7753171" cy="45606"/>
          </a:xfrm>
          <a:prstGeom prst="rect">
            <a:avLst/>
          </a:prstGeom>
          <a:gradFill>
            <a:gsLst>
              <a:gs pos="0">
                <a:srgbClr val="0D1426"/>
              </a:gs>
              <a:gs pos="63700">
                <a:srgbClr val="26408B"/>
              </a:gs>
              <a:gs pos="34000">
                <a:srgbClr val="5FB1E3"/>
              </a:gs>
              <a:gs pos="100000">
                <a:srgbClr val="0D1426"/>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5"/>
          </a:p>
        </p:txBody>
      </p:sp>
      <p:sp>
        <p:nvSpPr>
          <p:cNvPr id="5" name="TextBox 4">
            <a:extLst>
              <a:ext uri="{FF2B5EF4-FFF2-40B4-BE49-F238E27FC236}">
                <a16:creationId xmlns:a16="http://schemas.microsoft.com/office/drawing/2014/main" id="{6123AFAA-5D05-B28B-F534-36BDA605AB29}"/>
              </a:ext>
            </a:extLst>
          </p:cNvPr>
          <p:cNvSpPr txBox="1"/>
          <p:nvPr userDrawn="1"/>
        </p:nvSpPr>
        <p:spPr>
          <a:xfrm>
            <a:off x="1293605" y="1609663"/>
            <a:ext cx="2206991" cy="275867"/>
          </a:xfrm>
          <a:prstGeom prst="rect">
            <a:avLst/>
          </a:prstGeom>
          <a:noFill/>
        </p:spPr>
        <p:txBody>
          <a:bodyPr wrap="none" rtlCol="0">
            <a:spAutoFit/>
          </a:bodyPr>
          <a:lstStyle/>
          <a:p>
            <a:pPr>
              <a:defRPr/>
            </a:pPr>
            <a:r>
              <a:rPr lang="en-US" sz="1197" dirty="0">
                <a:solidFill>
                  <a:schemeClr val="bg1"/>
                </a:solidFill>
                <a:latin typeface="+mj-lt"/>
                <a:ea typeface="Roboto Condensed Light" panose="02000000000000000000" pitchFamily="2" charset="0"/>
                <a:cs typeface="Roboto Condensed Light" panose="02000000000000000000" pitchFamily="2" charset="0"/>
              </a:rPr>
              <a:t>A 100% Employee-owned Company</a:t>
            </a:r>
          </a:p>
        </p:txBody>
      </p:sp>
      <p:sp>
        <p:nvSpPr>
          <p:cNvPr id="6" name="TextBox 5">
            <a:extLst>
              <a:ext uri="{FF2B5EF4-FFF2-40B4-BE49-F238E27FC236}">
                <a16:creationId xmlns:a16="http://schemas.microsoft.com/office/drawing/2014/main" id="{D7385DBA-0359-4465-074B-2146899AB1DE}"/>
              </a:ext>
            </a:extLst>
          </p:cNvPr>
          <p:cNvSpPr txBox="1"/>
          <p:nvPr userDrawn="1"/>
        </p:nvSpPr>
        <p:spPr>
          <a:xfrm>
            <a:off x="1293605" y="5045007"/>
            <a:ext cx="5696790" cy="559064"/>
          </a:xfrm>
          <a:prstGeom prst="rect">
            <a:avLst/>
          </a:prstGeom>
          <a:noFill/>
        </p:spPr>
        <p:txBody>
          <a:bodyPr wrap="square" rtlCol="0">
            <a:spAutoFit/>
          </a:bodyPr>
          <a:lstStyle/>
          <a:p>
            <a:pPr algn="l">
              <a:lnSpc>
                <a:spcPct val="120000"/>
              </a:lnSpc>
            </a:pPr>
            <a:r>
              <a:rPr lang="en-US" sz="2793" spc="100" dirty="0">
                <a:solidFill>
                  <a:srgbClr val="FFFF00"/>
                </a:solidFill>
                <a:effectLst>
                  <a:outerShdw blurRad="38100" dist="38100" dir="2700000" algn="tl">
                    <a:srgbClr val="000000">
                      <a:alpha val="43137"/>
                    </a:srgbClr>
                  </a:outerShdw>
                </a:effectLst>
                <a:latin typeface="+mj-lt"/>
              </a:rPr>
              <a:t>EXCELLENCE LIVES HERE</a:t>
            </a:r>
          </a:p>
        </p:txBody>
      </p:sp>
      <p:sp>
        <p:nvSpPr>
          <p:cNvPr id="10" name="TextBox 9">
            <a:extLst>
              <a:ext uri="{FF2B5EF4-FFF2-40B4-BE49-F238E27FC236}">
                <a16:creationId xmlns:a16="http://schemas.microsoft.com/office/drawing/2014/main" id="{6BA1DD95-844A-DA9B-5495-0E4BB259F021}"/>
              </a:ext>
            </a:extLst>
          </p:cNvPr>
          <p:cNvSpPr txBox="1"/>
          <p:nvPr userDrawn="1"/>
        </p:nvSpPr>
        <p:spPr>
          <a:xfrm>
            <a:off x="3961541" y="5951349"/>
            <a:ext cx="4238757" cy="614030"/>
          </a:xfrm>
          <a:prstGeom prst="rect">
            <a:avLst/>
          </a:prstGeom>
          <a:noFill/>
        </p:spPr>
        <p:txBody>
          <a:bodyPr wrap="square" rtlCol="0">
            <a:spAutoFit/>
          </a:bodyPr>
          <a:lstStyle/>
          <a:p>
            <a:pPr algn="ctr" defTabSz="912114">
              <a:defRPr/>
            </a:pPr>
            <a:r>
              <a:rPr lang="en-US" sz="1397" dirty="0">
                <a:solidFill>
                  <a:schemeClr val="bg1"/>
                </a:solidFill>
                <a:latin typeface="Open Sans"/>
              </a:rPr>
              <a:t>The content in this briefing is </a:t>
            </a:r>
          </a:p>
          <a:p>
            <a:pPr algn="ctr" defTabSz="912114">
              <a:defRPr/>
            </a:pPr>
            <a:r>
              <a:rPr lang="en-US" sz="1995" b="1" dirty="0">
                <a:solidFill>
                  <a:srgbClr val="00B050"/>
                </a:solidFill>
                <a:latin typeface="Open Sans"/>
              </a:rPr>
              <a:t>UNCLASSIFIED</a:t>
            </a:r>
            <a:endParaRPr lang="en-US" sz="1795" b="1" dirty="0">
              <a:solidFill>
                <a:srgbClr val="00B050"/>
              </a:solidFill>
              <a:latin typeface="Open Sans"/>
            </a:endParaRPr>
          </a:p>
        </p:txBody>
      </p:sp>
      <p:sp>
        <p:nvSpPr>
          <p:cNvPr id="16" name="Footer Placeholder 4">
            <a:extLst>
              <a:ext uri="{FF2B5EF4-FFF2-40B4-BE49-F238E27FC236}">
                <a16:creationId xmlns:a16="http://schemas.microsoft.com/office/drawing/2014/main" id="{D6DB4348-E857-8D2B-5F17-84E539C0A498}"/>
              </a:ext>
            </a:extLst>
          </p:cNvPr>
          <p:cNvSpPr txBox="1">
            <a:spLocks/>
          </p:cNvSpPr>
          <p:nvPr userDrawn="1"/>
        </p:nvSpPr>
        <p:spPr>
          <a:xfrm>
            <a:off x="8957569" y="6561899"/>
            <a:ext cx="2531882" cy="309418"/>
          </a:xfrm>
          <a:prstGeom prst="rect">
            <a:avLst/>
          </a:prstGeom>
        </p:spPr>
        <p:txBody>
          <a:bodyPr anchor="ctr" anchorCtr="0"/>
          <a:lstStyle>
            <a:defPPr>
              <a:defRPr lang="en-US"/>
            </a:defPPr>
            <a:lvl1pPr algn="r" rtl="0" fontAlgn="base">
              <a:spcBef>
                <a:spcPct val="0"/>
              </a:spcBef>
              <a:spcAft>
                <a:spcPct val="0"/>
              </a:spcAft>
              <a:defRPr sz="1000" b="1" kern="1200" baseline="0">
                <a:solidFill>
                  <a:srgbClr val="0F578E"/>
                </a:solidFill>
                <a:latin typeface="Roboto Condensed" panose="02000000000000000000" pitchFamily="2" charset="0"/>
                <a:ea typeface="Roboto Condensed" panose="02000000000000000000" pitchFamily="2" charset="0"/>
                <a:cs typeface="Roboto Condensed" panose="02000000000000000000" pitchFamily="2"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b="0" dirty="0">
                <a:solidFill>
                  <a:srgbClr val="FFFF00"/>
                </a:solidFill>
                <a:latin typeface="Aptos Narrow" panose="020B0004020202020204" pitchFamily="34" charset="0"/>
              </a:rPr>
              <a:t>EPSILONC5I.COM</a:t>
            </a:r>
          </a:p>
        </p:txBody>
      </p:sp>
      <p:sp>
        <p:nvSpPr>
          <p:cNvPr id="24" name="Title 23">
            <a:extLst>
              <a:ext uri="{FF2B5EF4-FFF2-40B4-BE49-F238E27FC236}">
                <a16:creationId xmlns:a16="http://schemas.microsoft.com/office/drawing/2014/main" id="{97E136C5-BBDE-1750-0752-A3A9EC51A4C6}"/>
              </a:ext>
            </a:extLst>
          </p:cNvPr>
          <p:cNvSpPr>
            <a:spLocks noGrp="1"/>
          </p:cNvSpPr>
          <p:nvPr>
            <p:ph type="title" hasCustomPrompt="1"/>
          </p:nvPr>
        </p:nvSpPr>
        <p:spPr>
          <a:xfrm>
            <a:off x="384300" y="2391415"/>
            <a:ext cx="7573158" cy="2075170"/>
          </a:xfrm>
        </p:spPr>
        <p:txBody>
          <a:bodyPr>
            <a:normAutofit/>
          </a:bodyPr>
          <a:lstStyle>
            <a:lvl1pPr>
              <a:defRPr sz="4000">
                <a:solidFill>
                  <a:srgbClr val="F7942A"/>
                </a:solidFill>
              </a:defRPr>
            </a:lvl1pPr>
          </a:lstStyle>
          <a:p>
            <a:br>
              <a:rPr lang="en-US" dirty="0"/>
            </a:br>
            <a:r>
              <a:rPr lang="en-US" dirty="0"/>
              <a:t>Title</a:t>
            </a:r>
          </a:p>
        </p:txBody>
      </p:sp>
    </p:spTree>
    <p:extLst>
      <p:ext uri="{BB962C8B-B14F-4D97-AF65-F5344CB8AC3E}">
        <p14:creationId xmlns:p14="http://schemas.microsoft.com/office/powerpoint/2010/main" val="1894888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A7F7C3C-0EF0-4DBE-8C01-A27BBA142FB2}"/>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61838" cy="6858000"/>
          </a:xfrm>
          <a:prstGeom prst="rect">
            <a:avLst/>
          </a:prstGeom>
        </p:spPr>
      </p:pic>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3657600"/>
            <a:ext cx="10527049" cy="1270589"/>
          </a:xfrm>
        </p:spPr>
        <p:txBody>
          <a:bodyPr>
            <a:noAutofit/>
          </a:bodyPr>
          <a:lstStyle>
            <a:lvl1pP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81966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Title">
    <p:spTree>
      <p:nvGrpSpPr>
        <p:cNvPr id="1" name=""/>
        <p:cNvGrpSpPr/>
        <p:nvPr/>
      </p:nvGrpSpPr>
      <p:grpSpPr>
        <a:xfrm>
          <a:off x="0" y="0"/>
          <a:ext cx="0" cy="0"/>
          <a:chOff x="0" y="0"/>
          <a:chExt cx="0" cy="0"/>
        </a:xfrm>
      </p:grpSpPr>
      <p:pic>
        <p:nvPicPr>
          <p:cNvPr id="3" name="Picture 2" descr="A group of ships in the water&#10;&#10;AI-generated content may be incorrect.">
            <a:extLst>
              <a:ext uri="{FF2B5EF4-FFF2-40B4-BE49-F238E27FC236}">
                <a16:creationId xmlns:a16="http://schemas.microsoft.com/office/drawing/2014/main" id="{F51E3234-D80F-3F0B-58A4-C6E9F244D2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61838" cy="5923777"/>
          </a:xfrm>
          <a:prstGeom prst="rect">
            <a:avLst/>
          </a:prstGeom>
        </p:spPr>
      </p:pic>
      <p:sp>
        <p:nvSpPr>
          <p:cNvPr id="5" name="Rectangle 4">
            <a:extLst>
              <a:ext uri="{FF2B5EF4-FFF2-40B4-BE49-F238E27FC236}">
                <a16:creationId xmlns:a16="http://schemas.microsoft.com/office/drawing/2014/main" id="{8F672CC2-C3DF-C775-7E33-622B096CC356}"/>
              </a:ext>
            </a:extLst>
          </p:cNvPr>
          <p:cNvSpPr/>
          <p:nvPr userDrawn="1"/>
        </p:nvSpPr>
        <p:spPr>
          <a:xfrm>
            <a:off x="0" y="5608320"/>
            <a:ext cx="12161838" cy="1249680"/>
          </a:xfrm>
          <a:prstGeom prst="rect">
            <a:avLst/>
          </a:prstGeom>
          <a:solidFill>
            <a:srgbClr val="1527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5751576"/>
            <a:ext cx="10527049" cy="950751"/>
          </a:xfrm>
        </p:spPr>
        <p:txBody>
          <a:bodyPr>
            <a:noAutofit/>
          </a:bodyPr>
          <a:lstStyle>
            <a:lvl1pP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31653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1E3234-D80F-3F0B-58A4-C6E9F244D2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9490" y="0"/>
            <a:ext cx="12122857" cy="5923777"/>
          </a:xfrm>
          <a:prstGeom prst="rect">
            <a:avLst/>
          </a:prstGeom>
        </p:spPr>
      </p:pic>
      <p:sp>
        <p:nvSpPr>
          <p:cNvPr id="5" name="Rectangle 4">
            <a:extLst>
              <a:ext uri="{FF2B5EF4-FFF2-40B4-BE49-F238E27FC236}">
                <a16:creationId xmlns:a16="http://schemas.microsoft.com/office/drawing/2014/main" id="{8F672CC2-C3DF-C775-7E33-622B096CC356}"/>
              </a:ext>
            </a:extLst>
          </p:cNvPr>
          <p:cNvSpPr/>
          <p:nvPr userDrawn="1"/>
        </p:nvSpPr>
        <p:spPr>
          <a:xfrm>
            <a:off x="0" y="5608320"/>
            <a:ext cx="12161838" cy="1249680"/>
          </a:xfrm>
          <a:prstGeom prst="rect">
            <a:avLst/>
          </a:prstGeom>
          <a:solidFill>
            <a:srgbClr val="1527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5751576"/>
            <a:ext cx="10527049" cy="950751"/>
          </a:xfrm>
        </p:spPr>
        <p:txBody>
          <a:bodyPr>
            <a:noAutofit/>
          </a:bodyPr>
          <a:lstStyle>
            <a:lvl1pPr>
              <a:defRPr sz="3600">
                <a:solidFill>
                  <a:schemeClr val="bg1"/>
                </a:solidFill>
              </a:defRPr>
            </a:lvl1pPr>
          </a:lstStyle>
          <a:p>
            <a:r>
              <a:rPr lang="en-US"/>
              <a:t>Click to edit Master title style</a:t>
            </a:r>
          </a:p>
        </p:txBody>
      </p:sp>
    </p:spTree>
    <p:extLst>
      <p:ext uri="{BB962C8B-B14F-4D97-AF65-F5344CB8AC3E}">
        <p14:creationId xmlns:p14="http://schemas.microsoft.com/office/powerpoint/2010/main" val="2284332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1E3234-D80F-3F0B-58A4-C6E9F244D2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88952" cy="5956073"/>
          </a:xfrm>
          <a:prstGeom prst="rect">
            <a:avLst/>
          </a:prstGeom>
        </p:spPr>
      </p:pic>
      <p:sp>
        <p:nvSpPr>
          <p:cNvPr id="5" name="Rectangle 4">
            <a:extLst>
              <a:ext uri="{FF2B5EF4-FFF2-40B4-BE49-F238E27FC236}">
                <a16:creationId xmlns:a16="http://schemas.microsoft.com/office/drawing/2014/main" id="{8F672CC2-C3DF-C775-7E33-622B096CC356}"/>
              </a:ext>
            </a:extLst>
          </p:cNvPr>
          <p:cNvSpPr/>
          <p:nvPr userDrawn="1"/>
        </p:nvSpPr>
        <p:spPr>
          <a:xfrm>
            <a:off x="0" y="5608320"/>
            <a:ext cx="12161838" cy="1249680"/>
          </a:xfrm>
          <a:prstGeom prst="rect">
            <a:avLst/>
          </a:prstGeom>
          <a:solidFill>
            <a:srgbClr val="1527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5751576"/>
            <a:ext cx="10527049" cy="950751"/>
          </a:xfrm>
        </p:spPr>
        <p:txBody>
          <a:bodyPr>
            <a:noAutofit/>
          </a:bodyPr>
          <a:lstStyle>
            <a:lvl1pPr>
              <a:defRPr sz="3600">
                <a:solidFill>
                  <a:schemeClr val="bg1"/>
                </a:solidFill>
              </a:defRPr>
            </a:lvl1pPr>
          </a:lstStyle>
          <a:p>
            <a:r>
              <a:rPr lang="en-US"/>
              <a:t>Click to edit Master title style</a:t>
            </a:r>
          </a:p>
        </p:txBody>
      </p:sp>
    </p:spTree>
    <p:extLst>
      <p:ext uri="{BB962C8B-B14F-4D97-AF65-F5344CB8AC3E}">
        <p14:creationId xmlns:p14="http://schemas.microsoft.com/office/powerpoint/2010/main" val="405246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1E3234-D80F-3F0B-58A4-C6E9F244D2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9491" y="0"/>
            <a:ext cx="12122855" cy="5923776"/>
          </a:xfrm>
          <a:prstGeom prst="rect">
            <a:avLst/>
          </a:prstGeom>
        </p:spPr>
      </p:pic>
      <p:sp>
        <p:nvSpPr>
          <p:cNvPr id="5" name="Rectangle 4">
            <a:extLst>
              <a:ext uri="{FF2B5EF4-FFF2-40B4-BE49-F238E27FC236}">
                <a16:creationId xmlns:a16="http://schemas.microsoft.com/office/drawing/2014/main" id="{8F672CC2-C3DF-C775-7E33-622B096CC356}"/>
              </a:ext>
            </a:extLst>
          </p:cNvPr>
          <p:cNvSpPr/>
          <p:nvPr userDrawn="1"/>
        </p:nvSpPr>
        <p:spPr>
          <a:xfrm>
            <a:off x="0" y="5608320"/>
            <a:ext cx="12161838" cy="1249680"/>
          </a:xfrm>
          <a:prstGeom prst="rect">
            <a:avLst/>
          </a:prstGeom>
          <a:solidFill>
            <a:srgbClr val="1527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5751576"/>
            <a:ext cx="10527049" cy="950751"/>
          </a:xfrm>
        </p:spPr>
        <p:txBody>
          <a:bodyPr>
            <a:noAutofit/>
          </a:bodyPr>
          <a:lstStyle>
            <a:lvl1pPr>
              <a:defRPr sz="3600">
                <a:solidFill>
                  <a:schemeClr val="bg1"/>
                </a:solidFill>
              </a:defRPr>
            </a:lvl1pPr>
          </a:lstStyle>
          <a:p>
            <a:r>
              <a:rPr lang="en-US"/>
              <a:t>Click to edit Master title style</a:t>
            </a:r>
          </a:p>
        </p:txBody>
      </p:sp>
    </p:spTree>
    <p:extLst>
      <p:ext uri="{BB962C8B-B14F-4D97-AF65-F5344CB8AC3E}">
        <p14:creationId xmlns:p14="http://schemas.microsoft.com/office/powerpoint/2010/main" val="217820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1E3234-D80F-3F0B-58A4-C6E9F244D2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61520" cy="5942668"/>
          </a:xfrm>
          <a:prstGeom prst="rect">
            <a:avLst/>
          </a:prstGeom>
        </p:spPr>
      </p:pic>
      <p:sp>
        <p:nvSpPr>
          <p:cNvPr id="5" name="Rectangle 4">
            <a:extLst>
              <a:ext uri="{FF2B5EF4-FFF2-40B4-BE49-F238E27FC236}">
                <a16:creationId xmlns:a16="http://schemas.microsoft.com/office/drawing/2014/main" id="{8F672CC2-C3DF-C775-7E33-622B096CC356}"/>
              </a:ext>
            </a:extLst>
          </p:cNvPr>
          <p:cNvSpPr/>
          <p:nvPr userDrawn="1"/>
        </p:nvSpPr>
        <p:spPr>
          <a:xfrm>
            <a:off x="0" y="5608320"/>
            <a:ext cx="12161838" cy="1249680"/>
          </a:xfrm>
          <a:prstGeom prst="rect">
            <a:avLst/>
          </a:prstGeom>
          <a:solidFill>
            <a:srgbClr val="1527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DF5407-9DE8-0721-A998-6DE35C259F78}"/>
              </a:ext>
            </a:extLst>
          </p:cNvPr>
          <p:cNvSpPr>
            <a:spLocks noGrp="1"/>
          </p:cNvSpPr>
          <p:nvPr>
            <p:ph type="title"/>
          </p:nvPr>
        </p:nvSpPr>
        <p:spPr>
          <a:xfrm>
            <a:off x="740664" y="5751576"/>
            <a:ext cx="10527049" cy="950751"/>
          </a:xfrm>
        </p:spPr>
        <p:txBody>
          <a:bodyPr>
            <a:noAutofit/>
          </a:bodyPr>
          <a:lstStyle>
            <a:lvl1pPr>
              <a:defRPr sz="3600">
                <a:solidFill>
                  <a:schemeClr val="bg1"/>
                </a:solidFill>
              </a:defRPr>
            </a:lvl1pPr>
          </a:lstStyle>
          <a:p>
            <a:r>
              <a:rPr lang="en-US"/>
              <a:t>Click to edit Master title style</a:t>
            </a:r>
          </a:p>
        </p:txBody>
      </p:sp>
    </p:spTree>
    <p:extLst>
      <p:ext uri="{BB962C8B-B14F-4D97-AF65-F5344CB8AC3E}">
        <p14:creationId xmlns:p14="http://schemas.microsoft.com/office/powerpoint/2010/main" val="1852336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lnSpc>
                <a:spcPct val="100000"/>
              </a:lnSpc>
              <a:defRPr sz="2400" i="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endParaRPr lang="en-US" dirty="0"/>
          </a:p>
        </p:txBody>
      </p:sp>
      <p:sp>
        <p:nvSpPr>
          <p:cNvPr id="6" name="Slide Number Placeholder 5"/>
          <p:cNvSpPr>
            <a:spLocks noGrp="1"/>
          </p:cNvSpPr>
          <p:nvPr>
            <p:ph type="sldNum" sz="quarter" idx="12"/>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
        <p:nvSpPr>
          <p:cNvPr id="5" name="Title 4">
            <a:extLst>
              <a:ext uri="{FF2B5EF4-FFF2-40B4-BE49-F238E27FC236}">
                <a16:creationId xmlns:a16="http://schemas.microsoft.com/office/drawing/2014/main" id="{17ECA3A2-7B98-97CC-12FE-34EC6787DD6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7518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w/PROPI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p:nvPr>
        </p:nvSpPr>
        <p:spPr/>
        <p:txBody>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
        <p:nvSpPr>
          <p:cNvPr id="4" name="Footer Placeholder 3">
            <a:extLst>
              <a:ext uri="{FF2B5EF4-FFF2-40B4-BE49-F238E27FC236}">
                <a16:creationId xmlns:a16="http://schemas.microsoft.com/office/drawing/2014/main" id="{87BADE94-C0B4-96DF-2DF0-F6FD864F1CA1}"/>
              </a:ext>
            </a:extLst>
          </p:cNvPr>
          <p:cNvSpPr txBox="1">
            <a:spLocks/>
          </p:cNvSpPr>
          <p:nvPr userDrawn="1"/>
        </p:nvSpPr>
        <p:spPr>
          <a:xfrm>
            <a:off x="420802" y="6549124"/>
            <a:ext cx="8405283" cy="309418"/>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65000"/>
                  </a:schemeClr>
                </a:solidFill>
                <a:effectLst/>
                <a:uLnTx/>
                <a:uFillTx/>
                <a:latin typeface="+mj-lt"/>
                <a:ea typeface="+mn-ea"/>
                <a:cs typeface="Arial" panose="020B0604020202020204" pitchFamily="34" charset="0"/>
              </a:rPr>
              <a:t>Company Proprietary - The information contained in this presentation is not to be copied, distributed, or used in any other way without the prior written authorization of Epsilon Systems Solutions, Inc.</a:t>
            </a:r>
          </a:p>
        </p:txBody>
      </p:sp>
    </p:spTree>
    <p:extLst>
      <p:ext uri="{BB962C8B-B14F-4D97-AF65-F5344CB8AC3E}">
        <p14:creationId xmlns:p14="http://schemas.microsoft.com/office/powerpoint/2010/main" val="421179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ubhead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baseline="0"/>
            </a:lvl1pPr>
          </a:lstStyle>
          <a:p>
            <a:r>
              <a:rPr lang="en-US"/>
              <a:t>Click To Edit Master Title Style</a:t>
            </a:r>
          </a:p>
        </p:txBody>
      </p:sp>
      <p:sp>
        <p:nvSpPr>
          <p:cNvPr id="3" name="Content Placeholder 2"/>
          <p:cNvSpPr>
            <a:spLocks noGrp="1"/>
          </p:cNvSpPr>
          <p:nvPr>
            <p:ph idx="1"/>
          </p:nvPr>
        </p:nvSpPr>
        <p:spPr>
          <a:xfrm>
            <a:off x="420802" y="1415824"/>
            <a:ext cx="11393244" cy="4960212"/>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1721947" y="6548582"/>
            <a:ext cx="439891" cy="309418"/>
          </a:xfrm>
          <a:prstGeom prst="rect">
            <a:avLst/>
          </a:prstGeom>
        </p:spPr>
        <p:txBody>
          <a:bodyPr/>
          <a:lstStyle>
            <a:lvl1pPr>
              <a:defRPr>
                <a:latin typeface="+mj-lt"/>
              </a:defRPr>
            </a:lvl1pPr>
          </a:lstStyle>
          <a:p>
            <a:fld id="{9EA51DAC-3F90-4AAD-A1AF-FE7171D4A594}" type="slidenum">
              <a:rPr lang="en-US" smtClean="0"/>
              <a:pPr/>
              <a:t>‹#›</a:t>
            </a:fld>
            <a:endParaRPr lang="en-US"/>
          </a:p>
        </p:txBody>
      </p:sp>
      <p:sp>
        <p:nvSpPr>
          <p:cNvPr id="10" name="Rectangle 9">
            <a:extLst>
              <a:ext uri="{FF2B5EF4-FFF2-40B4-BE49-F238E27FC236}">
                <a16:creationId xmlns:a16="http://schemas.microsoft.com/office/drawing/2014/main" id="{F9A1FFA2-9A98-4FB3-835D-2A045129F7E2}"/>
              </a:ext>
            </a:extLst>
          </p:cNvPr>
          <p:cNvSpPr/>
          <p:nvPr userDrawn="1"/>
        </p:nvSpPr>
        <p:spPr>
          <a:xfrm>
            <a:off x="0" y="827905"/>
            <a:ext cx="12161838" cy="459898"/>
          </a:xfrm>
          <a:prstGeom prst="rect">
            <a:avLst/>
          </a:prstGeom>
          <a:gradFill>
            <a:gsLst>
              <a:gs pos="0">
                <a:schemeClr val="bg1">
                  <a:lumMod val="8500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2">
            <a:extLst>
              <a:ext uri="{FF2B5EF4-FFF2-40B4-BE49-F238E27FC236}">
                <a16:creationId xmlns:a16="http://schemas.microsoft.com/office/drawing/2014/main" id="{B53D87B3-AF54-49EC-B75A-310AD499219F}"/>
              </a:ext>
            </a:extLst>
          </p:cNvPr>
          <p:cNvSpPr>
            <a:spLocks noGrp="1"/>
          </p:cNvSpPr>
          <p:nvPr>
            <p:ph type="body" idx="13"/>
          </p:nvPr>
        </p:nvSpPr>
        <p:spPr>
          <a:xfrm>
            <a:off x="416702" y="790313"/>
            <a:ext cx="11201400" cy="431699"/>
          </a:xfrm>
        </p:spPr>
        <p:txBody>
          <a:bodyPr anchor="b">
            <a:noAutofit/>
          </a:bodyPr>
          <a:lstStyle>
            <a:lvl1pPr marL="0" indent="0">
              <a:buNone/>
              <a:defRPr sz="2000" b="0" i="1">
                <a:solidFill>
                  <a:srgbClr val="0F578E"/>
                </a:solidFill>
                <a:latin typeface="+mj-lt"/>
                <a:ea typeface="Roboto Condensed" panose="02000000000000000000" pitchFamily="2" charset="0"/>
                <a:cs typeface="Roboto Condensed"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67292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0801" y="228601"/>
            <a:ext cx="11393243" cy="544285"/>
          </a:xfrm>
        </p:spPr>
        <p:txBody>
          <a:bodyPr/>
          <a:lstStyle/>
          <a:p>
            <a:r>
              <a:rPr lang="en-US"/>
              <a:t>Click To Edit Master Title Style</a:t>
            </a:r>
          </a:p>
        </p:txBody>
      </p:sp>
      <p:sp>
        <p:nvSpPr>
          <p:cNvPr id="3" name="Content Placeholder 2"/>
          <p:cNvSpPr>
            <a:spLocks noGrp="1"/>
          </p:cNvSpPr>
          <p:nvPr>
            <p:ph sz="half" idx="1"/>
          </p:nvPr>
        </p:nvSpPr>
        <p:spPr>
          <a:xfrm>
            <a:off x="416697" y="870857"/>
            <a:ext cx="5577840" cy="5529942"/>
          </a:xfrm>
        </p:spPr>
        <p:txBody>
          <a:bodyPr>
            <a:normAutofit/>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57472" y="870857"/>
            <a:ext cx="5577840" cy="5529942"/>
          </a:xfrm>
        </p:spPr>
        <p:txBody>
          <a:bodyPr>
            <a:normAutofit/>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9F8C2969-277B-7EA2-FF7A-5D470FDBE3FF}"/>
              </a:ext>
            </a:extLst>
          </p:cNvPr>
          <p:cNvSpPr txBox="1">
            <a:spLocks/>
          </p:cNvSpPr>
          <p:nvPr userDrawn="1"/>
        </p:nvSpPr>
        <p:spPr>
          <a:xfrm>
            <a:off x="11721947" y="6548582"/>
            <a:ext cx="439891" cy="309418"/>
          </a:xfrm>
          <a:prstGeom prst="rect">
            <a:avLst/>
          </a:prstGeom>
        </p:spPr>
        <p:txBody>
          <a:bodyPr/>
          <a:lstStyle>
            <a:defPPr>
              <a:defRPr lang="en-US"/>
            </a:defPPr>
            <a:lvl1pPr marL="0" algn="l" defTabSz="914400" rtl="0" eaLnBrk="1" latinLnBrk="0" hangingPunct="1">
              <a:defRPr sz="1400" b="1" kern="1200">
                <a:solidFill>
                  <a:srgbClr val="005696"/>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51DAC-3F90-4AAD-A1AF-FE7171D4A594}" type="slidenum">
              <a:rPr lang="en-US" smtClean="0"/>
              <a:pPr/>
              <a:t>‹#›</a:t>
            </a:fld>
            <a:endParaRPr lang="en-US"/>
          </a:p>
        </p:txBody>
      </p:sp>
    </p:spTree>
    <p:extLst>
      <p:ext uri="{BB962C8B-B14F-4D97-AF65-F5344CB8AC3E}">
        <p14:creationId xmlns:p14="http://schemas.microsoft.com/office/powerpoint/2010/main" val="1886453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6701" y="948730"/>
            <a:ext cx="5577840" cy="864629"/>
          </a:xfrm>
        </p:spPr>
        <p:txBody>
          <a:bodyPr anchor="ctr">
            <a:normAutofit/>
          </a:bodyPr>
          <a:lstStyle>
            <a:lvl1pPr marL="0" indent="0">
              <a:buNone/>
              <a:defRPr sz="2400" b="0" i="1">
                <a:solidFill>
                  <a:srgbClr val="11568C"/>
                </a:solidFill>
                <a:latin typeface="+mj-lt"/>
                <a:ea typeface="Roboto Condensed" panose="02000000000000000000" pitchFamily="2" charset="0"/>
                <a:cs typeface="Roboto Condensed"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16701" y="1813358"/>
            <a:ext cx="5577840" cy="4619339"/>
          </a:xfrm>
        </p:spPr>
        <p:txBody>
          <a:bodyPr>
            <a:normAutofit/>
          </a:bodyPr>
          <a:lstStyle>
            <a:lvl1pPr>
              <a:defRPr sz="2400"/>
            </a:lvl1pPr>
            <a:lvl2pPr>
              <a:defRPr sz="20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36206" y="948730"/>
            <a:ext cx="5577840" cy="864629"/>
          </a:xfrm>
        </p:spPr>
        <p:txBody>
          <a:bodyPr vert="horz" lIns="91440" tIns="45720" rIns="91440" bIns="45720" rtlCol="0" anchor="ctr">
            <a:normAutofit/>
          </a:bodyPr>
          <a:lstStyle>
            <a:lvl1pPr>
              <a:defRPr lang="en-US" sz="2400" b="0" i="1" kern="1200" dirty="0">
                <a:solidFill>
                  <a:srgbClr val="11568C"/>
                </a:solidFill>
                <a:latin typeface="+mj-lt"/>
                <a:ea typeface="Roboto Condensed" panose="02000000000000000000" pitchFamily="2" charset="0"/>
                <a:cs typeface="Roboto Condensed" panose="02000000000000000000" pitchFamily="2" charset="0"/>
              </a:defRPr>
            </a:lvl1pPr>
          </a:lstStyle>
          <a:p>
            <a:pPr marL="0" lvl="0" indent="0" algn="l" defTabSz="914400" rtl="0" eaLnBrk="1" latinLnBrk="0" hangingPunct="1">
              <a:lnSpc>
                <a:spcPct val="114000"/>
              </a:lnSpc>
              <a:spcBef>
                <a:spcPts val="600"/>
              </a:spcBef>
              <a:buClr>
                <a:srgbClr val="DD5000"/>
              </a:buClr>
              <a:buFont typeface="Wingdings" panose="05000000000000000000" pitchFamily="2" charset="2"/>
              <a:buNone/>
            </a:pPr>
            <a:r>
              <a:rPr lang="en-US"/>
              <a:t>Click to edit Master text styles</a:t>
            </a:r>
          </a:p>
        </p:txBody>
      </p:sp>
      <p:sp>
        <p:nvSpPr>
          <p:cNvPr id="6" name="Content Placeholder 5"/>
          <p:cNvSpPr>
            <a:spLocks noGrp="1"/>
          </p:cNvSpPr>
          <p:nvPr>
            <p:ph sz="quarter" idx="4"/>
          </p:nvPr>
        </p:nvSpPr>
        <p:spPr>
          <a:xfrm>
            <a:off x="6236206" y="1813359"/>
            <a:ext cx="5577840" cy="4619338"/>
          </a:xfrm>
        </p:spPr>
        <p:txBody>
          <a:bodyPr>
            <a:normAutofit/>
          </a:bodyPr>
          <a:lstStyle>
            <a:lvl1pPr>
              <a:defRPr sz="2400"/>
            </a:lvl1pPr>
            <a:lvl2pPr>
              <a:defRPr sz="20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a:xfrm>
            <a:off x="272775" y="6548582"/>
            <a:ext cx="551729" cy="309418"/>
          </a:xfrm>
          <a:prstGeom prst="rect">
            <a:avLst/>
          </a:prstGeom>
        </p:spPr>
        <p:txBody>
          <a:bodyPr/>
          <a:lstStyle>
            <a:lvl1pPr>
              <a:defRPr>
                <a:latin typeface="+mj-lt"/>
              </a:defRPr>
            </a:lvl1pPr>
          </a:lstStyle>
          <a:p>
            <a:fld id="{9EA51DAC-3F90-4AAD-A1AF-FE7171D4A594}" type="slidenum">
              <a:rPr lang="en-US" smtClean="0"/>
              <a:pPr/>
              <a:t>‹#›</a:t>
            </a:fld>
            <a:endParaRPr lang="en-US"/>
          </a:p>
        </p:txBody>
      </p:sp>
      <p:sp>
        <p:nvSpPr>
          <p:cNvPr id="8" name="Slide Number Placeholder 5">
            <a:extLst>
              <a:ext uri="{FF2B5EF4-FFF2-40B4-BE49-F238E27FC236}">
                <a16:creationId xmlns:a16="http://schemas.microsoft.com/office/drawing/2014/main" id="{5683500F-5797-71B8-1FEE-EB0D847E4DAE}"/>
              </a:ext>
            </a:extLst>
          </p:cNvPr>
          <p:cNvSpPr txBox="1">
            <a:spLocks/>
          </p:cNvSpPr>
          <p:nvPr userDrawn="1"/>
        </p:nvSpPr>
        <p:spPr>
          <a:xfrm>
            <a:off x="11722813" y="6548582"/>
            <a:ext cx="439025" cy="309418"/>
          </a:xfrm>
          <a:prstGeom prst="rect">
            <a:avLst/>
          </a:prstGeom>
        </p:spPr>
        <p:txBody>
          <a:bodyPr/>
          <a:lstStyle>
            <a:defPPr>
              <a:defRPr lang="en-US"/>
            </a:defPPr>
            <a:lvl1pPr marL="0" algn="l" defTabSz="914400" rtl="0" eaLnBrk="1" latinLnBrk="0" hangingPunct="1">
              <a:defRPr sz="1400" b="1" kern="1200">
                <a:solidFill>
                  <a:srgbClr val="005696"/>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51DAC-3F90-4AAD-A1AF-FE7171D4A594}" type="slidenum">
              <a:rPr lang="en-US" smtClean="0"/>
              <a:pPr/>
              <a:t>‹#›</a:t>
            </a:fld>
            <a:endParaRPr lang="en-US"/>
          </a:p>
        </p:txBody>
      </p:sp>
    </p:spTree>
    <p:extLst>
      <p:ext uri="{BB962C8B-B14F-4D97-AF65-F5344CB8AC3E}">
        <p14:creationId xmlns:p14="http://schemas.microsoft.com/office/powerpoint/2010/main" val="1235214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with Subhea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EA7660-8A1C-4FFA-A715-D764638D8EFC}"/>
              </a:ext>
            </a:extLst>
          </p:cNvPr>
          <p:cNvSpPr/>
          <p:nvPr userDrawn="1"/>
        </p:nvSpPr>
        <p:spPr>
          <a:xfrm>
            <a:off x="0" y="833881"/>
            <a:ext cx="12161838" cy="459898"/>
          </a:xfrm>
          <a:prstGeom prst="rect">
            <a:avLst/>
          </a:prstGeom>
          <a:gradFill>
            <a:gsLst>
              <a:gs pos="0">
                <a:schemeClr val="bg1">
                  <a:lumMod val="8500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6702" y="1316081"/>
            <a:ext cx="5577840" cy="858793"/>
          </a:xfrm>
        </p:spPr>
        <p:txBody>
          <a:bodyPr anchor="b">
            <a:normAutofit/>
          </a:bodyPr>
          <a:lstStyle>
            <a:lvl1pPr marL="0" indent="0">
              <a:buNone/>
              <a:defRPr lang="en-US" sz="2400" b="0" i="1" kern="1200" dirty="0">
                <a:solidFill>
                  <a:srgbClr val="11568C"/>
                </a:solidFill>
                <a:latin typeface="+mj-lt"/>
                <a:ea typeface="Roboto Condensed" panose="02000000000000000000" pitchFamily="2" charset="0"/>
                <a:cs typeface="Roboto Condensed"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4000"/>
              </a:lnSpc>
              <a:spcBef>
                <a:spcPts val="600"/>
              </a:spcBef>
              <a:buClr>
                <a:srgbClr val="DD5000"/>
              </a:buClr>
              <a:buFont typeface="Wingdings" panose="05000000000000000000" pitchFamily="2" charset="2"/>
              <a:buNone/>
            </a:pPr>
            <a:r>
              <a:rPr lang="en-US"/>
              <a:t>Click to edit Master text styles</a:t>
            </a:r>
          </a:p>
        </p:txBody>
      </p:sp>
      <p:sp>
        <p:nvSpPr>
          <p:cNvPr id="4" name="Content Placeholder 3"/>
          <p:cNvSpPr>
            <a:spLocks noGrp="1"/>
          </p:cNvSpPr>
          <p:nvPr>
            <p:ph sz="half" idx="2"/>
          </p:nvPr>
        </p:nvSpPr>
        <p:spPr>
          <a:xfrm>
            <a:off x="416702" y="2174875"/>
            <a:ext cx="5577840" cy="423655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52476" y="1316081"/>
            <a:ext cx="5577840" cy="858794"/>
          </a:xfrm>
        </p:spPr>
        <p:txBody>
          <a:bodyPr vert="horz" lIns="91440" tIns="45720" rIns="91440" bIns="45720" rtlCol="0" anchor="b">
            <a:normAutofit/>
          </a:bodyPr>
          <a:lstStyle>
            <a:lvl1pPr>
              <a:defRPr lang="en-US" sz="2400" b="0" i="1" kern="1200" dirty="0">
                <a:solidFill>
                  <a:srgbClr val="11568C"/>
                </a:solidFill>
                <a:latin typeface="+mj-lt"/>
                <a:ea typeface="Roboto Condensed" panose="02000000000000000000" pitchFamily="2" charset="0"/>
                <a:cs typeface="Roboto Condensed" panose="02000000000000000000" pitchFamily="2" charset="0"/>
              </a:defRPr>
            </a:lvl1pPr>
          </a:lstStyle>
          <a:p>
            <a:pPr marL="0" lvl="0" indent="0" algn="l" defTabSz="914400" rtl="0" eaLnBrk="1" latinLnBrk="0" hangingPunct="1">
              <a:lnSpc>
                <a:spcPct val="114000"/>
              </a:lnSpc>
              <a:spcBef>
                <a:spcPts val="600"/>
              </a:spcBef>
              <a:buClr>
                <a:srgbClr val="DD5000"/>
              </a:buClr>
              <a:buFont typeface="Wingdings" panose="05000000000000000000" pitchFamily="2" charset="2"/>
              <a:buNone/>
            </a:pPr>
            <a:r>
              <a:rPr lang="en-US"/>
              <a:t>Click to edit Master text styles</a:t>
            </a:r>
          </a:p>
        </p:txBody>
      </p:sp>
      <p:sp>
        <p:nvSpPr>
          <p:cNvPr id="6" name="Content Placeholder 5"/>
          <p:cNvSpPr>
            <a:spLocks noGrp="1"/>
          </p:cNvSpPr>
          <p:nvPr>
            <p:ph sz="quarter" idx="4"/>
          </p:nvPr>
        </p:nvSpPr>
        <p:spPr>
          <a:xfrm>
            <a:off x="6252476" y="2174874"/>
            <a:ext cx="5577840" cy="4236557"/>
          </a:xfrm>
        </p:spPr>
        <p:txBody>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162C5D39-ED7D-4F4A-8C36-2AEBABEBA828}"/>
              </a:ext>
            </a:extLst>
          </p:cNvPr>
          <p:cNvSpPr>
            <a:spLocks noGrp="1"/>
          </p:cNvSpPr>
          <p:nvPr>
            <p:ph type="body" idx="13"/>
          </p:nvPr>
        </p:nvSpPr>
        <p:spPr>
          <a:xfrm>
            <a:off x="416702" y="811579"/>
            <a:ext cx="11201400" cy="459898"/>
          </a:xfrm>
        </p:spPr>
        <p:txBody>
          <a:bodyPr anchor="b">
            <a:noAutofit/>
          </a:bodyPr>
          <a:lstStyle>
            <a:lvl1pPr marL="0" indent="0">
              <a:buNone/>
              <a:defRPr sz="2400" b="0" i="1">
                <a:solidFill>
                  <a:srgbClr val="0F578E"/>
                </a:solidFill>
                <a:latin typeface="+mj-lt"/>
                <a:ea typeface="Roboto Condensed" panose="02000000000000000000" pitchFamily="2" charset="0"/>
                <a:cs typeface="Roboto Condensed"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Slide Number Placeholder 5">
            <a:extLst>
              <a:ext uri="{FF2B5EF4-FFF2-40B4-BE49-F238E27FC236}">
                <a16:creationId xmlns:a16="http://schemas.microsoft.com/office/drawing/2014/main" id="{9A7E3832-EED6-9E77-972D-1B09F8D3D102}"/>
              </a:ext>
            </a:extLst>
          </p:cNvPr>
          <p:cNvSpPr>
            <a:spLocks noGrp="1"/>
          </p:cNvSpPr>
          <p:nvPr>
            <p:ph type="sldNum" sz="quarter" idx="15"/>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Tree>
    <p:extLst>
      <p:ext uri="{BB962C8B-B14F-4D97-AF65-F5344CB8AC3E}">
        <p14:creationId xmlns:p14="http://schemas.microsoft.com/office/powerpoint/2010/main" val="4222819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4" name="Slide Number Placeholder 5">
            <a:extLst>
              <a:ext uri="{FF2B5EF4-FFF2-40B4-BE49-F238E27FC236}">
                <a16:creationId xmlns:a16="http://schemas.microsoft.com/office/drawing/2014/main" id="{7DAB38EF-132C-50AA-DE5C-7A8D09065B92}"/>
              </a:ext>
            </a:extLst>
          </p:cNvPr>
          <p:cNvSpPr>
            <a:spLocks noGrp="1"/>
          </p:cNvSpPr>
          <p:nvPr>
            <p:ph type="sldNum" sz="quarter" idx="4"/>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
        <p:nvSpPr>
          <p:cNvPr id="11" name="Footer Placeholder 3"/>
          <p:cNvSpPr txBox="1">
            <a:spLocks/>
          </p:cNvSpPr>
          <p:nvPr userDrawn="1"/>
        </p:nvSpPr>
        <p:spPr>
          <a:xfrm>
            <a:off x="420802" y="6549124"/>
            <a:ext cx="8405283" cy="309418"/>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65000"/>
                  </a:schemeClr>
                </a:solidFill>
                <a:effectLst/>
                <a:uLnTx/>
                <a:uFillTx/>
                <a:latin typeface="+mj-lt"/>
                <a:ea typeface="+mn-ea"/>
                <a:cs typeface="Arial" panose="020B0604020202020204" pitchFamily="34" charset="0"/>
              </a:rPr>
              <a:t>Company Proprietary - The information contained in this presentation is not to be copied, distributed, or used in any other way without the prior written authorization of Epsilon Systems Solutions, Inc.</a:t>
            </a:r>
          </a:p>
        </p:txBody>
      </p:sp>
    </p:spTree>
    <p:extLst>
      <p:ext uri="{BB962C8B-B14F-4D97-AF65-F5344CB8AC3E}">
        <p14:creationId xmlns:p14="http://schemas.microsoft.com/office/powerpoint/2010/main" val="3940207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167A2B-B45B-4CF2-809B-6B4ABB637A46}"/>
              </a:ext>
            </a:extLst>
          </p:cNvPr>
          <p:cNvSpPr/>
          <p:nvPr userDrawn="1"/>
        </p:nvSpPr>
        <p:spPr>
          <a:xfrm>
            <a:off x="0" y="0"/>
            <a:ext cx="12161838" cy="68580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4">
            <a:extLst>
              <a:ext uri="{FF2B5EF4-FFF2-40B4-BE49-F238E27FC236}">
                <a16:creationId xmlns:a16="http://schemas.microsoft.com/office/drawing/2014/main" id="{31834EBF-ED0C-C7C8-65A0-3BAD62C60999}"/>
              </a:ext>
            </a:extLst>
          </p:cNvPr>
          <p:cNvSpPr>
            <a:spLocks noGrp="1"/>
          </p:cNvSpPr>
          <p:nvPr>
            <p:ph type="ftr" sz="quarter" idx="3"/>
          </p:nvPr>
        </p:nvSpPr>
        <p:spPr>
          <a:xfrm>
            <a:off x="9277565" y="6548582"/>
            <a:ext cx="2344638" cy="309418"/>
          </a:xfrm>
          <a:prstGeom prst="rect">
            <a:avLst/>
          </a:prstGeom>
        </p:spPr>
        <p:txBody>
          <a:bodyPr anchor="ctr" anchorCtr="0"/>
          <a:lstStyle>
            <a:lvl1pPr algn="r">
              <a:defRPr sz="1000" b="0" spc="100" baseline="0">
                <a:solidFill>
                  <a:srgbClr val="0F578E"/>
                </a:solidFill>
                <a:latin typeface="+mj-lt"/>
                <a:ea typeface="Roboto Condensed" panose="02000000000000000000" pitchFamily="2" charset="0"/>
                <a:cs typeface="Roboto Condensed" panose="02000000000000000000" pitchFamily="2" charset="0"/>
              </a:defRPr>
            </a:lvl1pPr>
          </a:lstStyle>
          <a:p>
            <a:r>
              <a:rPr lang="en-US" dirty="0"/>
              <a:t>EPSILONC5I.COM</a:t>
            </a:r>
          </a:p>
        </p:txBody>
      </p:sp>
      <p:sp>
        <p:nvSpPr>
          <p:cNvPr id="5" name="Slide Number Placeholder 5">
            <a:extLst>
              <a:ext uri="{FF2B5EF4-FFF2-40B4-BE49-F238E27FC236}">
                <a16:creationId xmlns:a16="http://schemas.microsoft.com/office/drawing/2014/main" id="{D31068D1-0D44-E8A8-C7CC-762913FF787F}"/>
              </a:ext>
            </a:extLst>
          </p:cNvPr>
          <p:cNvSpPr>
            <a:spLocks noGrp="1"/>
          </p:cNvSpPr>
          <p:nvPr>
            <p:ph type="sldNum" sz="quarter" idx="4"/>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Tree>
    <p:extLst>
      <p:ext uri="{BB962C8B-B14F-4D97-AF65-F5344CB8AC3E}">
        <p14:creationId xmlns:p14="http://schemas.microsoft.com/office/powerpoint/2010/main" val="4072137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9C8E75-F683-4992-8E1A-C1637262EB7C}"/>
              </a:ext>
            </a:extLst>
          </p:cNvPr>
          <p:cNvSpPr/>
          <p:nvPr userDrawn="1"/>
        </p:nvSpPr>
        <p:spPr>
          <a:xfrm>
            <a:off x="0" y="4797846"/>
            <a:ext cx="12161838" cy="2060154"/>
          </a:xfrm>
          <a:prstGeom prst="rect">
            <a:avLst/>
          </a:prstGeom>
          <a:gradFill>
            <a:gsLst>
              <a:gs pos="0">
                <a:srgbClr val="D8D8D8"/>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F3AF635-3F8E-41C8-8541-C052356D73DF}"/>
              </a:ext>
            </a:extLst>
          </p:cNvPr>
          <p:cNvSpPr/>
          <p:nvPr userDrawn="1"/>
        </p:nvSpPr>
        <p:spPr>
          <a:xfrm>
            <a:off x="0" y="0"/>
            <a:ext cx="12161838" cy="4797846"/>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8E9C334-0CAD-491B-BD6C-46FD8663A0D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9444004" y="5007498"/>
            <a:ext cx="2275395" cy="1201408"/>
          </a:xfrm>
          <a:prstGeom prst="rect">
            <a:avLst/>
          </a:prstGeom>
        </p:spPr>
      </p:pic>
      <p:sp>
        <p:nvSpPr>
          <p:cNvPr id="17" name="TextBox 16">
            <a:extLst>
              <a:ext uri="{FF2B5EF4-FFF2-40B4-BE49-F238E27FC236}">
                <a16:creationId xmlns:a16="http://schemas.microsoft.com/office/drawing/2014/main" id="{67A9A069-7E76-453A-82CE-5D37A7CC1485}"/>
              </a:ext>
            </a:extLst>
          </p:cNvPr>
          <p:cNvSpPr txBox="1"/>
          <p:nvPr userDrawn="1"/>
        </p:nvSpPr>
        <p:spPr>
          <a:xfrm>
            <a:off x="9628004" y="6363101"/>
            <a:ext cx="2117887" cy="26161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lumMod val="50000"/>
                  </a:schemeClr>
                </a:solidFill>
                <a:effectLst/>
                <a:uLnTx/>
                <a:uFillTx/>
                <a:latin typeface="Roboto Condensed Light" panose="02000000000000000000" pitchFamily="2" charset="0"/>
                <a:ea typeface="Roboto Condensed Light" panose="02000000000000000000" pitchFamily="2" charset="0"/>
                <a:cs typeface="Roboto Condensed Light" panose="02000000000000000000" pitchFamily="2" charset="0"/>
              </a:rPr>
              <a:t>A 100% Employee-Owned Company</a:t>
            </a:r>
          </a:p>
        </p:txBody>
      </p:sp>
      <p:sp>
        <p:nvSpPr>
          <p:cNvPr id="9" name="Title 12">
            <a:extLst>
              <a:ext uri="{FF2B5EF4-FFF2-40B4-BE49-F238E27FC236}">
                <a16:creationId xmlns:a16="http://schemas.microsoft.com/office/drawing/2014/main" id="{A49B4BC2-5AF1-42EF-ADCC-CDAC3001179B}"/>
              </a:ext>
            </a:extLst>
          </p:cNvPr>
          <p:cNvSpPr txBox="1">
            <a:spLocks/>
          </p:cNvSpPr>
          <p:nvPr userDrawn="1"/>
        </p:nvSpPr>
        <p:spPr>
          <a:xfrm>
            <a:off x="612646" y="1388124"/>
            <a:ext cx="4576300" cy="1828799"/>
          </a:xfrm>
          <a:prstGeom prst="rect">
            <a:avLst/>
          </a:prstGeom>
        </p:spPr>
        <p:txBody>
          <a:bodyPr/>
          <a:lstStyle>
            <a:lvl1pPr algn="l" defTabSz="914400" rtl="0" eaLnBrk="1" latinLnBrk="0" hangingPunct="1">
              <a:spcBef>
                <a:spcPct val="0"/>
              </a:spcBef>
              <a:buNone/>
              <a:defRPr sz="3200" kern="1200">
                <a:solidFill>
                  <a:schemeClr val="tx1"/>
                </a:solidFill>
                <a:latin typeface="Roboto Condensed Light" panose="02000000000000000000" pitchFamily="2" charset="0"/>
                <a:ea typeface="Roboto Condensed Light" panose="02000000000000000000" pitchFamily="2" charset="0"/>
                <a:cs typeface="Roboto Condensed Light" panose="02000000000000000000" pitchFamily="2" charset="0"/>
              </a:defRPr>
            </a:lvl1pPr>
          </a:lstStyle>
          <a:p>
            <a:endParaRPr lang="en-US" sz="3600" dirty="0"/>
          </a:p>
        </p:txBody>
      </p:sp>
      <p:sp>
        <p:nvSpPr>
          <p:cNvPr id="10" name="Rectangle 9">
            <a:extLst>
              <a:ext uri="{FF2B5EF4-FFF2-40B4-BE49-F238E27FC236}">
                <a16:creationId xmlns:a16="http://schemas.microsoft.com/office/drawing/2014/main" id="{AD4477D4-F06E-4099-907B-26FEFF58C789}"/>
              </a:ext>
            </a:extLst>
          </p:cNvPr>
          <p:cNvSpPr/>
          <p:nvPr userDrawn="1"/>
        </p:nvSpPr>
        <p:spPr>
          <a:xfrm>
            <a:off x="506776" y="1509312"/>
            <a:ext cx="85743" cy="1463040"/>
          </a:xfrm>
          <a:prstGeom prst="rect">
            <a:avLst/>
          </a:prstGeom>
          <a:solidFill>
            <a:srgbClr val="0F5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6B915FA-8EE4-4FEB-8466-C241B07DC259}"/>
              </a:ext>
            </a:extLst>
          </p:cNvPr>
          <p:cNvSpPr>
            <a:spLocks noGrp="1"/>
          </p:cNvSpPr>
          <p:nvPr>
            <p:ph type="title"/>
          </p:nvPr>
        </p:nvSpPr>
        <p:spPr>
          <a:xfrm>
            <a:off x="612646" y="1389888"/>
            <a:ext cx="7241569" cy="1828800"/>
          </a:xfrm>
        </p:spPr>
        <p:txBody>
          <a:bodyPr>
            <a:normAutofit/>
          </a:bodyPr>
          <a:lstStyle>
            <a:lvl1pPr>
              <a:defRPr sz="3600"/>
            </a:lvl1pPr>
          </a:lstStyle>
          <a:p>
            <a:r>
              <a:rPr lang="en-US" dirty="0"/>
              <a:t>Click to edit Master title style</a:t>
            </a:r>
          </a:p>
        </p:txBody>
      </p:sp>
      <p:sp>
        <p:nvSpPr>
          <p:cNvPr id="2" name="Footer Placeholder 3">
            <a:extLst>
              <a:ext uri="{FF2B5EF4-FFF2-40B4-BE49-F238E27FC236}">
                <a16:creationId xmlns:a16="http://schemas.microsoft.com/office/drawing/2014/main" id="{C0350DAD-E27E-41EC-67C1-7B7D4ABCDDDE}"/>
              </a:ext>
            </a:extLst>
          </p:cNvPr>
          <p:cNvSpPr txBox="1">
            <a:spLocks/>
          </p:cNvSpPr>
          <p:nvPr userDrawn="1"/>
        </p:nvSpPr>
        <p:spPr>
          <a:xfrm>
            <a:off x="420802" y="6549124"/>
            <a:ext cx="8405283" cy="309418"/>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65000"/>
                  </a:schemeClr>
                </a:solidFill>
                <a:effectLst/>
                <a:uLnTx/>
                <a:uFillTx/>
                <a:latin typeface="+mj-lt"/>
                <a:ea typeface="+mn-ea"/>
                <a:cs typeface="Arial" panose="020B0604020202020204" pitchFamily="34" charset="0"/>
              </a:rPr>
              <a:t>Company Proprietary - The information contained in this presentation is not to be copied, distributed, or used in any other way without the prior written authorization of Epsilon Systems Solutions, Inc.</a:t>
            </a:r>
          </a:p>
        </p:txBody>
      </p:sp>
    </p:spTree>
    <p:extLst>
      <p:ext uri="{BB962C8B-B14F-4D97-AF65-F5344CB8AC3E}">
        <p14:creationId xmlns:p14="http://schemas.microsoft.com/office/powerpoint/2010/main" val="3377936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69F68-ED0B-186A-4DF8-C8B3663DE7A6}"/>
              </a:ext>
            </a:extLst>
          </p:cNvPr>
          <p:cNvSpPr>
            <a:spLocks noGrp="1"/>
          </p:cNvSpPr>
          <p:nvPr>
            <p:ph type="ctrTitle"/>
          </p:nvPr>
        </p:nvSpPr>
        <p:spPr>
          <a:xfrm>
            <a:off x="1520825" y="1122363"/>
            <a:ext cx="9120188"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01BA06-AAB9-8F78-9F79-CD63C91A30F7}"/>
              </a:ext>
            </a:extLst>
          </p:cNvPr>
          <p:cNvSpPr>
            <a:spLocks noGrp="1"/>
          </p:cNvSpPr>
          <p:nvPr>
            <p:ph type="subTitle" idx="1"/>
          </p:nvPr>
        </p:nvSpPr>
        <p:spPr>
          <a:xfrm>
            <a:off x="1520825" y="3602038"/>
            <a:ext cx="912018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942AF8-508F-42CF-C786-F77524331A2E}"/>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329CD169-056E-86BD-609E-E10ACFC49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27A70-7396-41E5-DF0D-ABFD212AC7D7}"/>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1284157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01F6-311E-29CD-3E5C-AED9848886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AA78D4-EF20-BC95-0600-425A697DD1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842B2-3532-5089-40B8-DD71536B9160}"/>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BAA41F01-8477-7867-507B-53D24B0BF1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51E3F-0C42-66FD-EAE5-3412BE7121A3}"/>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17324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3935E-D768-9C97-D4FC-2CCC84FA3AFE}"/>
              </a:ext>
            </a:extLst>
          </p:cNvPr>
          <p:cNvSpPr>
            <a:spLocks noGrp="1"/>
          </p:cNvSpPr>
          <p:nvPr>
            <p:ph type="title"/>
          </p:nvPr>
        </p:nvSpPr>
        <p:spPr>
          <a:xfrm>
            <a:off x="830263" y="1709738"/>
            <a:ext cx="10488612"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72B033-AC93-EE78-F968-7F49AE54E280}"/>
              </a:ext>
            </a:extLst>
          </p:cNvPr>
          <p:cNvSpPr>
            <a:spLocks noGrp="1"/>
          </p:cNvSpPr>
          <p:nvPr>
            <p:ph type="body" idx="1"/>
          </p:nvPr>
        </p:nvSpPr>
        <p:spPr>
          <a:xfrm>
            <a:off x="830263" y="4589463"/>
            <a:ext cx="10488612"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E3E8EB-3F1E-BC22-01A8-26A5AEA59143}"/>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395CC8ED-1A6B-88F1-9F99-173D3B2D7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72E0D-2168-B593-BE89-A8FFA76F0AA1}"/>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39057399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000D7-573B-B742-AB3F-F4824FDEC2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DC249-FF58-0D96-C66A-5EEE979E2991}"/>
              </a:ext>
            </a:extLst>
          </p:cNvPr>
          <p:cNvSpPr>
            <a:spLocks noGrp="1"/>
          </p:cNvSpPr>
          <p:nvPr>
            <p:ph sz="half" idx="1"/>
          </p:nvPr>
        </p:nvSpPr>
        <p:spPr>
          <a:xfrm>
            <a:off x="836613" y="1825625"/>
            <a:ext cx="516731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D69AD1-48E5-9314-AA7A-4D32C35C03FB}"/>
              </a:ext>
            </a:extLst>
          </p:cNvPr>
          <p:cNvSpPr>
            <a:spLocks noGrp="1"/>
          </p:cNvSpPr>
          <p:nvPr>
            <p:ph sz="half" idx="2"/>
          </p:nvPr>
        </p:nvSpPr>
        <p:spPr>
          <a:xfrm>
            <a:off x="6156325" y="1825625"/>
            <a:ext cx="51689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90D71F-151F-1EEB-4150-84C0ABDE70FC}"/>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6" name="Footer Placeholder 5">
            <a:extLst>
              <a:ext uri="{FF2B5EF4-FFF2-40B4-BE49-F238E27FC236}">
                <a16:creationId xmlns:a16="http://schemas.microsoft.com/office/drawing/2014/main" id="{98109AF9-6E0B-44B3-2883-39609FFBA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78799-3060-9914-F1C9-BF2A93B72FFB}"/>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3944018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0F4B8-F126-8379-1C2E-8308C194BAF6}"/>
              </a:ext>
            </a:extLst>
          </p:cNvPr>
          <p:cNvSpPr>
            <a:spLocks noGrp="1"/>
          </p:cNvSpPr>
          <p:nvPr>
            <p:ph type="title"/>
          </p:nvPr>
        </p:nvSpPr>
        <p:spPr>
          <a:xfrm>
            <a:off x="838200" y="365125"/>
            <a:ext cx="10488613"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44A43C-96E3-FBF1-79B6-710FE0295024}"/>
              </a:ext>
            </a:extLst>
          </p:cNvPr>
          <p:cNvSpPr>
            <a:spLocks noGrp="1"/>
          </p:cNvSpPr>
          <p:nvPr>
            <p:ph type="body" idx="1"/>
          </p:nvPr>
        </p:nvSpPr>
        <p:spPr>
          <a:xfrm>
            <a:off x="838200" y="1681163"/>
            <a:ext cx="5145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94E3B9-4263-67E8-7726-0BDE4F58BCFE}"/>
              </a:ext>
            </a:extLst>
          </p:cNvPr>
          <p:cNvSpPr>
            <a:spLocks noGrp="1"/>
          </p:cNvSpPr>
          <p:nvPr>
            <p:ph sz="half" idx="2"/>
          </p:nvPr>
        </p:nvSpPr>
        <p:spPr>
          <a:xfrm>
            <a:off x="838200" y="2505075"/>
            <a:ext cx="51450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172BFD-6AD3-6B89-712A-4C18599F56E3}"/>
              </a:ext>
            </a:extLst>
          </p:cNvPr>
          <p:cNvSpPr>
            <a:spLocks noGrp="1"/>
          </p:cNvSpPr>
          <p:nvPr>
            <p:ph type="body" sz="quarter" idx="3"/>
          </p:nvPr>
        </p:nvSpPr>
        <p:spPr>
          <a:xfrm>
            <a:off x="6156325" y="1681163"/>
            <a:ext cx="51704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24D1A-FD2E-E6D6-B8E2-FE3286569DB0}"/>
              </a:ext>
            </a:extLst>
          </p:cNvPr>
          <p:cNvSpPr>
            <a:spLocks noGrp="1"/>
          </p:cNvSpPr>
          <p:nvPr>
            <p:ph sz="quarter" idx="4"/>
          </p:nvPr>
        </p:nvSpPr>
        <p:spPr>
          <a:xfrm>
            <a:off x="6156325" y="2505075"/>
            <a:ext cx="51704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27C135-D38F-4BBB-8149-D290DD799AF7}"/>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8" name="Footer Placeholder 7">
            <a:extLst>
              <a:ext uri="{FF2B5EF4-FFF2-40B4-BE49-F238E27FC236}">
                <a16:creationId xmlns:a16="http://schemas.microsoft.com/office/drawing/2014/main" id="{1BFB6E2F-CD68-78D4-A16C-7AF2BA115E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E0D0EC-CF37-3A8A-BF3D-144009FF451E}"/>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2869354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05FB7-6843-B18B-076D-5296737423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DD6D01-8DB8-4DC7-950A-A053466F569C}"/>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4" name="Footer Placeholder 3">
            <a:extLst>
              <a:ext uri="{FF2B5EF4-FFF2-40B4-BE49-F238E27FC236}">
                <a16:creationId xmlns:a16="http://schemas.microsoft.com/office/drawing/2014/main" id="{7A7ACE84-7098-8D32-48C8-BA020BB5BD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7EDCBE-F218-BA2A-22F6-48CFD6086A89}"/>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1747293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025F4-123C-C732-45C0-7B8ADCCFCF72}"/>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3" name="Footer Placeholder 2">
            <a:extLst>
              <a:ext uri="{FF2B5EF4-FFF2-40B4-BE49-F238E27FC236}">
                <a16:creationId xmlns:a16="http://schemas.microsoft.com/office/drawing/2014/main" id="{38691461-418B-E5D5-E38A-A10B6DB6EE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39EEC1-9081-BEAA-12C3-F9458EDD1D14}"/>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12976865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F7C9-154B-5CF4-E956-1C2D8D2D8039}"/>
              </a:ext>
            </a:extLst>
          </p:cNvPr>
          <p:cNvSpPr>
            <a:spLocks noGrp="1"/>
          </p:cNvSpPr>
          <p:nvPr>
            <p:ph type="title"/>
          </p:nvPr>
        </p:nvSpPr>
        <p:spPr>
          <a:xfrm>
            <a:off x="838200" y="457200"/>
            <a:ext cx="3922713"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CD698B-748C-996D-F717-6733BE2FBCC5}"/>
              </a:ext>
            </a:extLst>
          </p:cNvPr>
          <p:cNvSpPr>
            <a:spLocks noGrp="1"/>
          </p:cNvSpPr>
          <p:nvPr>
            <p:ph idx="1"/>
          </p:nvPr>
        </p:nvSpPr>
        <p:spPr>
          <a:xfrm>
            <a:off x="5170488" y="987425"/>
            <a:ext cx="615632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C163EE-0CF1-1391-7863-49CE1F053EDC}"/>
              </a:ext>
            </a:extLst>
          </p:cNvPr>
          <p:cNvSpPr>
            <a:spLocks noGrp="1"/>
          </p:cNvSpPr>
          <p:nvPr>
            <p:ph type="body" sz="half" idx="2"/>
          </p:nvPr>
        </p:nvSpPr>
        <p:spPr>
          <a:xfrm>
            <a:off x="838200" y="2057400"/>
            <a:ext cx="39227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43AE25-66A1-B79B-6373-96D66D09E470}"/>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6" name="Footer Placeholder 5">
            <a:extLst>
              <a:ext uri="{FF2B5EF4-FFF2-40B4-BE49-F238E27FC236}">
                <a16:creationId xmlns:a16="http://schemas.microsoft.com/office/drawing/2014/main" id="{5ED1EBE8-C04A-7008-FCBA-5F9C1D3509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A59A9F-7086-A6CE-03EE-406465C64978}"/>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39180726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50F1-930F-CFEC-F896-208C496FCED0}"/>
              </a:ext>
            </a:extLst>
          </p:cNvPr>
          <p:cNvSpPr>
            <a:spLocks noGrp="1"/>
          </p:cNvSpPr>
          <p:nvPr>
            <p:ph type="title"/>
          </p:nvPr>
        </p:nvSpPr>
        <p:spPr>
          <a:xfrm>
            <a:off x="838200" y="457200"/>
            <a:ext cx="3922713"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7F37E0-1F8D-8E10-4ECA-6637682D048E}"/>
              </a:ext>
            </a:extLst>
          </p:cNvPr>
          <p:cNvSpPr>
            <a:spLocks noGrp="1"/>
          </p:cNvSpPr>
          <p:nvPr>
            <p:ph type="pic" idx="1"/>
          </p:nvPr>
        </p:nvSpPr>
        <p:spPr>
          <a:xfrm>
            <a:off x="5170488" y="987425"/>
            <a:ext cx="615632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0C6833-8A6E-DBB4-34E1-A7E51C0F7ADD}"/>
              </a:ext>
            </a:extLst>
          </p:cNvPr>
          <p:cNvSpPr>
            <a:spLocks noGrp="1"/>
          </p:cNvSpPr>
          <p:nvPr>
            <p:ph type="body" sz="half" idx="2"/>
          </p:nvPr>
        </p:nvSpPr>
        <p:spPr>
          <a:xfrm>
            <a:off x="838200" y="2057400"/>
            <a:ext cx="39227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EF3A2-42ED-90FD-24E0-FFE2F6AB3B5E}"/>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6" name="Footer Placeholder 5">
            <a:extLst>
              <a:ext uri="{FF2B5EF4-FFF2-40B4-BE49-F238E27FC236}">
                <a16:creationId xmlns:a16="http://schemas.microsoft.com/office/drawing/2014/main" id="{81A74CFC-49D1-BF9D-3324-55431076DA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0D5EF0-73BE-D945-1045-F4775EBB8AD3}"/>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8962810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B2B0-E55D-D3A0-7BE3-FD6F008452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511D14-5832-DD86-E7BA-BF33CE9DC5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4DDFA-E5B4-847C-790F-4DBBA9EB637C}"/>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08AC8DB2-1B44-D2D0-60AF-E5F644CA4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D0673-115E-7E6D-3969-60487FA1B4DB}"/>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28389711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CFF90F-7069-B4CB-0ECE-7C5C85E42505}"/>
              </a:ext>
            </a:extLst>
          </p:cNvPr>
          <p:cNvSpPr>
            <a:spLocks noGrp="1"/>
          </p:cNvSpPr>
          <p:nvPr>
            <p:ph type="title" orient="vert"/>
          </p:nvPr>
        </p:nvSpPr>
        <p:spPr>
          <a:xfrm>
            <a:off x="8704263" y="365125"/>
            <a:ext cx="2620962"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803B47-9174-7A0E-CD8B-E13A4A19C186}"/>
              </a:ext>
            </a:extLst>
          </p:cNvPr>
          <p:cNvSpPr>
            <a:spLocks noGrp="1"/>
          </p:cNvSpPr>
          <p:nvPr>
            <p:ph type="body" orient="vert" idx="1"/>
          </p:nvPr>
        </p:nvSpPr>
        <p:spPr>
          <a:xfrm>
            <a:off x="836613" y="365125"/>
            <a:ext cx="771525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9565F-F54C-98D4-4B67-5259F3F97AE6}"/>
              </a:ext>
            </a:extLst>
          </p:cNvPr>
          <p:cNvSpPr>
            <a:spLocks noGrp="1"/>
          </p:cNvSpPr>
          <p:nvPr>
            <p:ph type="dt" sz="half" idx="10"/>
          </p:nvPr>
        </p:nvSpPr>
        <p:spPr/>
        <p:txBody>
          <a:body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6B5C1764-E02B-3661-2C1D-E4FF3558AE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A47D5-396D-2E6D-7FDF-DA8652BA8B3D}"/>
              </a:ext>
            </a:extLst>
          </p:cNvPr>
          <p:cNvSpPr>
            <a:spLocks noGrp="1"/>
          </p:cNvSpPr>
          <p:nvPr>
            <p:ph type="sldNum" sz="quarter" idx="12"/>
          </p:nvPr>
        </p:nvSpPr>
        <p:spPr/>
        <p:txBody>
          <a:bodyPr/>
          <a:lstStyle/>
          <a:p>
            <a:fld id="{EF44B734-6561-F24D-8AD8-F3AFBAF6FE3D}" type="slidenum">
              <a:rPr lang="en-US" smtClean="0"/>
              <a:t>‹#›</a:t>
            </a:fld>
            <a:endParaRPr lang="en-US"/>
          </a:p>
        </p:txBody>
      </p:sp>
    </p:spTree>
    <p:extLst>
      <p:ext uri="{BB962C8B-B14F-4D97-AF65-F5344CB8AC3E}">
        <p14:creationId xmlns:p14="http://schemas.microsoft.com/office/powerpoint/2010/main" val="1145917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C0FFE8-D072-4DBA-8131-896FFF9753B0}"/>
              </a:ext>
            </a:extLst>
          </p:cNvPr>
          <p:cNvSpPr/>
          <p:nvPr userDrawn="1"/>
        </p:nvSpPr>
        <p:spPr>
          <a:xfrm>
            <a:off x="0" y="0"/>
            <a:ext cx="12161838" cy="6858000"/>
          </a:xfrm>
          <a:prstGeom prst="rect">
            <a:avLst/>
          </a:prstGeom>
          <a:gradFill flip="none" rotWithShape="1">
            <a:gsLst>
              <a:gs pos="0">
                <a:schemeClr val="accent5">
                  <a:lumMod val="10000"/>
                  <a:lumOff val="90000"/>
                </a:schemeClr>
              </a:gs>
              <a:gs pos="57000">
                <a:schemeClr val="bg1"/>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0801" y="228601"/>
            <a:ext cx="11393243" cy="604244"/>
          </a:xfrm>
          <a:prstGeom prst="rect">
            <a:avLst/>
          </a:prstGeom>
        </p:spPr>
        <p:txBody>
          <a:bodyPr vert="horz" lIns="91440" tIns="45720" rIns="91440" bIns="45720" rtlCol="0" anchor="t" anchorCtr="0">
            <a:normAutofit/>
          </a:bodyPr>
          <a:lstStyle/>
          <a:p>
            <a:r>
              <a:rPr lang="en-US" dirty="0"/>
              <a:t>Click To Edit Master Title Style</a:t>
            </a:r>
          </a:p>
        </p:txBody>
      </p:sp>
      <p:sp>
        <p:nvSpPr>
          <p:cNvPr id="3" name="Text Placeholder 2"/>
          <p:cNvSpPr>
            <a:spLocks noGrp="1"/>
          </p:cNvSpPr>
          <p:nvPr>
            <p:ph type="body" idx="1"/>
          </p:nvPr>
        </p:nvSpPr>
        <p:spPr>
          <a:xfrm>
            <a:off x="420802" y="878564"/>
            <a:ext cx="11393244" cy="55889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52E9E068-01D7-4383-BA26-1CE2E59B83BB}"/>
              </a:ext>
            </a:extLst>
          </p:cNvPr>
          <p:cNvSpPr/>
          <p:nvPr userDrawn="1"/>
        </p:nvSpPr>
        <p:spPr>
          <a:xfrm>
            <a:off x="0" y="787125"/>
            <a:ext cx="12161838" cy="45719"/>
          </a:xfrm>
          <a:prstGeom prst="rect">
            <a:avLst/>
          </a:prstGeom>
          <a:gradFill>
            <a:gsLst>
              <a:gs pos="0">
                <a:schemeClr val="bg1"/>
              </a:gs>
              <a:gs pos="25000">
                <a:srgbClr val="26408B"/>
              </a:gs>
              <a:gs pos="42000">
                <a:srgbClr val="F7942A"/>
              </a:gs>
              <a:gs pos="9000">
                <a:srgbClr val="5FB1E3"/>
              </a:gs>
              <a:gs pos="61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a:extLst>
              <a:ext uri="{FF2B5EF4-FFF2-40B4-BE49-F238E27FC236}">
                <a16:creationId xmlns:a16="http://schemas.microsoft.com/office/drawing/2014/main" id="{93C02C03-F343-4040-BE32-6166561179AD}"/>
              </a:ext>
            </a:extLst>
          </p:cNvPr>
          <p:cNvSpPr>
            <a:spLocks noGrp="1"/>
          </p:cNvSpPr>
          <p:nvPr>
            <p:ph type="sldNum" sz="quarter" idx="4"/>
          </p:nvPr>
        </p:nvSpPr>
        <p:spPr>
          <a:xfrm>
            <a:off x="11722813" y="6548582"/>
            <a:ext cx="439025" cy="309418"/>
          </a:xfrm>
          <a:prstGeom prst="rect">
            <a:avLst/>
          </a:prstGeom>
        </p:spPr>
        <p:txBody>
          <a:bodyPr/>
          <a:lstStyle>
            <a:lvl1pPr>
              <a:defRPr sz="1400" b="1">
                <a:solidFill>
                  <a:srgbClr val="005696"/>
                </a:solidFill>
                <a:latin typeface="+mj-lt"/>
              </a:defRPr>
            </a:lvl1pPr>
          </a:lstStyle>
          <a:p>
            <a:fld id="{9EA51DAC-3F90-4AAD-A1AF-FE7171D4A594}" type="slidenum">
              <a:rPr lang="en-US" smtClean="0"/>
              <a:pPr/>
              <a:t>‹#›</a:t>
            </a:fld>
            <a:endParaRPr lang="en-US"/>
          </a:p>
        </p:txBody>
      </p:sp>
      <p:sp>
        <p:nvSpPr>
          <p:cNvPr id="4" name="Footer Placeholder 4">
            <a:extLst>
              <a:ext uri="{FF2B5EF4-FFF2-40B4-BE49-F238E27FC236}">
                <a16:creationId xmlns:a16="http://schemas.microsoft.com/office/drawing/2014/main" id="{F754A010-D523-D54F-6725-FB28632C5BDD}"/>
              </a:ext>
            </a:extLst>
          </p:cNvPr>
          <p:cNvSpPr txBox="1">
            <a:spLocks/>
          </p:cNvSpPr>
          <p:nvPr userDrawn="1"/>
        </p:nvSpPr>
        <p:spPr>
          <a:xfrm>
            <a:off x="8957569" y="6561899"/>
            <a:ext cx="2531882" cy="309418"/>
          </a:xfrm>
          <a:prstGeom prst="rect">
            <a:avLst/>
          </a:prstGeom>
        </p:spPr>
        <p:txBody>
          <a:bodyPr anchor="ctr" anchorCtr="0"/>
          <a:lstStyle>
            <a:defPPr>
              <a:defRPr lang="en-US"/>
            </a:defPPr>
            <a:lvl1pPr algn="r" rtl="0" fontAlgn="base">
              <a:spcBef>
                <a:spcPct val="0"/>
              </a:spcBef>
              <a:spcAft>
                <a:spcPct val="0"/>
              </a:spcAft>
              <a:defRPr sz="1000" b="1" kern="1200" baseline="0">
                <a:solidFill>
                  <a:srgbClr val="0F578E"/>
                </a:solidFill>
                <a:latin typeface="Roboto Condensed" panose="02000000000000000000" pitchFamily="2" charset="0"/>
                <a:ea typeface="Roboto Condensed" panose="02000000000000000000" pitchFamily="2" charset="0"/>
                <a:cs typeface="Roboto Condensed" panose="02000000000000000000" pitchFamily="2"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b="0" dirty="0">
                <a:latin typeface="Aptos Narrow" panose="020B0004020202020204" pitchFamily="34" charset="0"/>
              </a:rPr>
              <a:t>EPSILONC5I.COM</a:t>
            </a:r>
          </a:p>
        </p:txBody>
      </p:sp>
    </p:spTree>
    <p:extLst>
      <p:ext uri="{BB962C8B-B14F-4D97-AF65-F5344CB8AC3E}">
        <p14:creationId xmlns:p14="http://schemas.microsoft.com/office/powerpoint/2010/main" val="1726649335"/>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0" r:id="rId4"/>
    <p:sldLayoutId id="2147483661" r:id="rId5"/>
    <p:sldLayoutId id="2147483662" r:id="rId6"/>
    <p:sldLayoutId id="2147483663" r:id="rId7"/>
    <p:sldLayoutId id="2147483650" r:id="rId8"/>
    <p:sldLayoutId id="2147483665" r:id="rId9"/>
    <p:sldLayoutId id="2147483656" r:id="rId10"/>
    <p:sldLayoutId id="2147483652" r:id="rId11"/>
    <p:sldLayoutId id="2147483653" r:id="rId12"/>
    <p:sldLayoutId id="2147483657" r:id="rId13"/>
    <p:sldLayoutId id="2147483654" r:id="rId14"/>
    <p:sldLayoutId id="2147483655" r:id="rId15"/>
    <p:sldLayoutId id="2147483664" r:id="rId16"/>
  </p:sldLayoutIdLst>
  <p:hf hdr="0" dt="0"/>
  <p:txStyles>
    <p:titleStyle>
      <a:lvl1pPr algn="l" defTabSz="914400" rtl="0" eaLnBrk="1" latinLnBrk="0" hangingPunct="1">
        <a:spcBef>
          <a:spcPct val="0"/>
        </a:spcBef>
        <a:buNone/>
        <a:defRPr sz="2800" kern="1200" cap="none" spc="0" baseline="0">
          <a:solidFill>
            <a:srgbClr val="152754"/>
          </a:solidFill>
          <a:latin typeface="Arial Narrow" panose="020B0606020202030204" pitchFamily="34" charset="0"/>
          <a:ea typeface="Roboto Condensed Light" panose="02000000000000000000" pitchFamily="2" charset="0"/>
          <a:cs typeface="Roboto Condensed Light" panose="02000000000000000000" pitchFamily="2" charset="0"/>
        </a:defRPr>
      </a:lvl1pPr>
    </p:titleStyle>
    <p:bodyStyle>
      <a:lvl1pPr marL="230188" indent="-230188" algn="l" defTabSz="914400" rtl="0" eaLnBrk="1" latinLnBrk="0" hangingPunct="1">
        <a:lnSpc>
          <a:spcPct val="100000"/>
        </a:lnSpc>
        <a:spcBef>
          <a:spcPts val="600"/>
        </a:spcBef>
        <a:buClr>
          <a:srgbClr val="DD5000"/>
        </a:buClr>
        <a:buFont typeface="Wingdings" panose="05000000000000000000" pitchFamily="2" charset="2"/>
        <a:buChar char="§"/>
        <a:defRPr sz="2400" kern="1200">
          <a:solidFill>
            <a:schemeClr val="tx1"/>
          </a:solidFill>
          <a:latin typeface="+mn-lt"/>
          <a:ea typeface="Open Sans" panose="020B0606030504020204" pitchFamily="34" charset="0"/>
          <a:cs typeface="Arial" panose="020B0604020202020204" pitchFamily="34" charset="0"/>
        </a:defRPr>
      </a:lvl1pPr>
      <a:lvl2pPr marL="461963" indent="-227013" algn="l" defTabSz="914400" rtl="0" eaLnBrk="1" latinLnBrk="0" hangingPunct="1">
        <a:lnSpc>
          <a:spcPct val="100000"/>
        </a:lnSpc>
        <a:spcBef>
          <a:spcPts val="0"/>
        </a:spcBef>
        <a:buClr>
          <a:srgbClr val="DD5000"/>
        </a:buClr>
        <a:buFont typeface="Open Sans" panose="020B0606030504020204" pitchFamily="34" charset="0"/>
        <a:buChar char="-"/>
        <a:defRPr sz="2000" kern="1200">
          <a:solidFill>
            <a:schemeClr val="tx1"/>
          </a:solidFill>
          <a:latin typeface="+mn-lt"/>
          <a:ea typeface="Open Sans" panose="020B0606030504020204" pitchFamily="34" charset="0"/>
          <a:cs typeface="Arial" panose="020B0604020202020204" pitchFamily="34" charset="0"/>
        </a:defRPr>
      </a:lvl2pPr>
      <a:lvl3pPr marL="682625" indent="-228600" algn="l" defTabSz="914400" rtl="0" eaLnBrk="1" latinLnBrk="0" hangingPunct="1">
        <a:lnSpc>
          <a:spcPct val="100000"/>
        </a:lnSpc>
        <a:spcBef>
          <a:spcPts val="0"/>
        </a:spcBef>
        <a:buClr>
          <a:srgbClr val="DD5000"/>
        </a:buClr>
        <a:buFont typeface="Arial" panose="020B0604020202020204" pitchFamily="34" charset="0"/>
        <a:buChar char="•"/>
        <a:defRPr sz="1800" kern="1200">
          <a:solidFill>
            <a:schemeClr val="tx1"/>
          </a:solidFill>
          <a:latin typeface="+mn-lt"/>
          <a:ea typeface="Open Sans" panose="020B0606030504020204" pitchFamily="34" charset="0"/>
          <a:cs typeface="Arial" panose="020B0604020202020204" pitchFamily="34" charset="0"/>
        </a:defRPr>
      </a:lvl3pPr>
      <a:lvl4pPr marL="915988" indent="-228600" algn="l" defTabSz="914400" rtl="0" eaLnBrk="1" latinLnBrk="0" hangingPunct="1">
        <a:lnSpc>
          <a:spcPct val="100000"/>
        </a:lnSpc>
        <a:spcBef>
          <a:spcPts val="0"/>
        </a:spcBef>
        <a:buClr>
          <a:srgbClr val="0F578E"/>
        </a:buClr>
        <a:buFont typeface="Open Sans" panose="020B0606030504020204" pitchFamily="34" charset="0"/>
        <a:buChar char="-"/>
        <a:defRPr sz="1600" kern="1200">
          <a:solidFill>
            <a:schemeClr val="tx1"/>
          </a:solidFill>
          <a:latin typeface="+mn-lt"/>
          <a:ea typeface="Open Sans" panose="020B0606030504020204" pitchFamily="34" charset="0"/>
          <a:cs typeface="Arial" panose="020B0604020202020204" pitchFamily="34" charset="0"/>
        </a:defRPr>
      </a:lvl4pPr>
      <a:lvl5pPr marL="1143000" indent="-228600" algn="l" defTabSz="914400" rtl="0" eaLnBrk="1" latinLnBrk="0" hangingPunct="1">
        <a:lnSpc>
          <a:spcPct val="100000"/>
        </a:lnSpc>
        <a:spcBef>
          <a:spcPts val="0"/>
        </a:spcBef>
        <a:buClr>
          <a:srgbClr val="0F578E"/>
        </a:buClr>
        <a:buFont typeface="Arial" panose="020B0604020202020204" pitchFamily="34" charset="0"/>
        <a:buChar char="•"/>
        <a:defRPr sz="1400" kern="1200">
          <a:solidFill>
            <a:schemeClr val="tx1"/>
          </a:solidFill>
          <a:latin typeface="+mn-lt"/>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0" userDrawn="1">
          <p15:clr>
            <a:srgbClr val="F26B43"/>
          </p15:clr>
        </p15:guide>
        <p15:guide id="3" pos="35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BC566-079D-EC19-C915-3F54100ED00F}"/>
              </a:ext>
            </a:extLst>
          </p:cNvPr>
          <p:cNvSpPr>
            <a:spLocks noGrp="1"/>
          </p:cNvSpPr>
          <p:nvPr>
            <p:ph type="title"/>
          </p:nvPr>
        </p:nvSpPr>
        <p:spPr>
          <a:xfrm>
            <a:off x="836613" y="365125"/>
            <a:ext cx="1048861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0ACBF9-45BB-1C07-178E-9335364470FD}"/>
              </a:ext>
            </a:extLst>
          </p:cNvPr>
          <p:cNvSpPr>
            <a:spLocks noGrp="1"/>
          </p:cNvSpPr>
          <p:nvPr>
            <p:ph type="body" idx="1"/>
          </p:nvPr>
        </p:nvSpPr>
        <p:spPr>
          <a:xfrm>
            <a:off x="836613" y="1825625"/>
            <a:ext cx="1048861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1CE861-2BD9-FA5E-966A-D8808C654D86}"/>
              </a:ext>
            </a:extLst>
          </p:cNvPr>
          <p:cNvSpPr>
            <a:spLocks noGrp="1"/>
          </p:cNvSpPr>
          <p:nvPr>
            <p:ph type="dt" sz="half" idx="2"/>
          </p:nvPr>
        </p:nvSpPr>
        <p:spPr>
          <a:xfrm>
            <a:off x="836613" y="6356350"/>
            <a:ext cx="2735262"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EF41EA-626E-3C44-A4BF-DC283C79BEA5}" type="datetimeFigureOut">
              <a:rPr lang="en-US" smtClean="0"/>
              <a:t>5/19/2026</a:t>
            </a:fld>
            <a:endParaRPr lang="en-US"/>
          </a:p>
        </p:txBody>
      </p:sp>
      <p:sp>
        <p:nvSpPr>
          <p:cNvPr id="5" name="Footer Placeholder 4">
            <a:extLst>
              <a:ext uri="{FF2B5EF4-FFF2-40B4-BE49-F238E27FC236}">
                <a16:creationId xmlns:a16="http://schemas.microsoft.com/office/drawing/2014/main" id="{90440DFE-13B7-5F7B-88F1-0A9DF01EA156}"/>
              </a:ext>
            </a:extLst>
          </p:cNvPr>
          <p:cNvSpPr>
            <a:spLocks noGrp="1"/>
          </p:cNvSpPr>
          <p:nvPr>
            <p:ph type="ftr" sz="quarter" idx="3"/>
          </p:nvPr>
        </p:nvSpPr>
        <p:spPr>
          <a:xfrm>
            <a:off x="4029075" y="6356350"/>
            <a:ext cx="4103688"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E01813-3788-18E4-BD04-0C19C945B68B}"/>
              </a:ext>
            </a:extLst>
          </p:cNvPr>
          <p:cNvSpPr>
            <a:spLocks noGrp="1"/>
          </p:cNvSpPr>
          <p:nvPr>
            <p:ph type="sldNum" sz="quarter" idx="4"/>
          </p:nvPr>
        </p:nvSpPr>
        <p:spPr>
          <a:xfrm>
            <a:off x="8589963" y="6356350"/>
            <a:ext cx="2735262"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44B734-6561-F24D-8AD8-F3AFBAF6FE3D}" type="slidenum">
              <a:rPr lang="en-US" smtClean="0"/>
              <a:t>‹#›</a:t>
            </a:fld>
            <a:endParaRPr lang="en-US"/>
          </a:p>
        </p:txBody>
      </p:sp>
    </p:spTree>
    <p:extLst>
      <p:ext uri="{BB962C8B-B14F-4D97-AF65-F5344CB8AC3E}">
        <p14:creationId xmlns:p14="http://schemas.microsoft.com/office/powerpoint/2010/main" val="33308982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3A7E-B63D-5CD0-CB66-5DF888A29B54}"/>
              </a:ext>
            </a:extLst>
          </p:cNvPr>
          <p:cNvSpPr>
            <a:spLocks noGrp="1"/>
          </p:cNvSpPr>
          <p:nvPr>
            <p:ph type="title"/>
          </p:nvPr>
        </p:nvSpPr>
        <p:spPr/>
        <p:txBody>
          <a:bodyPr>
            <a:normAutofit fontScale="90000"/>
          </a:bodyPr>
          <a:lstStyle/>
          <a:p>
            <a:r>
              <a:rPr lang="en-US" b="1" dirty="0"/>
              <a:t>Chinese ZY-3 Satellite Disclosures:</a:t>
            </a:r>
            <a:br>
              <a:rPr lang="en-US" b="1" dirty="0"/>
            </a:br>
            <a:r>
              <a:rPr lang="en-US" b="1" dirty="0"/>
              <a:t>Analysis and Comments, Part 1</a:t>
            </a:r>
            <a:br>
              <a:rPr lang="en-US" b="1" dirty="0"/>
            </a:br>
            <a:r>
              <a:rPr lang="en-US" sz="2700" dirty="0"/>
              <a:t>Bobby Hunt</a:t>
            </a:r>
            <a:br>
              <a:rPr lang="en-US" sz="2700" dirty="0"/>
            </a:br>
            <a:r>
              <a:rPr lang="en-US" sz="2700" dirty="0"/>
              <a:t>Amber </a:t>
            </a:r>
            <a:r>
              <a:rPr lang="en-US" sz="2700" dirty="0">
                <a:latin typeface="Bell MT" panose="02020503060305020303" pitchFamily="18" charset="0"/>
              </a:rPr>
              <a:t>I</a:t>
            </a:r>
            <a:r>
              <a:rPr lang="en-US" sz="2700" dirty="0"/>
              <a:t>ler</a:t>
            </a:r>
            <a:endParaRPr lang="en-US" sz="2400" dirty="0"/>
          </a:p>
        </p:txBody>
      </p:sp>
    </p:spTree>
    <p:extLst>
      <p:ext uri="{BB962C8B-B14F-4D97-AF65-F5344CB8AC3E}">
        <p14:creationId xmlns:p14="http://schemas.microsoft.com/office/powerpoint/2010/main" val="3740137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F7B414-74F3-BB05-2955-4FA3B2B53DD0}"/>
              </a:ext>
            </a:extLst>
          </p:cNvPr>
          <p:cNvSpPr>
            <a:spLocks noGrp="1"/>
          </p:cNvSpPr>
          <p:nvPr>
            <p:ph idx="1"/>
          </p:nvPr>
        </p:nvSpPr>
        <p:spPr/>
        <p:txBody>
          <a:bodyPr/>
          <a:lstStyle/>
          <a:p>
            <a:r>
              <a:rPr lang="en-US" dirty="0"/>
              <a:t>Purpose</a:t>
            </a:r>
          </a:p>
          <a:p>
            <a:r>
              <a:rPr lang="en-US" dirty="0"/>
              <a:t>Background</a:t>
            </a:r>
          </a:p>
          <a:p>
            <a:r>
              <a:rPr lang="en-US" dirty="0"/>
              <a:t>ZY-3 Details</a:t>
            </a:r>
          </a:p>
          <a:p>
            <a:r>
              <a:rPr lang="en-US" dirty="0"/>
              <a:t>Comments</a:t>
            </a:r>
          </a:p>
          <a:p>
            <a:endParaRPr lang="en-US" dirty="0"/>
          </a:p>
          <a:p>
            <a:endParaRPr lang="en-US" dirty="0"/>
          </a:p>
        </p:txBody>
      </p:sp>
      <p:sp>
        <p:nvSpPr>
          <p:cNvPr id="3" name="Slide Number Placeholder 2">
            <a:extLst>
              <a:ext uri="{FF2B5EF4-FFF2-40B4-BE49-F238E27FC236}">
                <a16:creationId xmlns:a16="http://schemas.microsoft.com/office/drawing/2014/main" id="{DC05B2BD-C0AB-F2F6-4766-23AFD2D600A5}"/>
              </a:ext>
            </a:extLst>
          </p:cNvPr>
          <p:cNvSpPr>
            <a:spLocks noGrp="1"/>
          </p:cNvSpPr>
          <p:nvPr>
            <p:ph type="sldNum" sz="quarter" idx="12"/>
          </p:nvPr>
        </p:nvSpPr>
        <p:spPr/>
        <p:txBody>
          <a:bodyPr/>
          <a:lstStyle/>
          <a:p>
            <a:fld id="{9EA51DAC-3F90-4AAD-A1AF-FE7171D4A594}" type="slidenum">
              <a:rPr lang="en-US" smtClean="0"/>
              <a:pPr/>
              <a:t>2</a:t>
            </a:fld>
            <a:endParaRPr lang="en-US"/>
          </a:p>
        </p:txBody>
      </p:sp>
      <p:sp>
        <p:nvSpPr>
          <p:cNvPr id="4" name="Title 3">
            <a:extLst>
              <a:ext uri="{FF2B5EF4-FFF2-40B4-BE49-F238E27FC236}">
                <a16:creationId xmlns:a16="http://schemas.microsoft.com/office/drawing/2014/main" id="{C3F0E502-1091-C357-5658-108759A0E2C8}"/>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3501469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801" y="228601"/>
            <a:ext cx="11393243" cy="604244"/>
          </a:xfrm>
        </p:spPr>
        <p:txBody>
          <a:bodyPr/>
          <a:lstStyle/>
          <a:p>
            <a:r>
              <a:rPr lang="en-US" dirty="0"/>
              <a:t>Purpose</a:t>
            </a:r>
          </a:p>
        </p:txBody>
      </p:sp>
      <p:sp>
        <p:nvSpPr>
          <p:cNvPr id="8" name="Content Placeholder 7">
            <a:extLst>
              <a:ext uri="{FF2B5EF4-FFF2-40B4-BE49-F238E27FC236}">
                <a16:creationId xmlns:a16="http://schemas.microsoft.com/office/drawing/2014/main" id="{554BBAEA-69B3-4495-8A92-DBCA44474F54}"/>
              </a:ext>
            </a:extLst>
          </p:cNvPr>
          <p:cNvSpPr>
            <a:spLocks noGrp="1"/>
          </p:cNvSpPr>
          <p:nvPr>
            <p:ph idx="1"/>
          </p:nvPr>
        </p:nvSpPr>
        <p:spPr>
          <a:xfrm>
            <a:off x="420802" y="1099392"/>
            <a:ext cx="11393244" cy="5101383"/>
          </a:xfrm>
        </p:spPr>
        <p:txBody>
          <a:bodyPr>
            <a:normAutofit/>
          </a:bodyPr>
          <a:lstStyle/>
          <a:p>
            <a:r>
              <a:rPr lang="en-US" i="1" dirty="0"/>
              <a:t>Fan et al, 2012</a:t>
            </a:r>
            <a:r>
              <a:rPr lang="en-US" baseline="30000" dirty="0"/>
              <a:t> 1</a:t>
            </a:r>
            <a:r>
              <a:rPr lang="en-US" dirty="0"/>
              <a:t> disclosed optical system details of the Chinese ZY-3 remote sensing satellite</a:t>
            </a:r>
            <a:endParaRPr lang="en-US" baseline="30000" dirty="0"/>
          </a:p>
          <a:p>
            <a:pPr lvl="1"/>
            <a:r>
              <a:rPr lang="en-US" dirty="0"/>
              <a:t>Described in general terms</a:t>
            </a:r>
          </a:p>
          <a:p>
            <a:pPr lvl="1"/>
            <a:r>
              <a:rPr lang="en-US" dirty="0"/>
              <a:t>Some elements of optical performance presented with specific details</a:t>
            </a:r>
          </a:p>
          <a:p>
            <a:r>
              <a:rPr lang="en-US" dirty="0"/>
              <a:t>Careful reading reveals contradictions, ambiguities, and errors</a:t>
            </a:r>
          </a:p>
          <a:p>
            <a:r>
              <a:rPr lang="en-US" dirty="0"/>
              <a:t>Herein we present our in-depth analysis of Sections I, II, and III(A)</a:t>
            </a:r>
          </a:p>
          <a:p>
            <a:pPr lvl="1"/>
            <a:r>
              <a:rPr lang="en-US" dirty="0"/>
              <a:t>Basic system requirements/specifications</a:t>
            </a:r>
          </a:p>
          <a:p>
            <a:pPr lvl="1"/>
            <a:r>
              <a:rPr lang="en-US" dirty="0"/>
              <a:t>MTF results of optical design</a:t>
            </a:r>
          </a:p>
          <a:p>
            <a:pPr lvl="1"/>
            <a:r>
              <a:rPr lang="en-US" b="1" i="1" u="sng" dirty="0"/>
              <a:t>BLUF</a:t>
            </a:r>
            <a:r>
              <a:rPr lang="en-US" dirty="0"/>
              <a:t>: Basic optical principles reveal problems with some of the most important aspects of the optical and system capabilities</a:t>
            </a: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r>
              <a:rPr lang="en-US" dirty="0"/>
              <a:t>2</a:t>
            </a:r>
          </a:p>
        </p:txBody>
      </p:sp>
      <p:sp>
        <p:nvSpPr>
          <p:cNvPr id="3" name="TextBox 2">
            <a:extLst>
              <a:ext uri="{FF2B5EF4-FFF2-40B4-BE49-F238E27FC236}">
                <a16:creationId xmlns:a16="http://schemas.microsoft.com/office/drawing/2014/main" id="{29100B79-AD65-C876-4254-B57C58D69AD5}"/>
              </a:ext>
            </a:extLst>
          </p:cNvPr>
          <p:cNvSpPr txBox="1"/>
          <p:nvPr/>
        </p:nvSpPr>
        <p:spPr>
          <a:xfrm>
            <a:off x="501483" y="6240805"/>
            <a:ext cx="11393243" cy="307777"/>
          </a:xfrm>
          <a:prstGeom prst="rect">
            <a:avLst/>
          </a:prstGeom>
          <a:noFill/>
        </p:spPr>
        <p:txBody>
          <a:bodyPr wrap="square" rtlCol="0">
            <a:spAutoFit/>
          </a:bodyPr>
          <a:lstStyle/>
          <a:p>
            <a:r>
              <a:rPr lang="en-US" sz="1400" baseline="30000" dirty="0"/>
              <a:t>1</a:t>
            </a:r>
            <a:r>
              <a:rPr lang="en-US" sz="1400" dirty="0"/>
              <a:t> Fan, B., Cai, W., and Hyang Y. “Design and Test of a High Performance Off-axis TMA Telescope”  </a:t>
            </a:r>
            <a:r>
              <a:rPr lang="en-US" sz="1400" i="1" dirty="0"/>
              <a:t>International Conference on Space Optics, 2012</a:t>
            </a:r>
          </a:p>
        </p:txBody>
      </p:sp>
    </p:spTree>
    <p:extLst>
      <p:ext uri="{BB962C8B-B14F-4D97-AF65-F5344CB8AC3E}">
        <p14:creationId xmlns:p14="http://schemas.microsoft.com/office/powerpoint/2010/main" val="2421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B69068C6-BAA5-8061-AFAD-B4B8EDD75281}"/>
              </a:ext>
            </a:extLst>
          </p:cNvPr>
          <p:cNvGraphicFramePr>
            <a:graphicFrameLocks noGrp="1"/>
          </p:cNvGraphicFramePr>
          <p:nvPr>
            <p:ph idx="1"/>
            <p:extLst>
              <p:ext uri="{D42A27DB-BD31-4B8C-83A1-F6EECF244321}">
                <p14:modId xmlns:p14="http://schemas.microsoft.com/office/powerpoint/2010/main" val="1337188844"/>
              </p:ext>
            </p:extLst>
          </p:nvPr>
        </p:nvGraphicFramePr>
        <p:xfrm>
          <a:off x="420688" y="877888"/>
          <a:ext cx="11393242" cy="5034280"/>
        </p:xfrm>
        <a:graphic>
          <a:graphicData uri="http://schemas.openxmlformats.org/drawingml/2006/table">
            <a:tbl>
              <a:tblPr firstRow="1" bandRow="1">
                <a:tableStyleId>{5C22544A-7EE6-4342-B048-85BDC9FD1C3A}</a:tableStyleId>
              </a:tblPr>
              <a:tblGrid>
                <a:gridCol w="2332560">
                  <a:extLst>
                    <a:ext uri="{9D8B030D-6E8A-4147-A177-3AD203B41FA5}">
                      <a16:colId xmlns:a16="http://schemas.microsoft.com/office/drawing/2014/main" val="1450216350"/>
                    </a:ext>
                  </a:extLst>
                </a:gridCol>
                <a:gridCol w="5657222">
                  <a:extLst>
                    <a:ext uri="{9D8B030D-6E8A-4147-A177-3AD203B41FA5}">
                      <a16:colId xmlns:a16="http://schemas.microsoft.com/office/drawing/2014/main" val="3304224461"/>
                    </a:ext>
                  </a:extLst>
                </a:gridCol>
                <a:gridCol w="3403460">
                  <a:extLst>
                    <a:ext uri="{9D8B030D-6E8A-4147-A177-3AD203B41FA5}">
                      <a16:colId xmlns:a16="http://schemas.microsoft.com/office/drawing/2014/main" val="1120421727"/>
                    </a:ext>
                  </a:extLst>
                </a:gridCol>
              </a:tblGrid>
              <a:tr h="370840">
                <a:tc>
                  <a:txBody>
                    <a:bodyPr/>
                    <a:lstStyle/>
                    <a:p>
                      <a:r>
                        <a:rPr lang="en-US" dirty="0"/>
                        <a:t>Problem Area</a:t>
                      </a:r>
                    </a:p>
                  </a:txBody>
                  <a:tcPr/>
                </a:tc>
                <a:tc>
                  <a:txBody>
                    <a:bodyPr/>
                    <a:lstStyle/>
                    <a:p>
                      <a:r>
                        <a:rPr lang="en-US" dirty="0"/>
                        <a:t>Description</a:t>
                      </a:r>
                    </a:p>
                  </a:txBody>
                  <a:tcPr/>
                </a:tc>
                <a:tc>
                  <a:txBody>
                    <a:bodyPr/>
                    <a:lstStyle/>
                    <a:p>
                      <a:r>
                        <a:rPr lang="en-US" dirty="0"/>
                        <a:t>Implication</a:t>
                      </a:r>
                    </a:p>
                  </a:txBody>
                  <a:tcPr/>
                </a:tc>
                <a:extLst>
                  <a:ext uri="{0D108BD9-81ED-4DB2-BD59-A6C34878D82A}">
                    <a16:rowId xmlns:a16="http://schemas.microsoft.com/office/drawing/2014/main" val="42927166"/>
                  </a:ext>
                </a:extLst>
              </a:tr>
              <a:tr h="370840">
                <a:tc>
                  <a:txBody>
                    <a:bodyPr/>
                    <a:lstStyle/>
                    <a:p>
                      <a:r>
                        <a:rPr lang="en-US" dirty="0"/>
                        <a:t>Unjustified performance values</a:t>
                      </a:r>
                    </a:p>
                  </a:txBody>
                  <a:tcPr/>
                </a:tc>
                <a:tc>
                  <a:txBody>
                    <a:bodyPr/>
                    <a:lstStyle/>
                    <a:p>
                      <a:r>
                        <a:rPr lang="en-US" dirty="0"/>
                        <a:t>Optical parameters don’t produce GSD or MTF claimed, and don’t come anywhere near “diffraction limited”</a:t>
                      </a:r>
                    </a:p>
                  </a:txBody>
                  <a:tcPr/>
                </a:tc>
                <a:tc>
                  <a:txBody>
                    <a:bodyPr/>
                    <a:lstStyle/>
                    <a:p>
                      <a:r>
                        <a:rPr lang="en-US" dirty="0"/>
                        <a:t>Sensor instability or optical principles flaws may explain discrepancies</a:t>
                      </a:r>
                    </a:p>
                  </a:txBody>
                  <a:tcPr/>
                </a:tc>
                <a:extLst>
                  <a:ext uri="{0D108BD9-81ED-4DB2-BD59-A6C34878D82A}">
                    <a16:rowId xmlns:a16="http://schemas.microsoft.com/office/drawing/2014/main" val="3812395283"/>
                  </a:ext>
                </a:extLst>
              </a:tr>
              <a:tr h="370840">
                <a:tc>
                  <a:txBody>
                    <a:bodyPr/>
                    <a:lstStyle/>
                    <a:p>
                      <a:r>
                        <a:rPr lang="en-US" dirty="0"/>
                        <a:t>Complex optical path</a:t>
                      </a:r>
                    </a:p>
                  </a:txBody>
                  <a:tcPr/>
                </a:tc>
                <a:tc>
                  <a:txBody>
                    <a:bodyPr/>
                    <a:lstStyle/>
                    <a:p>
                      <a:r>
                        <a:rPr lang="en-US" dirty="0"/>
                        <a:t>Numerous mirror offsets, no central optical axis, no optical obscurations of other components</a:t>
                      </a:r>
                    </a:p>
                  </a:txBody>
                  <a:tcPr/>
                </a:tc>
                <a:tc>
                  <a:txBody>
                    <a:bodyPr/>
                    <a:lstStyle/>
                    <a:p>
                      <a:r>
                        <a:rPr lang="en-US" dirty="0"/>
                        <a:t>May indicate packaging (for launch) problems</a:t>
                      </a:r>
                    </a:p>
                  </a:txBody>
                  <a:tcPr/>
                </a:tc>
                <a:extLst>
                  <a:ext uri="{0D108BD9-81ED-4DB2-BD59-A6C34878D82A}">
                    <a16:rowId xmlns:a16="http://schemas.microsoft.com/office/drawing/2014/main" val="1612948216"/>
                  </a:ext>
                </a:extLst>
              </a:tr>
              <a:tr h="370840">
                <a:tc>
                  <a:txBody>
                    <a:bodyPr/>
                    <a:lstStyle/>
                    <a:p>
                      <a:r>
                        <a:rPr lang="en-US" dirty="0" err="1"/>
                        <a:t>Telecentricity</a:t>
                      </a:r>
                      <a:r>
                        <a:rPr lang="en-US" dirty="0"/>
                        <a:t> without justification</a:t>
                      </a:r>
                    </a:p>
                  </a:txBody>
                  <a:tcPr/>
                </a:tc>
                <a:tc>
                  <a:txBody>
                    <a:bodyPr/>
                    <a:lstStyle/>
                    <a:p>
                      <a:r>
                        <a:rPr lang="en-US" dirty="0"/>
                        <a:t>Authors state system is “near telecentric” with no explanation as to why</a:t>
                      </a:r>
                    </a:p>
                  </a:txBody>
                  <a:tcPr/>
                </a:tc>
                <a:tc>
                  <a:txBody>
                    <a:bodyPr/>
                    <a:lstStyle/>
                    <a:p>
                      <a:r>
                        <a:rPr lang="en-US" dirty="0"/>
                        <a:t>May not understand value of </a:t>
                      </a:r>
                      <a:r>
                        <a:rPr lang="en-US" dirty="0" err="1"/>
                        <a:t>telecentricity</a:t>
                      </a:r>
                      <a:endParaRPr lang="en-US" dirty="0"/>
                    </a:p>
                  </a:txBody>
                  <a:tcPr/>
                </a:tc>
                <a:extLst>
                  <a:ext uri="{0D108BD9-81ED-4DB2-BD59-A6C34878D82A}">
                    <a16:rowId xmlns:a16="http://schemas.microsoft.com/office/drawing/2014/main" val="1051634701"/>
                  </a:ext>
                </a:extLst>
              </a:tr>
              <a:tr h="370840">
                <a:tc>
                  <a:txBody>
                    <a:bodyPr/>
                    <a:lstStyle/>
                    <a:p>
                      <a:r>
                        <a:rPr lang="en-US" dirty="0"/>
                        <a:t>No common axis</a:t>
                      </a:r>
                    </a:p>
                  </a:txBody>
                  <a:tcPr/>
                </a:tc>
                <a:tc>
                  <a:txBody>
                    <a:bodyPr/>
                    <a:lstStyle/>
                    <a:p>
                      <a:r>
                        <a:rPr lang="en-US" dirty="0"/>
                        <a:t>Multiple mirror folds impact optical performance in terms of stability, aberrations, lost photons</a:t>
                      </a:r>
                    </a:p>
                  </a:txBody>
                  <a:tcPr/>
                </a:tc>
                <a:tc>
                  <a:txBody>
                    <a:bodyPr/>
                    <a:lstStyle/>
                    <a:p>
                      <a:r>
                        <a:rPr lang="en-US" dirty="0"/>
                        <a:t>Willingness to accept degraded performance over larger system</a:t>
                      </a:r>
                    </a:p>
                  </a:txBody>
                  <a:tcPr/>
                </a:tc>
                <a:extLst>
                  <a:ext uri="{0D108BD9-81ED-4DB2-BD59-A6C34878D82A}">
                    <a16:rowId xmlns:a16="http://schemas.microsoft.com/office/drawing/2014/main" val="1885038224"/>
                  </a:ext>
                </a:extLst>
              </a:tr>
              <a:tr h="370840">
                <a:tc>
                  <a:txBody>
                    <a:bodyPr/>
                    <a:lstStyle/>
                    <a:p>
                      <a:r>
                        <a:rPr lang="en-US" dirty="0"/>
                        <a:t>Rectangular mirror inconsistency</a:t>
                      </a:r>
                    </a:p>
                  </a:txBody>
                  <a:tcPr/>
                </a:tc>
                <a:tc>
                  <a:txBody>
                    <a:bodyPr/>
                    <a:lstStyle/>
                    <a:p>
                      <a:r>
                        <a:rPr lang="en-US" dirty="0"/>
                        <a:t>Optical design principles usually avoid geometrically inconsistent reflective surfaces (mixtures of rectangular and circular mirrors)</a:t>
                      </a:r>
                    </a:p>
                  </a:txBody>
                  <a:tcPr/>
                </a:tc>
                <a:tc>
                  <a:txBody>
                    <a:bodyPr/>
                    <a:lstStyle/>
                    <a:p>
                      <a:r>
                        <a:rPr lang="en-US" dirty="0"/>
                        <a:t>Manufacturing of mirrors will be unduly complicated</a:t>
                      </a:r>
                    </a:p>
                  </a:txBody>
                  <a:tcPr/>
                </a:tc>
                <a:extLst>
                  <a:ext uri="{0D108BD9-81ED-4DB2-BD59-A6C34878D82A}">
                    <a16:rowId xmlns:a16="http://schemas.microsoft.com/office/drawing/2014/main" val="2244509999"/>
                  </a:ext>
                </a:extLst>
              </a:tr>
              <a:tr h="370840">
                <a:tc>
                  <a:txBody>
                    <a:bodyPr/>
                    <a:lstStyle/>
                    <a:p>
                      <a:r>
                        <a:rPr lang="en-US" dirty="0"/>
                        <a:t>Spectral range questionable</a:t>
                      </a:r>
                    </a:p>
                  </a:txBody>
                  <a:tcPr/>
                </a:tc>
                <a:tc>
                  <a:txBody>
                    <a:bodyPr/>
                    <a:lstStyle/>
                    <a:p>
                      <a:r>
                        <a:rPr lang="en-US" dirty="0"/>
                        <a:t>Bandwidth provided is narrower than usual for a multispectral sensor and doesn’t match future systems</a:t>
                      </a:r>
                    </a:p>
                  </a:txBody>
                  <a:tcPr/>
                </a:tc>
                <a:tc>
                  <a:txBody>
                    <a:bodyPr/>
                    <a:lstStyle/>
                    <a:p>
                      <a:r>
                        <a:rPr lang="en-US" dirty="0"/>
                        <a:t>Either misstated range or were constrained by unknowns not disclosed in the Paper</a:t>
                      </a:r>
                    </a:p>
                  </a:txBody>
                  <a:tcPr/>
                </a:tc>
                <a:extLst>
                  <a:ext uri="{0D108BD9-81ED-4DB2-BD59-A6C34878D82A}">
                    <a16:rowId xmlns:a16="http://schemas.microsoft.com/office/drawing/2014/main" val="1466625691"/>
                  </a:ext>
                </a:extLst>
              </a:tr>
            </a:tbl>
          </a:graphicData>
        </a:graphic>
      </p:graphicFrame>
      <p:sp>
        <p:nvSpPr>
          <p:cNvPr id="3" name="Slide Number Placeholder 2">
            <a:extLst>
              <a:ext uri="{FF2B5EF4-FFF2-40B4-BE49-F238E27FC236}">
                <a16:creationId xmlns:a16="http://schemas.microsoft.com/office/drawing/2014/main" id="{00456AB1-C38F-6D46-D451-15E48A447FF1}"/>
              </a:ext>
            </a:extLst>
          </p:cNvPr>
          <p:cNvSpPr>
            <a:spLocks noGrp="1"/>
          </p:cNvSpPr>
          <p:nvPr>
            <p:ph type="sldNum" sz="quarter" idx="12"/>
          </p:nvPr>
        </p:nvSpPr>
        <p:spPr/>
        <p:txBody>
          <a:bodyPr/>
          <a:lstStyle/>
          <a:p>
            <a:fld id="{9EA51DAC-3F90-4AAD-A1AF-FE7171D4A594}" type="slidenum">
              <a:rPr lang="en-US" smtClean="0"/>
              <a:pPr/>
              <a:t>4</a:t>
            </a:fld>
            <a:endParaRPr lang="en-US"/>
          </a:p>
        </p:txBody>
      </p:sp>
      <p:sp>
        <p:nvSpPr>
          <p:cNvPr id="4" name="Title 3">
            <a:extLst>
              <a:ext uri="{FF2B5EF4-FFF2-40B4-BE49-F238E27FC236}">
                <a16:creationId xmlns:a16="http://schemas.microsoft.com/office/drawing/2014/main" id="{D0D54CE6-8FE2-66D6-BA21-F068B9FE1620}"/>
              </a:ext>
            </a:extLst>
          </p:cNvPr>
          <p:cNvSpPr>
            <a:spLocks noGrp="1"/>
          </p:cNvSpPr>
          <p:nvPr>
            <p:ph type="title"/>
          </p:nvPr>
        </p:nvSpPr>
        <p:spPr/>
        <p:txBody>
          <a:bodyPr/>
          <a:lstStyle/>
          <a:p>
            <a:r>
              <a:rPr lang="en-US" dirty="0"/>
              <a:t>Summary of Discrepancies</a:t>
            </a:r>
          </a:p>
        </p:txBody>
      </p:sp>
    </p:spTree>
    <p:extLst>
      <p:ext uri="{BB962C8B-B14F-4D97-AF65-F5344CB8AC3E}">
        <p14:creationId xmlns:p14="http://schemas.microsoft.com/office/powerpoint/2010/main" val="3637439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412D-B644-2E3F-353A-C72DC73688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40D980-F0B7-68F6-61FF-D77E0E0D5B7C}"/>
              </a:ext>
            </a:extLst>
          </p:cNvPr>
          <p:cNvSpPr>
            <a:spLocks noGrp="1"/>
          </p:cNvSpPr>
          <p:nvPr>
            <p:ph idx="1"/>
          </p:nvPr>
        </p:nvSpPr>
        <p:spPr/>
        <p:txBody>
          <a:bodyPr/>
          <a:lstStyle/>
          <a:p>
            <a:r>
              <a:rPr lang="en-US" dirty="0">
                <a:solidFill>
                  <a:schemeClr val="bg1">
                    <a:lumMod val="75000"/>
                  </a:schemeClr>
                </a:solidFill>
              </a:rPr>
              <a:t>Purpose</a:t>
            </a:r>
          </a:p>
          <a:p>
            <a:r>
              <a:rPr lang="en-US" dirty="0"/>
              <a:t>Background</a:t>
            </a:r>
          </a:p>
          <a:p>
            <a:r>
              <a:rPr lang="en-US" dirty="0">
                <a:solidFill>
                  <a:schemeClr val="bg1">
                    <a:lumMod val="75000"/>
                  </a:schemeClr>
                </a:solidFill>
              </a:rPr>
              <a:t>ZY-3 Details</a:t>
            </a:r>
          </a:p>
          <a:p>
            <a:r>
              <a:rPr lang="en-US" dirty="0">
                <a:solidFill>
                  <a:schemeClr val="bg1">
                    <a:lumMod val="75000"/>
                  </a:schemeClr>
                </a:solidFill>
              </a:rPr>
              <a:t>Comments</a:t>
            </a:r>
          </a:p>
          <a:p>
            <a:endParaRPr lang="en-US" dirty="0"/>
          </a:p>
          <a:p>
            <a:endParaRPr lang="en-US" dirty="0"/>
          </a:p>
        </p:txBody>
      </p:sp>
      <p:sp>
        <p:nvSpPr>
          <p:cNvPr id="3" name="Slide Number Placeholder 2">
            <a:extLst>
              <a:ext uri="{FF2B5EF4-FFF2-40B4-BE49-F238E27FC236}">
                <a16:creationId xmlns:a16="http://schemas.microsoft.com/office/drawing/2014/main" id="{2F05C3E7-D96A-7393-0ED3-6BA460927C97}"/>
              </a:ext>
            </a:extLst>
          </p:cNvPr>
          <p:cNvSpPr>
            <a:spLocks noGrp="1"/>
          </p:cNvSpPr>
          <p:nvPr>
            <p:ph type="sldNum" sz="quarter" idx="12"/>
          </p:nvPr>
        </p:nvSpPr>
        <p:spPr/>
        <p:txBody>
          <a:bodyPr/>
          <a:lstStyle/>
          <a:p>
            <a:fld id="{9EA51DAC-3F90-4AAD-A1AF-FE7171D4A594}" type="slidenum">
              <a:rPr lang="en-US" smtClean="0"/>
              <a:pPr/>
              <a:t>5</a:t>
            </a:fld>
            <a:endParaRPr lang="en-US"/>
          </a:p>
        </p:txBody>
      </p:sp>
      <p:sp>
        <p:nvSpPr>
          <p:cNvPr id="4" name="Title 3">
            <a:extLst>
              <a:ext uri="{FF2B5EF4-FFF2-40B4-BE49-F238E27FC236}">
                <a16:creationId xmlns:a16="http://schemas.microsoft.com/office/drawing/2014/main" id="{2CEF6214-D9FC-743F-4482-2485ED78B212}"/>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3033408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93DBB9-0F69-B225-37BA-874AC6CCFDF0}"/>
              </a:ext>
            </a:extLst>
          </p:cNvPr>
          <p:cNvSpPr>
            <a:spLocks noGrp="1"/>
          </p:cNvSpPr>
          <p:nvPr>
            <p:ph idx="1"/>
          </p:nvPr>
        </p:nvSpPr>
        <p:spPr>
          <a:xfrm>
            <a:off x="420803" y="878564"/>
            <a:ext cx="7253632" cy="5588912"/>
          </a:xfrm>
        </p:spPr>
        <p:txBody>
          <a:bodyPr>
            <a:normAutofit/>
          </a:bodyPr>
          <a:lstStyle/>
          <a:p>
            <a:r>
              <a:rPr lang="en-US" dirty="0"/>
              <a:t>Understanding the basics of optical image formation is needed to analyze the ZY-3 information set forth in </a:t>
            </a:r>
            <a:r>
              <a:rPr lang="en-US" i="1" dirty="0"/>
              <a:t>Fan et al, 2012</a:t>
            </a:r>
          </a:p>
          <a:p>
            <a:r>
              <a:rPr lang="en-US" dirty="0"/>
              <a:t>Start with a </a:t>
            </a:r>
            <a:r>
              <a:rPr lang="en-US" i="1" u="sng" dirty="0"/>
              <a:t>Pinhole Camera</a:t>
            </a:r>
          </a:p>
          <a:p>
            <a:pPr lvl="1"/>
            <a:r>
              <a:rPr lang="en-US" dirty="0"/>
              <a:t>An enclosed box has a pinhole on one side</a:t>
            </a:r>
          </a:p>
          <a:p>
            <a:pPr lvl="1"/>
            <a:r>
              <a:rPr lang="en-US" dirty="0"/>
              <a:t>Light rays from all over an object are captured at the pinhole</a:t>
            </a:r>
          </a:p>
          <a:p>
            <a:pPr lvl="1"/>
            <a:r>
              <a:rPr lang="en-US" dirty="0"/>
              <a:t>Captured light is projected to the opposite end of the box</a:t>
            </a:r>
          </a:p>
          <a:p>
            <a:pPr lvl="1"/>
            <a:r>
              <a:rPr lang="en-US" dirty="0"/>
              <a:t>These projections form an inverted image of the object</a:t>
            </a:r>
          </a:p>
          <a:p>
            <a:r>
              <a:rPr lang="en-US" dirty="0"/>
              <a:t>A pinhole camera is very </a:t>
            </a:r>
            <a:r>
              <a:rPr lang="en-US" i="1" u="sng" dirty="0"/>
              <a:t>inefficient</a:t>
            </a:r>
            <a:r>
              <a:rPr lang="en-US" dirty="0"/>
              <a:t> </a:t>
            </a:r>
          </a:p>
          <a:p>
            <a:pPr lvl="1"/>
            <a:r>
              <a:rPr lang="en-US" dirty="0"/>
              <a:t>The small aperture allows some light rays to enter, but misses many rays not in the angular range between the object plane, aperture, and image plane</a:t>
            </a:r>
          </a:p>
          <a:p>
            <a:r>
              <a:rPr lang="en-US" dirty="0"/>
              <a:t>The ZY-3 system wants a sharper, higher contrast image, so it has a more complex optical design compared to a pinhole camera</a:t>
            </a:r>
          </a:p>
        </p:txBody>
      </p:sp>
      <p:sp>
        <p:nvSpPr>
          <p:cNvPr id="3" name="Slide Number Placeholder 2">
            <a:extLst>
              <a:ext uri="{FF2B5EF4-FFF2-40B4-BE49-F238E27FC236}">
                <a16:creationId xmlns:a16="http://schemas.microsoft.com/office/drawing/2014/main" id="{8A73B781-D4B4-78BE-D65C-F69F34D6167C}"/>
              </a:ext>
            </a:extLst>
          </p:cNvPr>
          <p:cNvSpPr>
            <a:spLocks noGrp="1"/>
          </p:cNvSpPr>
          <p:nvPr>
            <p:ph type="sldNum" sz="quarter" idx="12"/>
          </p:nvPr>
        </p:nvSpPr>
        <p:spPr/>
        <p:txBody>
          <a:bodyPr/>
          <a:lstStyle/>
          <a:p>
            <a:fld id="{9EA51DAC-3F90-4AAD-A1AF-FE7171D4A594}" type="slidenum">
              <a:rPr lang="en-US" smtClean="0"/>
              <a:pPr/>
              <a:t>6</a:t>
            </a:fld>
            <a:endParaRPr lang="en-US"/>
          </a:p>
        </p:txBody>
      </p:sp>
      <p:sp>
        <p:nvSpPr>
          <p:cNvPr id="4" name="Title 3">
            <a:extLst>
              <a:ext uri="{FF2B5EF4-FFF2-40B4-BE49-F238E27FC236}">
                <a16:creationId xmlns:a16="http://schemas.microsoft.com/office/drawing/2014/main" id="{BB5A7A61-6A37-2E0B-AEB4-A2B54880DE3D}"/>
              </a:ext>
            </a:extLst>
          </p:cNvPr>
          <p:cNvSpPr>
            <a:spLocks noGrp="1"/>
          </p:cNvSpPr>
          <p:nvPr>
            <p:ph type="title"/>
          </p:nvPr>
        </p:nvSpPr>
        <p:spPr/>
        <p:txBody>
          <a:bodyPr/>
          <a:lstStyle/>
          <a:p>
            <a:r>
              <a:rPr lang="en-US" dirty="0"/>
              <a:t>Basic Concepts of Optics</a:t>
            </a:r>
          </a:p>
        </p:txBody>
      </p:sp>
      <p:grpSp>
        <p:nvGrpSpPr>
          <p:cNvPr id="31" name="Group 30">
            <a:extLst>
              <a:ext uri="{FF2B5EF4-FFF2-40B4-BE49-F238E27FC236}">
                <a16:creationId xmlns:a16="http://schemas.microsoft.com/office/drawing/2014/main" id="{061FDD5B-B31D-6F51-FC42-419F90385166}"/>
              </a:ext>
            </a:extLst>
          </p:cNvPr>
          <p:cNvGrpSpPr/>
          <p:nvPr/>
        </p:nvGrpSpPr>
        <p:grpSpPr>
          <a:xfrm>
            <a:off x="7877682" y="2158998"/>
            <a:ext cx="3626741" cy="2071916"/>
            <a:chOff x="5650418" y="1556655"/>
            <a:chExt cx="3602439" cy="1832430"/>
          </a:xfrm>
        </p:grpSpPr>
        <p:cxnSp>
          <p:nvCxnSpPr>
            <p:cNvPr id="9" name="Straight Connector 8">
              <a:extLst>
                <a:ext uri="{FF2B5EF4-FFF2-40B4-BE49-F238E27FC236}">
                  <a16:creationId xmlns:a16="http://schemas.microsoft.com/office/drawing/2014/main" id="{E7A7B8CF-8158-36D6-1EC5-870AF96A98DD}"/>
                </a:ext>
              </a:extLst>
            </p:cNvPr>
            <p:cNvCxnSpPr>
              <a:cxnSpLocks/>
            </p:cNvCxnSpPr>
            <p:nvPr/>
          </p:nvCxnSpPr>
          <p:spPr>
            <a:xfrm>
              <a:off x="6538686" y="1803398"/>
              <a:ext cx="0" cy="11792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A07B3E-1144-6475-C89D-400D49E11081}"/>
                </a:ext>
              </a:extLst>
            </p:cNvPr>
            <p:cNvCxnSpPr>
              <a:cxnSpLocks/>
            </p:cNvCxnSpPr>
            <p:nvPr/>
          </p:nvCxnSpPr>
          <p:spPr>
            <a:xfrm>
              <a:off x="7336972" y="1556655"/>
              <a:ext cx="29028" cy="11792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326CCA4-380E-C319-5475-8B75AAB57E6F}"/>
                </a:ext>
              </a:extLst>
            </p:cNvPr>
            <p:cNvCxnSpPr>
              <a:cxnSpLocks/>
            </p:cNvCxnSpPr>
            <p:nvPr/>
          </p:nvCxnSpPr>
          <p:spPr>
            <a:xfrm flipV="1">
              <a:off x="6509658" y="1556655"/>
              <a:ext cx="827314" cy="246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70D2E17-A939-3ADD-117F-6029EEC1F9B7}"/>
                </a:ext>
              </a:extLst>
            </p:cNvPr>
            <p:cNvCxnSpPr>
              <a:cxnSpLocks/>
            </p:cNvCxnSpPr>
            <p:nvPr/>
          </p:nvCxnSpPr>
          <p:spPr>
            <a:xfrm flipV="1">
              <a:off x="6538686" y="2735943"/>
              <a:ext cx="827314" cy="246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EDA4D8-F5F7-B352-6AE6-E4A5B50CCD5E}"/>
                </a:ext>
              </a:extLst>
            </p:cNvPr>
            <p:cNvCxnSpPr>
              <a:cxnSpLocks/>
            </p:cNvCxnSpPr>
            <p:nvPr/>
          </p:nvCxnSpPr>
          <p:spPr>
            <a:xfrm>
              <a:off x="6538686" y="2997200"/>
              <a:ext cx="1886857" cy="3918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CAFCA2F-C90C-D234-0284-3CF2BB281AC5}"/>
                </a:ext>
              </a:extLst>
            </p:cNvPr>
            <p:cNvCxnSpPr>
              <a:cxnSpLocks/>
            </p:cNvCxnSpPr>
            <p:nvPr/>
          </p:nvCxnSpPr>
          <p:spPr>
            <a:xfrm>
              <a:off x="6520042" y="1819727"/>
              <a:ext cx="1934527" cy="3857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43D251F-3098-46B9-CF99-5E715E6A37DD}"/>
                </a:ext>
              </a:extLst>
            </p:cNvPr>
            <p:cNvCxnSpPr>
              <a:cxnSpLocks/>
            </p:cNvCxnSpPr>
            <p:nvPr/>
          </p:nvCxnSpPr>
          <p:spPr>
            <a:xfrm>
              <a:off x="7318329" y="1556655"/>
              <a:ext cx="1886857" cy="391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69BF97-DBE2-E97B-20AC-8D9052F18FDD}"/>
                </a:ext>
              </a:extLst>
            </p:cNvPr>
            <p:cNvCxnSpPr>
              <a:cxnSpLocks/>
            </p:cNvCxnSpPr>
            <p:nvPr/>
          </p:nvCxnSpPr>
          <p:spPr>
            <a:xfrm>
              <a:off x="7366000" y="2754086"/>
              <a:ext cx="1886857" cy="3918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7D67B07-9A50-2216-7616-A3E89FC85815}"/>
                </a:ext>
              </a:extLst>
            </p:cNvPr>
            <p:cNvCxnSpPr>
              <a:cxnSpLocks/>
            </p:cNvCxnSpPr>
            <p:nvPr/>
          </p:nvCxnSpPr>
          <p:spPr>
            <a:xfrm flipV="1">
              <a:off x="8396515" y="1944188"/>
              <a:ext cx="827314" cy="261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2821C9C-A48D-3E6A-8908-F6F5991A0B9D}"/>
                </a:ext>
              </a:extLst>
            </p:cNvPr>
            <p:cNvCxnSpPr>
              <a:cxnSpLocks/>
            </p:cNvCxnSpPr>
            <p:nvPr/>
          </p:nvCxnSpPr>
          <p:spPr>
            <a:xfrm flipV="1">
              <a:off x="8425542" y="3135085"/>
              <a:ext cx="827314" cy="246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490B4CC-1888-0DBC-E4EC-44C15F4A24EC}"/>
                </a:ext>
              </a:extLst>
            </p:cNvPr>
            <p:cNvCxnSpPr>
              <a:cxnSpLocks/>
            </p:cNvCxnSpPr>
            <p:nvPr/>
          </p:nvCxnSpPr>
          <p:spPr>
            <a:xfrm>
              <a:off x="8418285" y="2205446"/>
              <a:ext cx="0" cy="11546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6C56DBF-F3B8-8DEF-2026-5533D8FBC142}"/>
                </a:ext>
              </a:extLst>
            </p:cNvPr>
            <p:cNvCxnSpPr>
              <a:cxnSpLocks/>
            </p:cNvCxnSpPr>
            <p:nvPr/>
          </p:nvCxnSpPr>
          <p:spPr>
            <a:xfrm>
              <a:off x="9223829" y="1944188"/>
              <a:ext cx="0" cy="11908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Donut 26">
              <a:extLst>
                <a:ext uri="{FF2B5EF4-FFF2-40B4-BE49-F238E27FC236}">
                  <a16:creationId xmlns:a16="http://schemas.microsoft.com/office/drawing/2014/main" id="{FB047B18-F7AC-0FD6-7504-F86EBB6AD2FC}"/>
                </a:ext>
              </a:extLst>
            </p:cNvPr>
            <p:cNvSpPr/>
            <p:nvPr/>
          </p:nvSpPr>
          <p:spPr>
            <a:xfrm>
              <a:off x="6995741" y="2354102"/>
              <a:ext cx="87084" cy="112487"/>
            </a:xfrm>
            <a:prstGeom prst="donut">
              <a:avLst>
                <a:gd name="adj"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9" name="Picture 28">
              <a:extLst>
                <a:ext uri="{FF2B5EF4-FFF2-40B4-BE49-F238E27FC236}">
                  <a16:creationId xmlns:a16="http://schemas.microsoft.com/office/drawing/2014/main" id="{582E9732-5BB8-DBF1-744D-C8AC8E1AAE24}"/>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5650418" y="2024742"/>
              <a:ext cx="397690" cy="478970"/>
            </a:xfrm>
            <a:prstGeom prst="rect">
              <a:avLst/>
            </a:prstGeom>
          </p:spPr>
        </p:pic>
        <p:pic>
          <p:nvPicPr>
            <p:cNvPr id="30" name="Picture 29">
              <a:extLst>
                <a:ext uri="{FF2B5EF4-FFF2-40B4-BE49-F238E27FC236}">
                  <a16:creationId xmlns:a16="http://schemas.microsoft.com/office/drawing/2014/main" id="{6E4FEAB8-95FC-722B-2630-B34A8C804586}"/>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rot="10800000">
              <a:off x="8552838" y="2271890"/>
              <a:ext cx="602322" cy="725425"/>
            </a:xfrm>
            <a:prstGeom prst="rect">
              <a:avLst/>
            </a:prstGeom>
          </p:spPr>
        </p:pic>
      </p:grpSp>
      <p:cxnSp>
        <p:nvCxnSpPr>
          <p:cNvPr id="33" name="Straight Arrow Connector 32">
            <a:extLst>
              <a:ext uri="{FF2B5EF4-FFF2-40B4-BE49-F238E27FC236}">
                <a16:creationId xmlns:a16="http://schemas.microsoft.com/office/drawing/2014/main" id="{08A4CEEB-0180-CB57-488A-F5EF3FE87F99}"/>
              </a:ext>
            </a:extLst>
          </p:cNvPr>
          <p:cNvCxnSpPr>
            <a:cxnSpLocks/>
            <a:stCxn id="29" idx="0"/>
            <a:endCxn id="30" idx="0"/>
          </p:cNvCxnSpPr>
          <p:nvPr/>
        </p:nvCxnSpPr>
        <p:spPr>
          <a:xfrm>
            <a:off x="8077868" y="2688261"/>
            <a:ext cx="3025005" cy="1099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F939BD6-1CC6-89FA-9F41-CADB69F15EF1}"/>
              </a:ext>
            </a:extLst>
          </p:cNvPr>
          <p:cNvCxnSpPr>
            <a:cxnSpLocks/>
            <a:stCxn id="29" idx="2"/>
            <a:endCxn id="30" idx="2"/>
          </p:cNvCxnSpPr>
          <p:nvPr/>
        </p:nvCxnSpPr>
        <p:spPr>
          <a:xfrm flipV="1">
            <a:off x="8077868" y="2967709"/>
            <a:ext cx="3025005" cy="26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C0ECDA5-F2EC-0C67-4411-028D67058EA1}"/>
              </a:ext>
            </a:extLst>
          </p:cNvPr>
          <p:cNvCxnSpPr>
            <a:cxnSpLocks/>
            <a:stCxn id="7" idx="0"/>
            <a:endCxn id="27" idx="4"/>
          </p:cNvCxnSpPr>
          <p:nvPr/>
        </p:nvCxnSpPr>
        <p:spPr>
          <a:xfrm flipH="1" flipV="1">
            <a:off x="9275917" y="3187854"/>
            <a:ext cx="5243" cy="13333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3130C84-1A42-1A11-2FC3-9D1B05AADF42}"/>
              </a:ext>
            </a:extLst>
          </p:cNvPr>
          <p:cNvSpPr txBox="1"/>
          <p:nvPr/>
        </p:nvSpPr>
        <p:spPr>
          <a:xfrm>
            <a:off x="8514080" y="4521200"/>
            <a:ext cx="1534160" cy="923330"/>
          </a:xfrm>
          <a:prstGeom prst="rect">
            <a:avLst/>
          </a:prstGeom>
          <a:noFill/>
        </p:spPr>
        <p:txBody>
          <a:bodyPr wrap="square" rtlCol="0">
            <a:spAutoFit/>
          </a:bodyPr>
          <a:lstStyle/>
          <a:p>
            <a:pPr algn="ctr"/>
            <a:r>
              <a:rPr lang="en-US" dirty="0"/>
              <a:t>Aperture (Center of Projection)</a:t>
            </a:r>
          </a:p>
        </p:txBody>
      </p:sp>
      <p:cxnSp>
        <p:nvCxnSpPr>
          <p:cNvPr id="13" name="Straight Arrow Connector 12">
            <a:extLst>
              <a:ext uri="{FF2B5EF4-FFF2-40B4-BE49-F238E27FC236}">
                <a16:creationId xmlns:a16="http://schemas.microsoft.com/office/drawing/2014/main" id="{C3BCA4C7-A8B4-0640-4DCB-8DC9B5E842A5}"/>
              </a:ext>
            </a:extLst>
          </p:cNvPr>
          <p:cNvCxnSpPr>
            <a:cxnSpLocks/>
            <a:stCxn id="14" idx="0"/>
          </p:cNvCxnSpPr>
          <p:nvPr/>
        </p:nvCxnSpPr>
        <p:spPr>
          <a:xfrm flipV="1">
            <a:off x="11102873" y="4114988"/>
            <a:ext cx="0" cy="473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504690E-C88C-D6A4-B613-7C3D8D6E04DB}"/>
              </a:ext>
            </a:extLst>
          </p:cNvPr>
          <p:cNvSpPr txBox="1"/>
          <p:nvPr/>
        </p:nvSpPr>
        <p:spPr>
          <a:xfrm>
            <a:off x="10449089" y="4587988"/>
            <a:ext cx="1307567" cy="646331"/>
          </a:xfrm>
          <a:prstGeom prst="rect">
            <a:avLst/>
          </a:prstGeom>
          <a:noFill/>
        </p:spPr>
        <p:txBody>
          <a:bodyPr wrap="square" rtlCol="0">
            <a:spAutoFit/>
          </a:bodyPr>
          <a:lstStyle/>
          <a:p>
            <a:pPr algn="ctr"/>
            <a:r>
              <a:rPr lang="en-US" dirty="0"/>
              <a:t>Image Plane</a:t>
            </a:r>
          </a:p>
        </p:txBody>
      </p:sp>
      <p:cxnSp>
        <p:nvCxnSpPr>
          <p:cNvPr id="18" name="Straight Arrow Connector 17">
            <a:extLst>
              <a:ext uri="{FF2B5EF4-FFF2-40B4-BE49-F238E27FC236}">
                <a16:creationId xmlns:a16="http://schemas.microsoft.com/office/drawing/2014/main" id="{8039F5C1-013F-3210-7CAE-9B893006F96C}"/>
              </a:ext>
            </a:extLst>
          </p:cNvPr>
          <p:cNvCxnSpPr>
            <a:cxnSpLocks/>
            <a:stCxn id="19" idx="2"/>
          </p:cNvCxnSpPr>
          <p:nvPr/>
        </p:nvCxnSpPr>
        <p:spPr>
          <a:xfrm flipH="1">
            <a:off x="8077868" y="2212433"/>
            <a:ext cx="0" cy="4465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4330636-4CF5-918C-93DE-C6546FAD1BEE}"/>
              </a:ext>
            </a:extLst>
          </p:cNvPr>
          <p:cNvSpPr txBox="1"/>
          <p:nvPr/>
        </p:nvSpPr>
        <p:spPr>
          <a:xfrm>
            <a:off x="7433187" y="1566102"/>
            <a:ext cx="1307567" cy="646331"/>
          </a:xfrm>
          <a:prstGeom prst="rect">
            <a:avLst/>
          </a:prstGeom>
          <a:noFill/>
        </p:spPr>
        <p:txBody>
          <a:bodyPr wrap="square" rtlCol="0">
            <a:spAutoFit/>
          </a:bodyPr>
          <a:lstStyle/>
          <a:p>
            <a:pPr algn="ctr"/>
            <a:r>
              <a:rPr lang="en-US" dirty="0"/>
              <a:t>Object Plane</a:t>
            </a:r>
          </a:p>
        </p:txBody>
      </p:sp>
    </p:spTree>
    <p:extLst>
      <p:ext uri="{BB962C8B-B14F-4D97-AF65-F5344CB8AC3E}">
        <p14:creationId xmlns:p14="http://schemas.microsoft.com/office/powerpoint/2010/main" val="176513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FED0D2-87B6-EFA0-1CD8-B2CC34E694A0}"/>
              </a:ext>
            </a:extLst>
          </p:cNvPr>
          <p:cNvSpPr>
            <a:spLocks noGrp="1"/>
          </p:cNvSpPr>
          <p:nvPr>
            <p:ph idx="1"/>
          </p:nvPr>
        </p:nvSpPr>
        <p:spPr>
          <a:xfrm>
            <a:off x="420802" y="878564"/>
            <a:ext cx="7731525" cy="5588912"/>
          </a:xfrm>
        </p:spPr>
        <p:txBody>
          <a:bodyPr>
            <a:normAutofit/>
          </a:bodyPr>
          <a:lstStyle/>
          <a:p>
            <a:r>
              <a:rPr lang="en-US" dirty="0"/>
              <a:t>For more contrast and detail, we must gather more light</a:t>
            </a:r>
          </a:p>
          <a:p>
            <a:pPr lvl="1"/>
            <a:r>
              <a:rPr lang="en-US" dirty="0"/>
              <a:t>Use a larger hole (called the pupil or aperture)</a:t>
            </a:r>
          </a:p>
          <a:p>
            <a:pPr lvl="1"/>
            <a:r>
              <a:rPr lang="en-US" dirty="0"/>
              <a:t>But a larger hole lets in a wider cone of angles, resulting in blur in the image plane</a:t>
            </a:r>
            <a:endParaRPr lang="en-US" i="1" u="sng" dirty="0"/>
          </a:p>
          <a:p>
            <a:r>
              <a:rPr lang="en-US" dirty="0"/>
              <a:t>“Optics” involves lenses or mirrors that reorient light into a tight, pinhole-like focus</a:t>
            </a:r>
          </a:p>
          <a:p>
            <a:pPr lvl="1"/>
            <a:r>
              <a:rPr lang="en-US" dirty="0"/>
              <a:t>Bending of light is achieved by lens or mirror curvatures in the optical path</a:t>
            </a:r>
          </a:p>
          <a:p>
            <a:r>
              <a:rPr lang="en-US" dirty="0"/>
              <a:t>Optical surface curvature, and the distance from the pupil/aperture to the image plane (focal length), set the design goals and problems for any optical system</a:t>
            </a:r>
          </a:p>
          <a:p>
            <a:pPr lvl="1"/>
            <a:r>
              <a:rPr lang="en-US" i="1" dirty="0"/>
              <a:t>Fan et al, 2012 </a:t>
            </a:r>
            <a:r>
              <a:rPr lang="en-US" dirty="0"/>
              <a:t>summarize these in Sections I, II, and III(A)</a:t>
            </a:r>
            <a:endParaRPr lang="en-US" i="1" dirty="0"/>
          </a:p>
        </p:txBody>
      </p:sp>
      <p:sp>
        <p:nvSpPr>
          <p:cNvPr id="3" name="Slide Number Placeholder 2">
            <a:extLst>
              <a:ext uri="{FF2B5EF4-FFF2-40B4-BE49-F238E27FC236}">
                <a16:creationId xmlns:a16="http://schemas.microsoft.com/office/drawing/2014/main" id="{65E24400-2CB1-2DE6-7DFF-331014CD4580}"/>
              </a:ext>
            </a:extLst>
          </p:cNvPr>
          <p:cNvSpPr>
            <a:spLocks noGrp="1"/>
          </p:cNvSpPr>
          <p:nvPr>
            <p:ph type="sldNum" sz="quarter" idx="12"/>
          </p:nvPr>
        </p:nvSpPr>
        <p:spPr/>
        <p:txBody>
          <a:bodyPr/>
          <a:lstStyle/>
          <a:p>
            <a:fld id="{9EA51DAC-3F90-4AAD-A1AF-FE7171D4A594}" type="slidenum">
              <a:rPr lang="en-US" smtClean="0"/>
              <a:pPr/>
              <a:t>7</a:t>
            </a:fld>
            <a:endParaRPr lang="en-US"/>
          </a:p>
        </p:txBody>
      </p:sp>
      <p:sp>
        <p:nvSpPr>
          <p:cNvPr id="4" name="Title 3">
            <a:extLst>
              <a:ext uri="{FF2B5EF4-FFF2-40B4-BE49-F238E27FC236}">
                <a16:creationId xmlns:a16="http://schemas.microsoft.com/office/drawing/2014/main" id="{12E3D4F4-F1E3-E30C-A393-28EE5421A404}"/>
              </a:ext>
            </a:extLst>
          </p:cNvPr>
          <p:cNvSpPr>
            <a:spLocks noGrp="1"/>
          </p:cNvSpPr>
          <p:nvPr>
            <p:ph type="title"/>
          </p:nvPr>
        </p:nvSpPr>
        <p:spPr/>
        <p:txBody>
          <a:bodyPr/>
          <a:lstStyle/>
          <a:p>
            <a:r>
              <a:rPr lang="en-US" dirty="0"/>
              <a:t>Optics: From Pinhole to Large Aperture</a:t>
            </a:r>
          </a:p>
        </p:txBody>
      </p:sp>
      <p:pic>
        <p:nvPicPr>
          <p:cNvPr id="7" name="Picture 6">
            <a:extLst>
              <a:ext uri="{FF2B5EF4-FFF2-40B4-BE49-F238E27FC236}">
                <a16:creationId xmlns:a16="http://schemas.microsoft.com/office/drawing/2014/main" id="{E2CCDF07-748E-43CD-B82D-B314402DE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2327" y="1692067"/>
            <a:ext cx="3809524" cy="3961905"/>
          </a:xfrm>
          <a:prstGeom prst="rect">
            <a:avLst/>
          </a:prstGeom>
        </p:spPr>
      </p:pic>
    </p:spTree>
    <p:extLst>
      <p:ext uri="{BB962C8B-B14F-4D97-AF65-F5344CB8AC3E}">
        <p14:creationId xmlns:p14="http://schemas.microsoft.com/office/powerpoint/2010/main" val="143275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4032E-7598-797D-D855-7ADB0DB77D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CA2C9-75E2-3A20-2A54-768E825DC40F}"/>
              </a:ext>
            </a:extLst>
          </p:cNvPr>
          <p:cNvSpPr>
            <a:spLocks noGrp="1"/>
          </p:cNvSpPr>
          <p:nvPr>
            <p:ph idx="1"/>
          </p:nvPr>
        </p:nvSpPr>
        <p:spPr/>
        <p:txBody>
          <a:bodyPr/>
          <a:lstStyle/>
          <a:p>
            <a:r>
              <a:rPr lang="en-US" dirty="0">
                <a:solidFill>
                  <a:schemeClr val="bg1">
                    <a:lumMod val="75000"/>
                  </a:schemeClr>
                </a:solidFill>
              </a:rPr>
              <a:t>Purpose</a:t>
            </a:r>
          </a:p>
          <a:p>
            <a:r>
              <a:rPr lang="en-US" dirty="0">
                <a:solidFill>
                  <a:schemeClr val="bg1">
                    <a:lumMod val="75000"/>
                  </a:schemeClr>
                </a:solidFill>
              </a:rPr>
              <a:t>Background</a:t>
            </a:r>
          </a:p>
          <a:p>
            <a:r>
              <a:rPr lang="en-US" dirty="0"/>
              <a:t>ZY-3 Details</a:t>
            </a:r>
          </a:p>
          <a:p>
            <a:r>
              <a:rPr lang="en-US" dirty="0">
                <a:solidFill>
                  <a:schemeClr val="bg1">
                    <a:lumMod val="75000"/>
                  </a:schemeClr>
                </a:solidFill>
              </a:rPr>
              <a:t>Comments</a:t>
            </a:r>
          </a:p>
          <a:p>
            <a:endParaRPr lang="en-US" dirty="0"/>
          </a:p>
          <a:p>
            <a:endParaRPr lang="en-US" dirty="0"/>
          </a:p>
        </p:txBody>
      </p:sp>
      <p:sp>
        <p:nvSpPr>
          <p:cNvPr id="3" name="Slide Number Placeholder 2">
            <a:extLst>
              <a:ext uri="{FF2B5EF4-FFF2-40B4-BE49-F238E27FC236}">
                <a16:creationId xmlns:a16="http://schemas.microsoft.com/office/drawing/2014/main" id="{074620A0-AA3B-21DC-4CCA-D9F724445271}"/>
              </a:ext>
            </a:extLst>
          </p:cNvPr>
          <p:cNvSpPr>
            <a:spLocks noGrp="1"/>
          </p:cNvSpPr>
          <p:nvPr>
            <p:ph type="sldNum" sz="quarter" idx="12"/>
          </p:nvPr>
        </p:nvSpPr>
        <p:spPr/>
        <p:txBody>
          <a:bodyPr/>
          <a:lstStyle/>
          <a:p>
            <a:fld id="{9EA51DAC-3F90-4AAD-A1AF-FE7171D4A594}" type="slidenum">
              <a:rPr lang="en-US" smtClean="0"/>
              <a:pPr/>
              <a:t>8</a:t>
            </a:fld>
            <a:endParaRPr lang="en-US"/>
          </a:p>
        </p:txBody>
      </p:sp>
      <p:sp>
        <p:nvSpPr>
          <p:cNvPr id="4" name="Title 3">
            <a:extLst>
              <a:ext uri="{FF2B5EF4-FFF2-40B4-BE49-F238E27FC236}">
                <a16:creationId xmlns:a16="http://schemas.microsoft.com/office/drawing/2014/main" id="{AEAA0A44-0A33-E6AD-A48C-9C1DC76FEA54}"/>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735062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3E80C1-9135-83B9-9C27-093C4457A136}"/>
              </a:ext>
            </a:extLst>
          </p:cNvPr>
          <p:cNvSpPr>
            <a:spLocks noGrp="1"/>
          </p:cNvSpPr>
          <p:nvPr>
            <p:ph idx="1"/>
          </p:nvPr>
        </p:nvSpPr>
        <p:spPr/>
        <p:txBody>
          <a:bodyPr>
            <a:normAutofit lnSpcReduction="10000"/>
          </a:bodyPr>
          <a:lstStyle/>
          <a:p>
            <a:r>
              <a:rPr lang="en-US" i="1" dirty="0"/>
              <a:t>Fan et al, 2012</a:t>
            </a:r>
            <a:r>
              <a:rPr lang="en-US" dirty="0"/>
              <a:t> states the satellite optics design is a Three Mirror Anastigmat (TMA)</a:t>
            </a:r>
          </a:p>
          <a:p>
            <a:r>
              <a:rPr lang="en-US" dirty="0"/>
              <a:t>A TMA optical design </a:t>
            </a:r>
            <a:r>
              <a:rPr lang="en-US" b="1" i="1" dirty="0">
                <a:solidFill>
                  <a:schemeClr val="accent1"/>
                </a:solidFill>
              </a:rPr>
              <a:t>minimizes optical aberrations</a:t>
            </a:r>
            <a:r>
              <a:rPr lang="en-US" dirty="0"/>
              <a:t>:</a:t>
            </a:r>
          </a:p>
          <a:p>
            <a:pPr lvl="1"/>
            <a:r>
              <a:rPr lang="en-US" dirty="0"/>
              <a:t>Spherical aberrations</a:t>
            </a:r>
          </a:p>
          <a:p>
            <a:pPr lvl="2"/>
            <a:r>
              <a:rPr lang="en-US" dirty="0"/>
              <a:t>Rays at the center vs. edge of the entrance aperture pupil do not focus </a:t>
            </a:r>
            <a:br>
              <a:rPr lang="en-US" dirty="0"/>
            </a:br>
            <a:r>
              <a:rPr lang="en-US" dirty="0"/>
              <a:t>at the same distance </a:t>
            </a:r>
          </a:p>
          <a:p>
            <a:pPr lvl="1"/>
            <a:r>
              <a:rPr lang="en-US" dirty="0"/>
              <a:t>Coma aberrations</a:t>
            </a:r>
          </a:p>
          <a:p>
            <a:pPr lvl="2"/>
            <a:r>
              <a:rPr lang="en-US" dirty="0"/>
              <a:t>Small point objects, away from the optical central axis, develop tails </a:t>
            </a:r>
            <a:br>
              <a:rPr lang="en-US" dirty="0"/>
            </a:br>
            <a:r>
              <a:rPr lang="en-US" dirty="0"/>
              <a:t>(like a comet…) in the image</a:t>
            </a:r>
          </a:p>
          <a:p>
            <a:pPr lvl="1"/>
            <a:r>
              <a:rPr lang="en-US" dirty="0"/>
              <a:t>Astigmatism aberrations</a:t>
            </a:r>
          </a:p>
          <a:p>
            <a:pPr lvl="2"/>
            <a:r>
              <a:rPr lang="en-US" dirty="0"/>
              <a:t>Details in a horizontal direction focus into a different distance than </a:t>
            </a:r>
            <a:br>
              <a:rPr lang="en-US" dirty="0"/>
            </a:br>
            <a:r>
              <a:rPr lang="en-US" dirty="0"/>
              <a:t>those in a vertical direction</a:t>
            </a:r>
          </a:p>
          <a:p>
            <a:pPr lvl="1"/>
            <a:r>
              <a:rPr lang="en-US" dirty="0"/>
              <a:t>A three-mirror design gives more flexibility to correct  aberrations</a:t>
            </a:r>
          </a:p>
          <a:p>
            <a:r>
              <a:rPr lang="en-US" dirty="0"/>
              <a:t>An on-axis design is </a:t>
            </a:r>
            <a:r>
              <a:rPr lang="en-US" b="1" i="1" dirty="0">
                <a:solidFill>
                  <a:schemeClr val="accent1"/>
                </a:solidFill>
              </a:rPr>
              <a:t>easier to align</a:t>
            </a:r>
            <a:r>
              <a:rPr lang="en-US" dirty="0"/>
              <a:t> optically to the wavelength level</a:t>
            </a:r>
          </a:p>
          <a:p>
            <a:r>
              <a:rPr lang="en-US" dirty="0"/>
              <a:t>The ZY-3 optical design (called the “Optical Demonstration Model” – ODM) is </a:t>
            </a:r>
            <a:r>
              <a:rPr lang="en-US" b="1" i="1" dirty="0">
                <a:solidFill>
                  <a:schemeClr val="accent1"/>
                </a:solidFill>
              </a:rPr>
              <a:t>very different</a:t>
            </a:r>
            <a:r>
              <a:rPr lang="en-US" dirty="0"/>
              <a:t> from a pinhole camera or common on-axis telescope designs! </a:t>
            </a:r>
          </a:p>
          <a:p>
            <a:pPr lvl="1"/>
            <a:r>
              <a:rPr lang="en-US" dirty="0"/>
              <a:t>There are mirror offsets, no central optical axis, no optical obscurations of other components</a:t>
            </a:r>
          </a:p>
          <a:p>
            <a:pPr lvl="1"/>
            <a:r>
              <a:rPr lang="en-US" dirty="0"/>
              <a:t>This design does enable a wider field-of-view (FOV)</a:t>
            </a:r>
          </a:p>
        </p:txBody>
      </p:sp>
      <p:sp>
        <p:nvSpPr>
          <p:cNvPr id="3" name="Slide Number Placeholder 2">
            <a:extLst>
              <a:ext uri="{FF2B5EF4-FFF2-40B4-BE49-F238E27FC236}">
                <a16:creationId xmlns:a16="http://schemas.microsoft.com/office/drawing/2014/main" id="{DE0DFEBB-3BD1-5D4D-B9AC-20AEA8F40FAC}"/>
              </a:ext>
            </a:extLst>
          </p:cNvPr>
          <p:cNvSpPr>
            <a:spLocks noGrp="1"/>
          </p:cNvSpPr>
          <p:nvPr>
            <p:ph type="sldNum" sz="quarter" idx="12"/>
          </p:nvPr>
        </p:nvSpPr>
        <p:spPr/>
        <p:txBody>
          <a:bodyPr/>
          <a:lstStyle/>
          <a:p>
            <a:fld id="{9EA51DAC-3F90-4AAD-A1AF-FE7171D4A594}" type="slidenum">
              <a:rPr lang="en-US" smtClean="0"/>
              <a:pPr/>
              <a:t>9</a:t>
            </a:fld>
            <a:endParaRPr lang="en-US"/>
          </a:p>
        </p:txBody>
      </p:sp>
      <p:sp>
        <p:nvSpPr>
          <p:cNvPr id="4" name="Title 3">
            <a:extLst>
              <a:ext uri="{FF2B5EF4-FFF2-40B4-BE49-F238E27FC236}">
                <a16:creationId xmlns:a16="http://schemas.microsoft.com/office/drawing/2014/main" id="{BB24E5FB-3DB4-B516-8356-E1680AC940BC}"/>
              </a:ext>
            </a:extLst>
          </p:cNvPr>
          <p:cNvSpPr>
            <a:spLocks noGrp="1"/>
          </p:cNvSpPr>
          <p:nvPr>
            <p:ph type="title"/>
          </p:nvPr>
        </p:nvSpPr>
        <p:spPr/>
        <p:txBody>
          <a:bodyPr/>
          <a:lstStyle/>
          <a:p>
            <a:r>
              <a:rPr lang="en-US" dirty="0"/>
              <a:t>Overview of the Optical System of ZY-3</a:t>
            </a:r>
          </a:p>
        </p:txBody>
      </p:sp>
      <p:grpSp>
        <p:nvGrpSpPr>
          <p:cNvPr id="40" name="Group 39">
            <a:extLst>
              <a:ext uri="{FF2B5EF4-FFF2-40B4-BE49-F238E27FC236}">
                <a16:creationId xmlns:a16="http://schemas.microsoft.com/office/drawing/2014/main" id="{CE0769B9-5868-377B-1D0B-3EA805A962B0}"/>
              </a:ext>
            </a:extLst>
          </p:cNvPr>
          <p:cNvGrpSpPr/>
          <p:nvPr/>
        </p:nvGrpSpPr>
        <p:grpSpPr>
          <a:xfrm>
            <a:off x="8217613" y="1370014"/>
            <a:ext cx="3505200" cy="2743200"/>
            <a:chOff x="8117840" y="1300480"/>
            <a:chExt cx="3505200" cy="2743200"/>
          </a:xfrm>
        </p:grpSpPr>
        <p:grpSp>
          <p:nvGrpSpPr>
            <p:cNvPr id="28" name="Group 27">
              <a:extLst>
                <a:ext uri="{FF2B5EF4-FFF2-40B4-BE49-F238E27FC236}">
                  <a16:creationId xmlns:a16="http://schemas.microsoft.com/office/drawing/2014/main" id="{14793FB3-B2CD-0F7D-1FB7-DEE60A5F11DB}"/>
                </a:ext>
              </a:extLst>
            </p:cNvPr>
            <p:cNvGrpSpPr/>
            <p:nvPr/>
          </p:nvGrpSpPr>
          <p:grpSpPr>
            <a:xfrm>
              <a:off x="8117840" y="1300480"/>
              <a:ext cx="3505200" cy="2743200"/>
              <a:chOff x="8117840" y="1402080"/>
              <a:chExt cx="3505200" cy="2743200"/>
            </a:xfrm>
          </p:grpSpPr>
          <p:grpSp>
            <p:nvGrpSpPr>
              <p:cNvPr id="8" name="Group 7">
                <a:extLst>
                  <a:ext uri="{FF2B5EF4-FFF2-40B4-BE49-F238E27FC236}">
                    <a16:creationId xmlns:a16="http://schemas.microsoft.com/office/drawing/2014/main" id="{1CB9C790-B0E2-45E0-F570-EAD6D0A260D7}"/>
                  </a:ext>
                </a:extLst>
              </p:cNvPr>
              <p:cNvGrpSpPr/>
              <p:nvPr/>
            </p:nvGrpSpPr>
            <p:grpSpPr>
              <a:xfrm>
                <a:off x="8117840" y="1402080"/>
                <a:ext cx="3505200" cy="2743200"/>
                <a:chOff x="8117840" y="1402080"/>
                <a:chExt cx="3505200" cy="2743200"/>
              </a:xfrm>
            </p:grpSpPr>
            <p:pic>
              <p:nvPicPr>
                <p:cNvPr id="1026" name="Picture 2" descr="undefined">
                  <a:extLst>
                    <a:ext uri="{FF2B5EF4-FFF2-40B4-BE49-F238E27FC236}">
                      <a16:creationId xmlns:a16="http://schemas.microsoft.com/office/drawing/2014/main" id="{60CF49B4-A76B-8078-08B7-AD9E2BDE1C7F}"/>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8128000" y="1524000"/>
                  <a:ext cx="3484880" cy="2621280"/>
                </a:xfrm>
                <a:prstGeom prst="rect">
                  <a:avLst/>
                </a:prstGeom>
                <a:solidFill>
                  <a:schemeClr val="bg1"/>
                </a:solidFill>
              </p:spPr>
            </p:pic>
            <p:sp>
              <p:nvSpPr>
                <p:cNvPr id="7" name="TextBox 6">
                  <a:extLst>
                    <a:ext uri="{FF2B5EF4-FFF2-40B4-BE49-F238E27FC236}">
                      <a16:creationId xmlns:a16="http://schemas.microsoft.com/office/drawing/2014/main" id="{90AD3F24-12CD-D0DB-6696-4B5891BB9701}"/>
                    </a:ext>
                  </a:extLst>
                </p:cNvPr>
                <p:cNvSpPr txBox="1"/>
                <p:nvPr/>
              </p:nvSpPr>
              <p:spPr>
                <a:xfrm>
                  <a:off x="8117840" y="1402080"/>
                  <a:ext cx="3505200" cy="307777"/>
                </a:xfrm>
                <a:prstGeom prst="rect">
                  <a:avLst/>
                </a:prstGeom>
                <a:solidFill>
                  <a:schemeClr val="bg1"/>
                </a:solid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On-Axis TMA Design</a:t>
                  </a:r>
                </a:p>
              </p:txBody>
            </p:sp>
          </p:grpSp>
          <p:sp>
            <p:nvSpPr>
              <p:cNvPr id="9" name="TextBox 8">
                <a:extLst>
                  <a:ext uri="{FF2B5EF4-FFF2-40B4-BE49-F238E27FC236}">
                    <a16:creationId xmlns:a16="http://schemas.microsoft.com/office/drawing/2014/main" id="{F1A2B453-E5E1-0CBF-FB04-B17F8E91AC25}"/>
                  </a:ext>
                </a:extLst>
              </p:cNvPr>
              <p:cNvSpPr txBox="1"/>
              <p:nvPr/>
            </p:nvSpPr>
            <p:spPr>
              <a:xfrm>
                <a:off x="10241280" y="1855443"/>
                <a:ext cx="822960" cy="276999"/>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Primary</a:t>
                </a:r>
              </a:p>
            </p:txBody>
          </p:sp>
          <p:cxnSp>
            <p:nvCxnSpPr>
              <p:cNvPr id="11" name="Straight Arrow Connector 10">
                <a:extLst>
                  <a:ext uri="{FF2B5EF4-FFF2-40B4-BE49-F238E27FC236}">
                    <a16:creationId xmlns:a16="http://schemas.microsoft.com/office/drawing/2014/main" id="{57D438C9-D14B-49B2-DB81-52A870E1DDD2}"/>
                  </a:ext>
                </a:extLst>
              </p:cNvPr>
              <p:cNvCxnSpPr>
                <a:cxnSpLocks/>
                <a:stCxn id="9" idx="2"/>
              </p:cNvCxnSpPr>
              <p:nvPr/>
            </p:nvCxnSpPr>
            <p:spPr>
              <a:xfrm flipH="1">
                <a:off x="10231120" y="2132442"/>
                <a:ext cx="421640" cy="100931"/>
              </a:xfrm>
              <a:prstGeom prst="straightConnector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6A5A882F-3833-932D-183F-6DB1BB088590}"/>
                  </a:ext>
                </a:extLst>
              </p:cNvPr>
              <p:cNvCxnSpPr>
                <a:cxnSpLocks/>
                <a:stCxn id="9" idx="2"/>
              </p:cNvCxnSpPr>
              <p:nvPr/>
            </p:nvCxnSpPr>
            <p:spPr>
              <a:xfrm flipH="1">
                <a:off x="10241280" y="2132442"/>
                <a:ext cx="411480" cy="1296558"/>
              </a:xfrm>
              <a:prstGeom prst="straightConnector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A3AD2B9E-851C-FD72-5BD2-684BF0DD9BC2}"/>
                  </a:ext>
                </a:extLst>
              </p:cNvPr>
              <p:cNvSpPr txBox="1"/>
              <p:nvPr/>
            </p:nvSpPr>
            <p:spPr>
              <a:xfrm>
                <a:off x="8933180" y="2503722"/>
                <a:ext cx="868680" cy="276999"/>
              </a:xfrm>
              <a:prstGeom prst="rect">
                <a:avLst/>
              </a:prstGeom>
              <a:noFill/>
            </p:spPr>
            <p:txBody>
              <a:bodyPr wrap="square" lIns="45720" rIns="45720" rtlCol="0">
                <a:spAutoFit/>
              </a:bodyPr>
              <a:lstStyle/>
              <a:p>
                <a:r>
                  <a:rPr lang="en-US" sz="1200" dirty="0">
                    <a:latin typeface="Times New Roman" panose="02020603050405020304" pitchFamily="18" charset="0"/>
                    <a:cs typeface="Times New Roman" panose="02020603050405020304" pitchFamily="18" charset="0"/>
                  </a:rPr>
                  <a:t>Secondary</a:t>
                </a:r>
              </a:p>
            </p:txBody>
          </p:sp>
          <p:cxnSp>
            <p:nvCxnSpPr>
              <p:cNvPr id="18" name="Straight Arrow Connector 17">
                <a:extLst>
                  <a:ext uri="{FF2B5EF4-FFF2-40B4-BE49-F238E27FC236}">
                    <a16:creationId xmlns:a16="http://schemas.microsoft.com/office/drawing/2014/main" id="{7EDA3EB8-C23A-A4F5-8EAE-36669BCCFBB5}"/>
                  </a:ext>
                </a:extLst>
              </p:cNvPr>
              <p:cNvCxnSpPr>
                <a:cxnSpLocks/>
                <a:stCxn id="16" idx="1"/>
              </p:cNvCxnSpPr>
              <p:nvPr/>
            </p:nvCxnSpPr>
            <p:spPr>
              <a:xfrm flipH="1">
                <a:off x="8663940" y="2642222"/>
                <a:ext cx="269240" cy="0"/>
              </a:xfrm>
              <a:prstGeom prst="straightConnector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183D8AED-F889-F9A3-6C2A-7036DBE59228}"/>
                  </a:ext>
                </a:extLst>
              </p:cNvPr>
              <p:cNvSpPr txBox="1"/>
              <p:nvPr/>
            </p:nvSpPr>
            <p:spPr>
              <a:xfrm>
                <a:off x="10817349" y="3631836"/>
                <a:ext cx="731520" cy="276999"/>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Tertiary</a:t>
                </a:r>
              </a:p>
            </p:txBody>
          </p:sp>
          <p:cxnSp>
            <p:nvCxnSpPr>
              <p:cNvPr id="22" name="Straight Arrow Connector 21">
                <a:extLst>
                  <a:ext uri="{FF2B5EF4-FFF2-40B4-BE49-F238E27FC236}">
                    <a16:creationId xmlns:a16="http://schemas.microsoft.com/office/drawing/2014/main" id="{43E50158-7647-2ECE-42C6-B18F1B68937D}"/>
                  </a:ext>
                </a:extLst>
              </p:cNvPr>
              <p:cNvCxnSpPr>
                <a:cxnSpLocks/>
                <a:stCxn id="20" idx="0"/>
              </p:cNvCxnSpPr>
              <p:nvPr/>
            </p:nvCxnSpPr>
            <p:spPr>
              <a:xfrm flipV="1">
                <a:off x="11183109" y="3429000"/>
                <a:ext cx="0" cy="202836"/>
              </a:xfrm>
              <a:prstGeom prst="straightConnector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29" name="TextBox 28">
              <a:extLst>
                <a:ext uri="{FF2B5EF4-FFF2-40B4-BE49-F238E27FC236}">
                  <a16:creationId xmlns:a16="http://schemas.microsoft.com/office/drawing/2014/main" id="{F979FEB9-C036-8EE2-BDF8-7F42167141F2}"/>
                </a:ext>
              </a:extLst>
            </p:cNvPr>
            <p:cNvSpPr txBox="1"/>
            <p:nvPr/>
          </p:nvSpPr>
          <p:spPr>
            <a:xfrm>
              <a:off x="9045196" y="2668903"/>
              <a:ext cx="621283" cy="461665"/>
            </a:xfrm>
            <a:prstGeom prst="rect">
              <a:avLst/>
            </a:prstGeom>
            <a:noFill/>
          </p:spPr>
          <p:txBody>
            <a:bodyPr wrap="square" lIns="45720" rIns="45720" rtlCol="0">
              <a:spAutoFit/>
            </a:bodyPr>
            <a:lstStyle/>
            <a:p>
              <a:pPr algn="r"/>
              <a:r>
                <a:rPr lang="en-US" sz="1200" dirty="0">
                  <a:latin typeface="Times New Roman" panose="02020603050405020304" pitchFamily="18" charset="0"/>
                  <a:cs typeface="Times New Roman" panose="02020603050405020304" pitchFamily="18" charset="0"/>
                </a:rPr>
                <a:t>Image Plane</a:t>
              </a:r>
            </a:p>
          </p:txBody>
        </p:sp>
        <p:cxnSp>
          <p:nvCxnSpPr>
            <p:cNvPr id="30" name="Straight Arrow Connector 29">
              <a:extLst>
                <a:ext uri="{FF2B5EF4-FFF2-40B4-BE49-F238E27FC236}">
                  <a16:creationId xmlns:a16="http://schemas.microsoft.com/office/drawing/2014/main" id="{CFB015D3-B800-8220-4EAC-641233659171}"/>
                </a:ext>
              </a:extLst>
            </p:cNvPr>
            <p:cNvCxnSpPr>
              <a:cxnSpLocks/>
              <a:stCxn id="29" idx="3"/>
            </p:cNvCxnSpPr>
            <p:nvPr/>
          </p:nvCxnSpPr>
          <p:spPr>
            <a:xfrm flipV="1">
              <a:off x="9666478" y="2801041"/>
              <a:ext cx="274320" cy="98695"/>
            </a:xfrm>
            <a:prstGeom prst="straightConnector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481214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D9B4EE-51D3-53A1-C63F-FF959ABD0F5D}"/>
              </a:ext>
            </a:extLst>
          </p:cNvPr>
          <p:cNvSpPr>
            <a:spLocks noGrp="1"/>
          </p:cNvSpPr>
          <p:nvPr>
            <p:ph idx="1"/>
          </p:nvPr>
        </p:nvSpPr>
        <p:spPr/>
        <p:txBody>
          <a:bodyPr>
            <a:normAutofit lnSpcReduction="10000"/>
          </a:bodyPr>
          <a:lstStyle/>
          <a:p>
            <a:r>
              <a:rPr lang="en-US" dirty="0"/>
              <a:t>The TMA ODM optical elements are specified as: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lvl="1"/>
            <a:r>
              <a:rPr lang="en-US" dirty="0"/>
              <a:t>The overall focal length stated as </a:t>
            </a:r>
            <a:r>
              <a:rPr lang="en-US" i="1" dirty="0">
                <a:latin typeface="Times New Roman" panose="02020603050405020304" pitchFamily="18" charset="0"/>
                <a:cs typeface="Times New Roman" panose="02020603050405020304" pitchFamily="18" charset="0"/>
              </a:rPr>
              <a:t>f</a:t>
            </a:r>
            <a:r>
              <a:rPr lang="en-US" dirty="0"/>
              <a:t>  = 1.75 m</a:t>
            </a:r>
          </a:p>
          <a:p>
            <a:pPr lvl="1"/>
            <a:r>
              <a:rPr lang="en-US" dirty="0"/>
              <a:t>An optically flat fold mirror makes the imaging design </a:t>
            </a:r>
            <a:r>
              <a:rPr lang="en-US" b="1" i="1" dirty="0">
                <a:solidFill>
                  <a:schemeClr val="accent1"/>
                </a:solidFill>
              </a:rPr>
              <a:t>compact</a:t>
            </a:r>
            <a:r>
              <a:rPr lang="en-US" dirty="0"/>
              <a:t>: see the optical layout below</a:t>
            </a:r>
          </a:p>
          <a:p>
            <a:pPr lvl="2"/>
            <a:r>
              <a:rPr lang="en-US" dirty="0"/>
              <a:t>Suggests “packaging” limitations, probably imposed by aerodynamics of the orbital booster </a:t>
            </a:r>
          </a:p>
          <a:p>
            <a:r>
              <a:rPr lang="en-US" dirty="0"/>
              <a:t>The paper states the “The optical system is nearly a </a:t>
            </a:r>
            <a:br>
              <a:rPr lang="en-US" dirty="0"/>
            </a:br>
            <a:r>
              <a:rPr lang="en-US" dirty="0"/>
              <a:t>telecentric system.”</a:t>
            </a:r>
          </a:p>
          <a:p>
            <a:pPr lvl="1"/>
            <a:r>
              <a:rPr lang="en-US" dirty="0"/>
              <a:t>Telecentric designs place an aperture stop in the optical path at a </a:t>
            </a:r>
            <a:br>
              <a:rPr lang="en-US" dirty="0"/>
            </a:br>
            <a:r>
              <a:rPr lang="en-US" dirty="0"/>
              <a:t>point where principal rays are parallel</a:t>
            </a:r>
          </a:p>
          <a:p>
            <a:pPr lvl="1"/>
            <a:r>
              <a:rPr lang="en-US" dirty="0"/>
              <a:t>Design shows rays from the concave primary nearly parallel</a:t>
            </a:r>
          </a:p>
          <a:p>
            <a:pPr lvl="1"/>
            <a:r>
              <a:rPr lang="en-US" dirty="0"/>
              <a:t>Convex secondary projects parallel rays to the tertiary mirror</a:t>
            </a:r>
          </a:p>
          <a:p>
            <a:pPr lvl="1"/>
            <a:r>
              <a:rPr lang="en-US" dirty="0"/>
              <a:t>The paper directly states the </a:t>
            </a:r>
            <a:r>
              <a:rPr lang="en-US" b="1" i="1" dirty="0">
                <a:solidFill>
                  <a:schemeClr val="accent1"/>
                </a:solidFill>
              </a:rPr>
              <a:t>secondary is an aperture stop</a:t>
            </a:r>
            <a:r>
              <a:rPr lang="en-US" dirty="0"/>
              <a:t>, </a:t>
            </a:r>
            <a:br>
              <a:rPr lang="en-US" dirty="0"/>
            </a:br>
            <a:r>
              <a:rPr lang="en-US" dirty="0"/>
              <a:t>confirming near </a:t>
            </a:r>
            <a:r>
              <a:rPr lang="en-US" dirty="0" err="1"/>
              <a:t>telecentricity</a:t>
            </a:r>
            <a:endParaRPr lang="en-US" dirty="0"/>
          </a:p>
        </p:txBody>
      </p:sp>
      <p:sp>
        <p:nvSpPr>
          <p:cNvPr id="3" name="Slide Number Placeholder 2">
            <a:extLst>
              <a:ext uri="{FF2B5EF4-FFF2-40B4-BE49-F238E27FC236}">
                <a16:creationId xmlns:a16="http://schemas.microsoft.com/office/drawing/2014/main" id="{4DD97A03-EADD-CE2A-C958-487EA75A74EF}"/>
              </a:ext>
            </a:extLst>
          </p:cNvPr>
          <p:cNvSpPr>
            <a:spLocks noGrp="1"/>
          </p:cNvSpPr>
          <p:nvPr>
            <p:ph type="sldNum" sz="quarter" idx="12"/>
          </p:nvPr>
        </p:nvSpPr>
        <p:spPr/>
        <p:txBody>
          <a:bodyPr/>
          <a:lstStyle/>
          <a:p>
            <a:fld id="{9EA51DAC-3F90-4AAD-A1AF-FE7171D4A594}" type="slidenum">
              <a:rPr lang="en-US" smtClean="0"/>
              <a:pPr/>
              <a:t>10</a:t>
            </a:fld>
            <a:endParaRPr lang="en-US" dirty="0"/>
          </a:p>
        </p:txBody>
      </p:sp>
      <p:sp>
        <p:nvSpPr>
          <p:cNvPr id="4" name="Title 3">
            <a:extLst>
              <a:ext uri="{FF2B5EF4-FFF2-40B4-BE49-F238E27FC236}">
                <a16:creationId xmlns:a16="http://schemas.microsoft.com/office/drawing/2014/main" id="{126F817F-4C14-29B1-54B8-5169D07E5BBF}"/>
              </a:ext>
            </a:extLst>
          </p:cNvPr>
          <p:cNvSpPr>
            <a:spLocks noGrp="1"/>
          </p:cNvSpPr>
          <p:nvPr>
            <p:ph type="title"/>
          </p:nvPr>
        </p:nvSpPr>
        <p:spPr/>
        <p:txBody>
          <a:bodyPr/>
          <a:lstStyle/>
          <a:p>
            <a:r>
              <a:rPr lang="en-US" dirty="0"/>
              <a:t>Optical System Design Details of ZY-3</a:t>
            </a:r>
          </a:p>
        </p:txBody>
      </p:sp>
      <p:graphicFrame>
        <p:nvGraphicFramePr>
          <p:cNvPr id="8" name="Table 7">
            <a:extLst>
              <a:ext uri="{FF2B5EF4-FFF2-40B4-BE49-F238E27FC236}">
                <a16:creationId xmlns:a16="http://schemas.microsoft.com/office/drawing/2014/main" id="{9C5EB410-15E0-259D-D5BB-BAFC06ED1E27}"/>
              </a:ext>
            </a:extLst>
          </p:cNvPr>
          <p:cNvGraphicFramePr>
            <a:graphicFrameLocks noGrp="1"/>
          </p:cNvGraphicFramePr>
          <p:nvPr>
            <p:extLst>
              <p:ext uri="{D42A27DB-BD31-4B8C-83A1-F6EECF244321}">
                <p14:modId xmlns:p14="http://schemas.microsoft.com/office/powerpoint/2010/main" val="1021283986"/>
              </p:ext>
            </p:extLst>
          </p:nvPr>
        </p:nvGraphicFramePr>
        <p:xfrm>
          <a:off x="2559241" y="1253651"/>
          <a:ext cx="7043355" cy="1556020"/>
        </p:xfrm>
        <a:graphic>
          <a:graphicData uri="http://schemas.openxmlformats.org/drawingml/2006/table">
            <a:tbl>
              <a:tblPr firstRow="1" bandRow="1">
                <a:tableStyleId>{5C22544A-7EE6-4342-B048-85BDC9FD1C3A}</a:tableStyleId>
              </a:tblPr>
              <a:tblGrid>
                <a:gridCol w="2347785">
                  <a:extLst>
                    <a:ext uri="{9D8B030D-6E8A-4147-A177-3AD203B41FA5}">
                      <a16:colId xmlns:a16="http://schemas.microsoft.com/office/drawing/2014/main" val="1888186857"/>
                    </a:ext>
                  </a:extLst>
                </a:gridCol>
                <a:gridCol w="2347785">
                  <a:extLst>
                    <a:ext uri="{9D8B030D-6E8A-4147-A177-3AD203B41FA5}">
                      <a16:colId xmlns:a16="http://schemas.microsoft.com/office/drawing/2014/main" val="1453855962"/>
                    </a:ext>
                  </a:extLst>
                </a:gridCol>
                <a:gridCol w="2347785">
                  <a:extLst>
                    <a:ext uri="{9D8B030D-6E8A-4147-A177-3AD203B41FA5}">
                      <a16:colId xmlns:a16="http://schemas.microsoft.com/office/drawing/2014/main" val="1448884544"/>
                    </a:ext>
                  </a:extLst>
                </a:gridCol>
              </a:tblGrid>
              <a:tr h="311204">
                <a:tc>
                  <a:txBody>
                    <a:bodyPr/>
                    <a:lstStyle/>
                    <a:p>
                      <a:pPr algn="ctr"/>
                      <a:r>
                        <a:rPr lang="en-US" sz="1400" dirty="0"/>
                        <a:t>Mirror</a:t>
                      </a:r>
                    </a:p>
                  </a:txBody>
                  <a:tcPr/>
                </a:tc>
                <a:tc>
                  <a:txBody>
                    <a:bodyPr/>
                    <a:lstStyle/>
                    <a:p>
                      <a:pPr algn="ctr"/>
                      <a:r>
                        <a:rPr lang="en-US" sz="1400" dirty="0"/>
                        <a:t>Surface Shape</a:t>
                      </a:r>
                    </a:p>
                  </a:txBody>
                  <a:tcPr/>
                </a:tc>
                <a:tc>
                  <a:txBody>
                    <a:bodyPr/>
                    <a:lstStyle/>
                    <a:p>
                      <a:pPr algn="ctr"/>
                      <a:r>
                        <a:rPr lang="en-US" sz="1400" dirty="0"/>
                        <a:t>Dimensions (mm)</a:t>
                      </a:r>
                    </a:p>
                  </a:txBody>
                  <a:tcPr/>
                </a:tc>
                <a:extLst>
                  <a:ext uri="{0D108BD9-81ED-4DB2-BD59-A6C34878D82A}">
                    <a16:rowId xmlns:a16="http://schemas.microsoft.com/office/drawing/2014/main" val="1228401984"/>
                  </a:ext>
                </a:extLst>
              </a:tr>
              <a:tr h="311204">
                <a:tc>
                  <a:txBody>
                    <a:bodyPr/>
                    <a:lstStyle/>
                    <a:p>
                      <a:pPr algn="ctr"/>
                      <a:r>
                        <a:rPr lang="en-US" sz="1400" dirty="0"/>
                        <a:t>Primary (concave)</a:t>
                      </a:r>
                    </a:p>
                  </a:txBody>
                  <a:tcPr/>
                </a:tc>
                <a:tc>
                  <a:txBody>
                    <a:bodyPr/>
                    <a:lstStyle/>
                    <a:p>
                      <a:pPr algn="ctr"/>
                      <a:r>
                        <a:rPr lang="en-US" sz="1400" dirty="0"/>
                        <a:t>2</a:t>
                      </a:r>
                      <a:r>
                        <a:rPr lang="en-US" sz="1400" baseline="30000" dirty="0"/>
                        <a:t>nd</a:t>
                      </a:r>
                      <a:r>
                        <a:rPr lang="en-US" sz="1400" dirty="0"/>
                        <a:t> order Hyperboloid</a:t>
                      </a:r>
                    </a:p>
                  </a:txBody>
                  <a:tcPr/>
                </a:tc>
                <a:tc>
                  <a:txBody>
                    <a:bodyPr/>
                    <a:lstStyle/>
                    <a:p>
                      <a:pPr algn="ctr"/>
                      <a:r>
                        <a:rPr lang="en-US" sz="1400" dirty="0"/>
                        <a:t>316 x 217</a:t>
                      </a:r>
                    </a:p>
                  </a:txBody>
                  <a:tcPr/>
                </a:tc>
                <a:extLst>
                  <a:ext uri="{0D108BD9-81ED-4DB2-BD59-A6C34878D82A}">
                    <a16:rowId xmlns:a16="http://schemas.microsoft.com/office/drawing/2014/main" val="2763100411"/>
                  </a:ext>
                </a:extLst>
              </a:tr>
              <a:tr h="311204">
                <a:tc>
                  <a:txBody>
                    <a:bodyPr/>
                    <a:lstStyle/>
                    <a:p>
                      <a:pPr algn="ctr"/>
                      <a:r>
                        <a:rPr lang="en-US" sz="1400" dirty="0"/>
                        <a:t>Secondary (convex)</a:t>
                      </a:r>
                    </a:p>
                  </a:txBody>
                  <a:tcPr/>
                </a:tc>
                <a:tc>
                  <a:txBody>
                    <a:bodyPr/>
                    <a:lstStyle/>
                    <a:p>
                      <a:pPr algn="ctr"/>
                      <a:r>
                        <a:rPr lang="en-US" sz="1400" dirty="0"/>
                        <a:t>2</a:t>
                      </a:r>
                      <a:r>
                        <a:rPr lang="en-US" sz="1400" baseline="30000" dirty="0"/>
                        <a:t>nd</a:t>
                      </a:r>
                      <a:r>
                        <a:rPr lang="en-US" sz="1400" dirty="0"/>
                        <a:t> order Hyperboloid</a:t>
                      </a:r>
                    </a:p>
                  </a:txBody>
                  <a:tcPr/>
                </a:tc>
                <a:tc>
                  <a:txBody>
                    <a:bodyPr/>
                    <a:lstStyle/>
                    <a:p>
                      <a:pPr algn="ctr"/>
                      <a:r>
                        <a:rPr lang="en-US" sz="1400" dirty="0"/>
                        <a:t>Diameter 102 (Circular)</a:t>
                      </a:r>
                    </a:p>
                  </a:txBody>
                  <a:tcPr/>
                </a:tc>
                <a:extLst>
                  <a:ext uri="{0D108BD9-81ED-4DB2-BD59-A6C34878D82A}">
                    <a16:rowId xmlns:a16="http://schemas.microsoft.com/office/drawing/2014/main" val="1126958262"/>
                  </a:ext>
                </a:extLst>
              </a:tr>
              <a:tr h="311204">
                <a:tc>
                  <a:txBody>
                    <a:bodyPr/>
                    <a:lstStyle/>
                    <a:p>
                      <a:pPr algn="ctr"/>
                      <a:r>
                        <a:rPr lang="en-US" sz="1400" dirty="0"/>
                        <a:t>Tertiary (convex)</a:t>
                      </a:r>
                    </a:p>
                  </a:txBody>
                  <a:tcPr/>
                </a:tc>
                <a:tc>
                  <a:txBody>
                    <a:bodyPr/>
                    <a:lstStyle/>
                    <a:p>
                      <a:pPr algn="ctr"/>
                      <a:r>
                        <a:rPr lang="en-US" sz="1400" dirty="0"/>
                        <a:t>2</a:t>
                      </a:r>
                      <a:r>
                        <a:rPr lang="en-US" sz="1400" baseline="30000" dirty="0"/>
                        <a:t>nd</a:t>
                      </a:r>
                      <a:r>
                        <a:rPr lang="en-US" sz="1400" dirty="0"/>
                        <a:t> order Ellipsoid</a:t>
                      </a:r>
                    </a:p>
                  </a:txBody>
                  <a:tcPr/>
                </a:tc>
                <a:tc>
                  <a:txBody>
                    <a:bodyPr/>
                    <a:lstStyle/>
                    <a:p>
                      <a:pPr algn="ctr"/>
                      <a:r>
                        <a:rPr lang="en-US" sz="1400" dirty="0"/>
                        <a:t>250 x 150</a:t>
                      </a:r>
                    </a:p>
                  </a:txBody>
                  <a:tcPr/>
                </a:tc>
                <a:extLst>
                  <a:ext uri="{0D108BD9-81ED-4DB2-BD59-A6C34878D82A}">
                    <a16:rowId xmlns:a16="http://schemas.microsoft.com/office/drawing/2014/main" val="2828279660"/>
                  </a:ext>
                </a:extLst>
              </a:tr>
              <a:tr h="311204">
                <a:tc>
                  <a:txBody>
                    <a:bodyPr/>
                    <a:lstStyle/>
                    <a:p>
                      <a:pPr algn="ctr"/>
                      <a:r>
                        <a:rPr lang="en-US" sz="1400" dirty="0"/>
                        <a:t>Fold mirror</a:t>
                      </a:r>
                    </a:p>
                  </a:txBody>
                  <a:tcPr/>
                </a:tc>
                <a:tc>
                  <a:txBody>
                    <a:bodyPr/>
                    <a:lstStyle/>
                    <a:p>
                      <a:pPr algn="ctr"/>
                      <a:r>
                        <a:rPr lang="en-US" sz="1400" dirty="0"/>
                        <a:t>Flat</a:t>
                      </a:r>
                    </a:p>
                  </a:txBody>
                  <a:tcPr/>
                </a:tc>
                <a:tc>
                  <a:txBody>
                    <a:bodyPr/>
                    <a:lstStyle/>
                    <a:p>
                      <a:pPr algn="ctr"/>
                      <a:r>
                        <a:rPr lang="en-US" sz="1400" dirty="0"/>
                        <a:t>217 x 91</a:t>
                      </a:r>
                    </a:p>
                  </a:txBody>
                  <a:tcPr/>
                </a:tc>
                <a:extLst>
                  <a:ext uri="{0D108BD9-81ED-4DB2-BD59-A6C34878D82A}">
                    <a16:rowId xmlns:a16="http://schemas.microsoft.com/office/drawing/2014/main" val="3669279408"/>
                  </a:ext>
                </a:extLst>
              </a:tr>
            </a:tbl>
          </a:graphicData>
        </a:graphic>
      </p:graphicFrame>
      <p:pic>
        <p:nvPicPr>
          <p:cNvPr id="6" name="Picture 5">
            <a:extLst>
              <a:ext uri="{FF2B5EF4-FFF2-40B4-BE49-F238E27FC236}">
                <a16:creationId xmlns:a16="http://schemas.microsoft.com/office/drawing/2014/main" id="{BD5D6CAB-BB36-9DC1-4098-3C93E2C83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6631" y="3751860"/>
            <a:ext cx="3427413" cy="2671763"/>
          </a:xfrm>
          <a:prstGeom prst="rect">
            <a:avLst/>
          </a:prstGeom>
        </p:spPr>
      </p:pic>
    </p:spTree>
    <p:extLst>
      <p:ext uri="{BB962C8B-B14F-4D97-AF65-F5344CB8AC3E}">
        <p14:creationId xmlns:p14="http://schemas.microsoft.com/office/powerpoint/2010/main" val="564740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1B31-1DAD-DB25-7AA7-BDA68BEA8D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FC1CD16-0206-0DC1-BCBE-8DDA6105D6A4}"/>
                  </a:ext>
                </a:extLst>
              </p:cNvPr>
              <p:cNvSpPr>
                <a:spLocks noGrp="1"/>
              </p:cNvSpPr>
              <p:nvPr>
                <p:ph idx="1"/>
              </p:nvPr>
            </p:nvSpPr>
            <p:spPr>
              <a:xfrm>
                <a:off x="420801" y="878564"/>
                <a:ext cx="9797669" cy="5588912"/>
              </a:xfrm>
            </p:spPr>
            <p:txBody>
              <a:bodyPr>
                <a:normAutofit/>
              </a:bodyPr>
              <a:lstStyle/>
              <a:p>
                <a:r>
                  <a:rPr lang="en-US" dirty="0"/>
                  <a:t>Parallel rays are significant in image formation</a:t>
                </a:r>
              </a:p>
              <a:p>
                <a:pPr lvl="1"/>
                <a:r>
                  <a:rPr lang="en-US" dirty="0"/>
                  <a:t>Parallel rays propagate from very remote objects</a:t>
                </a:r>
              </a:p>
              <a:p>
                <a:pPr lvl="1"/>
                <a:r>
                  <a:rPr lang="en-US" dirty="0"/>
                  <a:t>Rays of objects in 3-space converge toward the focal point of optics</a:t>
                </a:r>
              </a:p>
              <a:p>
                <a:pPr lvl="1"/>
                <a:r>
                  <a:rPr lang="en-US" dirty="0"/>
                  <a:t>Optical curvature alters convergence and make rays parallel for an angular range</a:t>
                </a:r>
              </a:p>
              <a:p>
                <a:pPr lvl="1"/>
                <a:r>
                  <a:rPr lang="en-US" dirty="0"/>
                  <a:t>An aperture stop at the proper point passes only the parallel rays</a:t>
                </a:r>
              </a:p>
              <a:p>
                <a:r>
                  <a:rPr lang="en-US" dirty="0"/>
                  <a:t>Visualize in the context of “Vanishing Point”</a:t>
                </a:r>
              </a:p>
              <a:p>
                <a:pPr lvl="1"/>
                <a:r>
                  <a:rPr lang="en-US" dirty="0"/>
                  <a:t>Ordinary, non-telecentric optics make distant objects smaller in the focal plane</a:t>
                </a:r>
              </a:p>
              <a:p>
                <a:pPr lvl="1"/>
                <a:r>
                  <a:rPr lang="en-US" dirty="0"/>
                  <a:t>Telecentricity means objects at different distances do not change size in the focal plane image – the vanishing point effect is greatly reduced or eliminated</a:t>
                </a:r>
              </a:p>
              <a:p>
                <a:pPr lvl="1"/>
                <a:r>
                  <a:rPr lang="en-US" dirty="0"/>
                  <a:t>Important for an optical system with a wide FOV</a:t>
                </a:r>
              </a:p>
              <a:p>
                <a:pPr lvl="2"/>
                <a:r>
                  <a:rPr lang="en-US" dirty="0"/>
                  <a:t>Objects at extremes away from the center point will not appear different in size</a:t>
                </a:r>
              </a:p>
              <a:p>
                <a:r>
                  <a:rPr lang="en-US" dirty="0"/>
                  <a:t>The ZY-3 optical design adopts this for line-scan FOV imagery</a:t>
                </a:r>
              </a:p>
              <a:p>
                <a:pPr lvl="1"/>
                <a:r>
                  <a:rPr lang="en-US" dirty="0"/>
                  <a:t>The FOV is 6</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x 1</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 suited for line-scan push-broom imaging operations</a:t>
                </a:r>
              </a:p>
              <a:p>
                <a:pPr lvl="1"/>
                <a:r>
                  <a:rPr lang="en-US" b="1" i="1" dirty="0">
                    <a:solidFill>
                      <a:schemeClr val="accent1"/>
                    </a:solidFill>
                  </a:rPr>
                  <a:t>By being “nearly” telecentric, the need for correction of push-broom image details away from center is minimal</a:t>
                </a:r>
              </a:p>
              <a:p>
                <a:pPr lvl="1"/>
                <a:endParaRPr lang="en-US" dirty="0">
                  <a:highlight>
                    <a:srgbClr val="FFFF00"/>
                  </a:highlight>
                </a:endParaRPr>
              </a:p>
            </p:txBody>
          </p:sp>
        </mc:Choice>
        <mc:Fallback xmlns="">
          <p:sp>
            <p:nvSpPr>
              <p:cNvPr id="2" name="Content Placeholder 1">
                <a:extLst>
                  <a:ext uri="{FF2B5EF4-FFF2-40B4-BE49-F238E27FC236}">
                    <a16:creationId xmlns:a16="http://schemas.microsoft.com/office/drawing/2014/main" id="{2FC1CD16-0206-0DC1-BCBE-8DDA6105D6A4}"/>
                  </a:ext>
                </a:extLst>
              </p:cNvPr>
              <p:cNvSpPr>
                <a:spLocks noGrp="1" noRot="1" noChangeAspect="1" noMove="1" noResize="1" noEditPoints="1" noAdjustHandles="1" noChangeArrowheads="1" noChangeShapeType="1" noTextEdit="1"/>
              </p:cNvSpPr>
              <p:nvPr>
                <p:ph idx="1"/>
              </p:nvPr>
            </p:nvSpPr>
            <p:spPr>
              <a:xfrm>
                <a:off x="420801" y="878564"/>
                <a:ext cx="9797669" cy="5588912"/>
              </a:xfrm>
              <a:blipFill>
                <a:blip r:embed="rId2"/>
                <a:stretch>
                  <a:fillRect l="-809" t="-87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25117107-A794-6D3B-6E6B-D5C8EF408BC2}"/>
              </a:ext>
            </a:extLst>
          </p:cNvPr>
          <p:cNvSpPr>
            <a:spLocks noGrp="1"/>
          </p:cNvSpPr>
          <p:nvPr>
            <p:ph type="sldNum" sz="quarter" idx="12"/>
          </p:nvPr>
        </p:nvSpPr>
        <p:spPr/>
        <p:txBody>
          <a:bodyPr/>
          <a:lstStyle/>
          <a:p>
            <a:fld id="{9EA51DAC-3F90-4AAD-A1AF-FE7171D4A594}" type="slidenum">
              <a:rPr lang="en-US" smtClean="0"/>
              <a:pPr/>
              <a:t>11</a:t>
            </a:fld>
            <a:endParaRPr lang="en-US"/>
          </a:p>
        </p:txBody>
      </p:sp>
      <p:sp>
        <p:nvSpPr>
          <p:cNvPr id="4" name="Title 3">
            <a:extLst>
              <a:ext uri="{FF2B5EF4-FFF2-40B4-BE49-F238E27FC236}">
                <a16:creationId xmlns:a16="http://schemas.microsoft.com/office/drawing/2014/main" id="{DE069AC3-CD42-5C72-2463-A9C8C6286BF2}"/>
              </a:ext>
            </a:extLst>
          </p:cNvPr>
          <p:cNvSpPr>
            <a:spLocks noGrp="1"/>
          </p:cNvSpPr>
          <p:nvPr>
            <p:ph type="title"/>
          </p:nvPr>
        </p:nvSpPr>
        <p:spPr/>
        <p:txBody>
          <a:bodyPr/>
          <a:lstStyle/>
          <a:p>
            <a:r>
              <a:rPr lang="en-US" dirty="0"/>
              <a:t>“Nearly” Telecentric Optics in ZY-3</a:t>
            </a:r>
          </a:p>
        </p:txBody>
      </p:sp>
      <p:grpSp>
        <p:nvGrpSpPr>
          <p:cNvPr id="6" name="Group 5">
            <a:extLst>
              <a:ext uri="{FF2B5EF4-FFF2-40B4-BE49-F238E27FC236}">
                <a16:creationId xmlns:a16="http://schemas.microsoft.com/office/drawing/2014/main" id="{592FC770-22FF-D370-4518-F2D9B174C599}"/>
              </a:ext>
            </a:extLst>
          </p:cNvPr>
          <p:cNvGrpSpPr/>
          <p:nvPr/>
        </p:nvGrpSpPr>
        <p:grpSpPr>
          <a:xfrm>
            <a:off x="10218470" y="1075037"/>
            <a:ext cx="1459346" cy="4707926"/>
            <a:chOff x="10354698" y="1304864"/>
            <a:chExt cx="1459346" cy="4707926"/>
          </a:xfrm>
        </p:grpSpPr>
        <p:sp>
          <p:nvSpPr>
            <p:cNvPr id="9" name="TextBox 8">
              <a:extLst>
                <a:ext uri="{FF2B5EF4-FFF2-40B4-BE49-F238E27FC236}">
                  <a16:creationId xmlns:a16="http://schemas.microsoft.com/office/drawing/2014/main" id="{1A54A94D-7550-05CA-14E9-8FC9C97116E4}"/>
                </a:ext>
              </a:extLst>
            </p:cNvPr>
            <p:cNvSpPr txBox="1"/>
            <p:nvPr/>
          </p:nvSpPr>
          <p:spPr>
            <a:xfrm>
              <a:off x="10581443" y="2526662"/>
              <a:ext cx="893450" cy="523220"/>
            </a:xfrm>
            <a:prstGeom prst="rect">
              <a:avLst/>
            </a:prstGeom>
            <a:noFill/>
          </p:spPr>
          <p:txBody>
            <a:bodyPr wrap="none" rtlCol="0">
              <a:spAutoFit/>
            </a:bodyPr>
            <a:lstStyle/>
            <a:p>
              <a:pPr algn="ctr"/>
              <a:r>
                <a:rPr lang="en-US" sz="1400" dirty="0"/>
                <a:t>Ordinary </a:t>
              </a:r>
            </a:p>
            <a:p>
              <a:pPr algn="ctr"/>
              <a:r>
                <a:rPr lang="en-US" sz="1400" dirty="0"/>
                <a:t>Optics*</a:t>
              </a:r>
            </a:p>
          </p:txBody>
        </p:sp>
        <p:sp>
          <p:nvSpPr>
            <p:cNvPr id="10" name="TextBox 9">
              <a:extLst>
                <a:ext uri="{FF2B5EF4-FFF2-40B4-BE49-F238E27FC236}">
                  <a16:creationId xmlns:a16="http://schemas.microsoft.com/office/drawing/2014/main" id="{DC278B0C-F764-350E-2E99-4E0B6D59CB35}"/>
                </a:ext>
              </a:extLst>
            </p:cNvPr>
            <p:cNvSpPr txBox="1"/>
            <p:nvPr/>
          </p:nvSpPr>
          <p:spPr>
            <a:xfrm>
              <a:off x="10534152" y="4331339"/>
              <a:ext cx="1072794" cy="523220"/>
            </a:xfrm>
            <a:prstGeom prst="rect">
              <a:avLst/>
            </a:prstGeom>
            <a:noFill/>
          </p:spPr>
          <p:txBody>
            <a:bodyPr wrap="none" rtlCol="0">
              <a:spAutoFit/>
            </a:bodyPr>
            <a:lstStyle/>
            <a:p>
              <a:pPr algn="ctr"/>
              <a:r>
                <a:rPr lang="en-US" sz="1400" dirty="0"/>
                <a:t>Telecentric </a:t>
              </a:r>
            </a:p>
            <a:p>
              <a:pPr algn="ctr"/>
              <a:r>
                <a:rPr lang="en-US" sz="1400" dirty="0"/>
                <a:t>Optics*</a:t>
              </a:r>
            </a:p>
          </p:txBody>
        </p:sp>
        <p:pic>
          <p:nvPicPr>
            <p:cNvPr id="14" name="Picture 13">
              <a:extLst>
                <a:ext uri="{FF2B5EF4-FFF2-40B4-BE49-F238E27FC236}">
                  <a16:creationId xmlns:a16="http://schemas.microsoft.com/office/drawing/2014/main" id="{1071E9A6-26E9-A255-2D0B-59B50978260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413124" y="3060804"/>
              <a:ext cx="1314850" cy="1169324"/>
            </a:xfrm>
            <a:prstGeom prst="rect">
              <a:avLst/>
            </a:prstGeom>
          </p:spPr>
        </p:pic>
        <p:pic>
          <p:nvPicPr>
            <p:cNvPr id="15" name="Picture 14">
              <a:extLst>
                <a:ext uri="{FF2B5EF4-FFF2-40B4-BE49-F238E27FC236}">
                  <a16:creationId xmlns:a16="http://schemas.microsoft.com/office/drawing/2014/main" id="{65C74F43-A39B-7BB7-69D6-01DD7696C0F4}"/>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flipH="1">
              <a:off x="10354698" y="1304864"/>
              <a:ext cx="1314849" cy="1221798"/>
            </a:xfrm>
            <a:prstGeom prst="rect">
              <a:avLst/>
            </a:prstGeom>
          </p:spPr>
        </p:pic>
        <p:sp>
          <p:nvSpPr>
            <p:cNvPr id="16" name="TextBox 15">
              <a:extLst>
                <a:ext uri="{FF2B5EF4-FFF2-40B4-BE49-F238E27FC236}">
                  <a16:creationId xmlns:a16="http://schemas.microsoft.com/office/drawing/2014/main" id="{6AC5959F-11FF-9ADD-32F8-38EF54720B58}"/>
                </a:ext>
              </a:extLst>
            </p:cNvPr>
            <p:cNvSpPr txBox="1"/>
            <p:nvPr/>
          </p:nvSpPr>
          <p:spPr>
            <a:xfrm>
              <a:off x="10354698" y="4812461"/>
              <a:ext cx="1459346" cy="1200329"/>
            </a:xfrm>
            <a:prstGeom prst="rect">
              <a:avLst/>
            </a:prstGeom>
            <a:noFill/>
          </p:spPr>
          <p:txBody>
            <a:bodyPr wrap="square" rtlCol="0">
              <a:spAutoFit/>
            </a:bodyPr>
            <a:lstStyle/>
            <a:p>
              <a:r>
                <a:rPr lang="en-US" sz="1200" b="1" dirty="0"/>
                <a:t>*</a:t>
              </a:r>
              <a:r>
                <a:rPr lang="en-US" sz="1200" dirty="0"/>
                <a:t>https://evidentscientific.com/en/insights/telecentric-optics-101-all-the-basics-you-need-to-know</a:t>
              </a:r>
            </a:p>
          </p:txBody>
        </p:sp>
      </p:grpSp>
    </p:spTree>
    <p:extLst>
      <p:ext uri="{BB962C8B-B14F-4D97-AF65-F5344CB8AC3E}">
        <p14:creationId xmlns:p14="http://schemas.microsoft.com/office/powerpoint/2010/main" val="750374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7683D83-A675-8CD2-999F-AAD1A37BC442}"/>
                  </a:ext>
                </a:extLst>
              </p:cNvPr>
              <p:cNvSpPr>
                <a:spLocks noGrp="1"/>
              </p:cNvSpPr>
              <p:nvPr>
                <p:ph idx="1"/>
              </p:nvPr>
            </p:nvSpPr>
            <p:spPr/>
            <p:txBody>
              <a:bodyPr>
                <a:normAutofit/>
              </a:bodyPr>
              <a:lstStyle/>
              <a:p>
                <a:r>
                  <a:rPr lang="en-US" dirty="0"/>
                  <a:t>The layout shows the design to have no common axis</a:t>
                </a:r>
              </a:p>
              <a:p>
                <a:pPr lvl="1"/>
                <a:r>
                  <a:rPr lang="en-US" dirty="0"/>
                  <a:t>Common axis = Shared central alignment of optical components</a:t>
                </a:r>
              </a:p>
              <a:p>
                <a:pPr lvl="1"/>
                <a:r>
                  <a:rPr lang="en-US" dirty="0"/>
                  <a:t>Lack of common axis is atypical in telescope designs with multiple</a:t>
                </a:r>
                <a:br>
                  <a:rPr lang="en-US" dirty="0"/>
                </a:br>
                <a:r>
                  <a:rPr lang="en-US" dirty="0"/>
                  <a:t>mirrors due to manufacture, alignment, and stability complexity</a:t>
                </a:r>
              </a:p>
              <a:p>
                <a:pPr lvl="1"/>
                <a:r>
                  <a:rPr lang="en-US" dirty="0"/>
                  <a:t>Benefit:</a:t>
                </a:r>
                <a:r>
                  <a:rPr lang="en-US" i="1" dirty="0"/>
                  <a:t> </a:t>
                </a:r>
                <a:r>
                  <a:rPr lang="en-US" dirty="0"/>
                  <a:t>ODM has no optical obscuration that blocks photons</a:t>
                </a:r>
              </a:p>
              <a:p>
                <a:r>
                  <a:rPr lang="en-US" dirty="0"/>
                  <a:t>The Primary, Tertiary , and Fold mirrors are rectangular</a:t>
                </a:r>
              </a:p>
              <a:p>
                <a:pPr lvl="1"/>
                <a:r>
                  <a:rPr lang="en-US" dirty="0"/>
                  <a:t>This is unusual, but is consistent with a stated </a:t>
                </a:r>
                <a:r>
                  <a:rPr lang="en-US" i="1" u="sng" dirty="0"/>
                  <a:t>pushbroom </a:t>
                </a:r>
                <a:r>
                  <a:rPr lang="en-US" dirty="0"/>
                  <a:t>sensor </a:t>
                </a:r>
                <a:br>
                  <a:rPr lang="en-US" dirty="0"/>
                </a:br>
                <a:r>
                  <a:rPr lang="en-US" dirty="0"/>
                  <a:t>architecture due to elongated focal plane array</a:t>
                </a:r>
              </a:p>
              <a:p>
                <a:pPr lvl="1"/>
                <a:r>
                  <a:rPr lang="en-US" dirty="0"/>
                  <a:t>The small Secondary mirror is circular in shape</a:t>
                </a:r>
              </a:p>
              <a:p>
                <a:pPr lvl="2"/>
                <a:r>
                  <a:rPr lang="en-US" dirty="0"/>
                  <a:t>Confirmed from a less-known convention to designate a diameter with the Greek symbol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Φ</m:t>
                    </m:r>
                  </m:oMath>
                </a14:m>
                <a:endParaRPr lang="en-US" dirty="0"/>
              </a:p>
              <a:p>
                <a:pPr lvl="1"/>
                <a:r>
                  <a:rPr lang="en-US" dirty="0"/>
                  <a:t>Greater length rectangular mirror dimensions must be “into the page” of the diagram above</a:t>
                </a:r>
              </a:p>
              <a:p>
                <a:pPr lvl="2"/>
                <a:r>
                  <a:rPr lang="en-US" dirty="0"/>
                  <a:t>The apparent sizes are only consistent if the short rectangle edges are displayed</a:t>
                </a:r>
              </a:p>
              <a:p>
                <a:pPr lvl="1"/>
                <a:r>
                  <a:rPr lang="en-US" dirty="0"/>
                  <a:t>The small Secondary promotes the “nearly” telecentric design</a:t>
                </a:r>
              </a:p>
              <a:p>
                <a:pPr lvl="2"/>
                <a:r>
                  <a:rPr lang="en-US" dirty="0" err="1"/>
                  <a:t>Telecentricity</a:t>
                </a:r>
                <a:r>
                  <a:rPr lang="en-US" dirty="0"/>
                  <a:t> requires an aperture stop</a:t>
                </a:r>
              </a:p>
              <a:p>
                <a:pPr lvl="2"/>
                <a:r>
                  <a:rPr lang="en-US" dirty="0"/>
                  <a:t>A larger secondary would have allowed rays of greater divergence from parallel, defeating telecentric functioning</a:t>
                </a:r>
              </a:p>
              <a:p>
                <a:pPr lvl="1"/>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67683D83-A675-8CD2-999F-AAD1A37BC442}"/>
                  </a:ext>
                </a:extLst>
              </p:cNvPr>
              <p:cNvSpPr>
                <a:spLocks noGrp="1" noRot="1" noChangeAspect="1" noMove="1" noResize="1" noEditPoints="1" noAdjustHandles="1" noChangeArrowheads="1" noChangeShapeType="1" noTextEdit="1"/>
              </p:cNvSpPr>
              <p:nvPr>
                <p:ph idx="1"/>
              </p:nvPr>
            </p:nvSpPr>
            <p:spPr>
              <a:blipFill>
                <a:blip r:embed="rId2"/>
                <a:stretch>
                  <a:fillRect l="-696" t="-87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78E3291-3ECA-80DE-48F3-C4AB2D7FABAA}"/>
              </a:ext>
            </a:extLst>
          </p:cNvPr>
          <p:cNvSpPr>
            <a:spLocks noGrp="1"/>
          </p:cNvSpPr>
          <p:nvPr>
            <p:ph type="sldNum" sz="quarter" idx="12"/>
          </p:nvPr>
        </p:nvSpPr>
        <p:spPr/>
        <p:txBody>
          <a:bodyPr/>
          <a:lstStyle/>
          <a:p>
            <a:fld id="{9EA51DAC-3F90-4AAD-A1AF-FE7171D4A594}" type="slidenum">
              <a:rPr lang="en-US" smtClean="0"/>
              <a:pPr/>
              <a:t>12</a:t>
            </a:fld>
            <a:endParaRPr lang="en-US"/>
          </a:p>
        </p:txBody>
      </p:sp>
      <p:sp>
        <p:nvSpPr>
          <p:cNvPr id="4" name="Title 3">
            <a:extLst>
              <a:ext uri="{FF2B5EF4-FFF2-40B4-BE49-F238E27FC236}">
                <a16:creationId xmlns:a16="http://schemas.microsoft.com/office/drawing/2014/main" id="{EFBE16BF-C4C7-BC4C-4A39-BA6BFFBACFD1}"/>
              </a:ext>
            </a:extLst>
          </p:cNvPr>
          <p:cNvSpPr>
            <a:spLocks noGrp="1"/>
          </p:cNvSpPr>
          <p:nvPr>
            <p:ph type="title"/>
          </p:nvPr>
        </p:nvSpPr>
        <p:spPr/>
        <p:txBody>
          <a:bodyPr/>
          <a:lstStyle/>
          <a:p>
            <a:r>
              <a:rPr lang="en-US" dirty="0"/>
              <a:t>Gleaning Information from the “Optical System Design Details of ZY-3”</a:t>
            </a:r>
          </a:p>
        </p:txBody>
      </p:sp>
      <p:pic>
        <p:nvPicPr>
          <p:cNvPr id="5" name="Picture 4">
            <a:extLst>
              <a:ext uri="{FF2B5EF4-FFF2-40B4-BE49-F238E27FC236}">
                <a16:creationId xmlns:a16="http://schemas.microsoft.com/office/drawing/2014/main" id="{06D1E8F3-2D39-3468-C14D-C404A6B8B6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4066" y="1018950"/>
            <a:ext cx="3427413" cy="2671763"/>
          </a:xfrm>
          <a:prstGeom prst="rect">
            <a:avLst/>
          </a:prstGeom>
        </p:spPr>
      </p:pic>
    </p:spTree>
    <p:extLst>
      <p:ext uri="{BB962C8B-B14F-4D97-AF65-F5344CB8AC3E}">
        <p14:creationId xmlns:p14="http://schemas.microsoft.com/office/powerpoint/2010/main" val="218050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B248C-9F42-5C0B-C9BB-94FA60361E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B92032-8D34-0DD3-7C33-FE88CBA444E0}"/>
              </a:ext>
            </a:extLst>
          </p:cNvPr>
          <p:cNvSpPr>
            <a:spLocks noGrp="1"/>
          </p:cNvSpPr>
          <p:nvPr>
            <p:ph idx="1"/>
          </p:nvPr>
        </p:nvSpPr>
        <p:spPr/>
        <p:txBody>
          <a:bodyPr/>
          <a:lstStyle/>
          <a:p>
            <a:r>
              <a:rPr lang="en-US" dirty="0"/>
              <a:t>Section II of the paper alludes to “market demand”</a:t>
            </a:r>
          </a:p>
          <a:p>
            <a:pPr lvl="1"/>
            <a:r>
              <a:rPr lang="en-US" dirty="0"/>
              <a:t>This implies possible commercial sale of satellite mapping products</a:t>
            </a:r>
          </a:p>
          <a:p>
            <a:pPr lvl="1"/>
            <a:r>
              <a:rPr lang="en-US" dirty="0"/>
              <a:t>China’s first high resolution, stereoscopic mapping satellite for civilian use</a:t>
            </a:r>
          </a:p>
          <a:p>
            <a:r>
              <a:rPr lang="en-US" dirty="0"/>
              <a:t>The current ZY-3 satellite (ZY-3 03, launched in 2021) improved over specifications in </a:t>
            </a:r>
            <a:r>
              <a:rPr lang="en-US" i="1" dirty="0"/>
              <a:t>Fan et al, 2012</a:t>
            </a:r>
          </a:p>
          <a:p>
            <a:pPr lvl="1"/>
            <a:r>
              <a:rPr lang="en-US" dirty="0"/>
              <a:t>GSD of stereo Pan improved </a:t>
            </a:r>
          </a:p>
          <a:p>
            <a:pPr lvl="2"/>
            <a:r>
              <a:rPr lang="en-US" dirty="0"/>
              <a:t>Gyro sampling frequency improved </a:t>
            </a:r>
            <a:br>
              <a:rPr lang="en-US" dirty="0"/>
            </a:br>
            <a:r>
              <a:rPr lang="en-US" dirty="0"/>
              <a:t>from 4 Hz to 8 Hz</a:t>
            </a:r>
          </a:p>
          <a:p>
            <a:pPr lvl="2"/>
            <a:r>
              <a:rPr lang="en-US" dirty="0"/>
              <a:t>Optical diffraction-limited GSD </a:t>
            </a:r>
            <a:br>
              <a:rPr lang="en-US" dirty="0"/>
            </a:br>
            <a:r>
              <a:rPr lang="en-US" dirty="0"/>
              <a:t>improved from 2.7 m to 2.6 m </a:t>
            </a:r>
          </a:p>
          <a:p>
            <a:pPr lvl="2"/>
            <a:r>
              <a:rPr lang="en-US" dirty="0"/>
              <a:t>Structural stability upgrades </a:t>
            </a:r>
          </a:p>
          <a:p>
            <a:pPr lvl="2"/>
            <a:r>
              <a:rPr lang="en-US" dirty="0"/>
              <a:t>Pixel pitch remained unchanged</a:t>
            </a:r>
          </a:p>
          <a:p>
            <a:pPr lvl="1"/>
            <a:r>
              <a:rPr lang="en-US" dirty="0"/>
              <a:t>Spectral range specified as wider</a:t>
            </a:r>
          </a:p>
          <a:p>
            <a:pPr lvl="2"/>
            <a:r>
              <a:rPr lang="en-US" i="1" dirty="0"/>
              <a:t>Fan et al, 2012</a:t>
            </a:r>
            <a:r>
              <a:rPr lang="en-US" dirty="0"/>
              <a:t> range </a:t>
            </a:r>
            <a:r>
              <a:rPr lang="en-US" b="1" i="1" dirty="0">
                <a:solidFill>
                  <a:schemeClr val="accent1"/>
                </a:solidFill>
              </a:rPr>
              <a:t>more likely </a:t>
            </a:r>
            <a:br>
              <a:rPr lang="en-US" b="1" i="1" dirty="0">
                <a:solidFill>
                  <a:schemeClr val="accent1"/>
                </a:solidFill>
              </a:rPr>
            </a:br>
            <a:r>
              <a:rPr lang="en-US" b="1" i="1" dirty="0">
                <a:solidFill>
                  <a:schemeClr val="accent1"/>
                </a:solidFill>
              </a:rPr>
              <a:t>specific to Pan</a:t>
            </a:r>
            <a:r>
              <a:rPr lang="en-US" dirty="0"/>
              <a:t>, not MSI</a:t>
            </a:r>
          </a:p>
          <a:p>
            <a:pPr lvl="1"/>
            <a:r>
              <a:rPr lang="en-US" dirty="0"/>
              <a:t>Now includes a laser altimeter</a:t>
            </a:r>
          </a:p>
          <a:p>
            <a:pPr lvl="2"/>
            <a:endParaRPr lang="en-US" dirty="0"/>
          </a:p>
        </p:txBody>
      </p:sp>
      <p:sp>
        <p:nvSpPr>
          <p:cNvPr id="3" name="Slide Number Placeholder 2">
            <a:extLst>
              <a:ext uri="{FF2B5EF4-FFF2-40B4-BE49-F238E27FC236}">
                <a16:creationId xmlns:a16="http://schemas.microsoft.com/office/drawing/2014/main" id="{BDEEF5D4-52EE-B1D1-1B79-5DCFBD23B6D2}"/>
              </a:ext>
            </a:extLst>
          </p:cNvPr>
          <p:cNvSpPr>
            <a:spLocks noGrp="1"/>
          </p:cNvSpPr>
          <p:nvPr>
            <p:ph type="sldNum" sz="quarter" idx="12"/>
          </p:nvPr>
        </p:nvSpPr>
        <p:spPr/>
        <p:txBody>
          <a:bodyPr/>
          <a:lstStyle/>
          <a:p>
            <a:fld id="{9EA51DAC-3F90-4AAD-A1AF-FE7171D4A594}" type="slidenum">
              <a:rPr lang="en-US" smtClean="0"/>
              <a:pPr/>
              <a:t>13</a:t>
            </a:fld>
            <a:endParaRPr lang="en-US"/>
          </a:p>
        </p:txBody>
      </p:sp>
      <p:sp>
        <p:nvSpPr>
          <p:cNvPr id="4" name="Title 3">
            <a:extLst>
              <a:ext uri="{FF2B5EF4-FFF2-40B4-BE49-F238E27FC236}">
                <a16:creationId xmlns:a16="http://schemas.microsoft.com/office/drawing/2014/main" id="{81148555-EACA-F289-C0E2-969DDBFD1A36}"/>
              </a:ext>
            </a:extLst>
          </p:cNvPr>
          <p:cNvSpPr>
            <a:spLocks noGrp="1"/>
          </p:cNvSpPr>
          <p:nvPr>
            <p:ph type="title"/>
          </p:nvPr>
        </p:nvSpPr>
        <p:spPr/>
        <p:txBody>
          <a:bodyPr/>
          <a:lstStyle/>
          <a:p>
            <a:r>
              <a:rPr lang="en-US" dirty="0"/>
              <a:t>ZY-3 01 vs. ZY-3 03 Sensor Comparisons</a:t>
            </a:r>
          </a:p>
        </p:txBody>
      </p:sp>
      <p:graphicFrame>
        <p:nvGraphicFramePr>
          <p:cNvPr id="5" name="Table 4">
            <a:extLst>
              <a:ext uri="{FF2B5EF4-FFF2-40B4-BE49-F238E27FC236}">
                <a16:creationId xmlns:a16="http://schemas.microsoft.com/office/drawing/2014/main" id="{7D9B8EDD-D1B3-DBCD-0F97-12586B5345EA}"/>
              </a:ext>
            </a:extLst>
          </p:cNvPr>
          <p:cNvGraphicFramePr>
            <a:graphicFrameLocks noGrp="1"/>
          </p:cNvGraphicFramePr>
          <p:nvPr>
            <p:extLst>
              <p:ext uri="{D42A27DB-BD31-4B8C-83A1-F6EECF244321}">
                <p14:modId xmlns:p14="http://schemas.microsoft.com/office/powerpoint/2010/main" val="3402498629"/>
              </p:ext>
            </p:extLst>
          </p:nvPr>
        </p:nvGraphicFramePr>
        <p:xfrm>
          <a:off x="5006665" y="2798699"/>
          <a:ext cx="6632771" cy="2865120"/>
        </p:xfrm>
        <a:graphic>
          <a:graphicData uri="http://schemas.openxmlformats.org/drawingml/2006/table">
            <a:tbl>
              <a:tblPr firstRow="1" bandRow="1">
                <a:tableStyleId>{5C22544A-7EE6-4342-B048-85BDC9FD1C3A}</a:tableStyleId>
              </a:tblPr>
              <a:tblGrid>
                <a:gridCol w="3706691">
                  <a:extLst>
                    <a:ext uri="{9D8B030D-6E8A-4147-A177-3AD203B41FA5}">
                      <a16:colId xmlns:a16="http://schemas.microsoft.com/office/drawing/2014/main" val="782312714"/>
                    </a:ext>
                  </a:extLst>
                </a:gridCol>
                <a:gridCol w="1463040">
                  <a:extLst>
                    <a:ext uri="{9D8B030D-6E8A-4147-A177-3AD203B41FA5}">
                      <a16:colId xmlns:a16="http://schemas.microsoft.com/office/drawing/2014/main" val="287385983"/>
                    </a:ext>
                  </a:extLst>
                </a:gridCol>
                <a:gridCol w="1463040">
                  <a:extLst>
                    <a:ext uri="{9D8B030D-6E8A-4147-A177-3AD203B41FA5}">
                      <a16:colId xmlns:a16="http://schemas.microsoft.com/office/drawing/2014/main" val="4057605799"/>
                    </a:ext>
                  </a:extLst>
                </a:gridCol>
              </a:tblGrid>
              <a:tr h="370840">
                <a:tc>
                  <a:txBody>
                    <a:bodyPr/>
                    <a:lstStyle/>
                    <a:p>
                      <a:r>
                        <a:rPr lang="en-US" dirty="0"/>
                        <a:t>Sensor Characteristic</a:t>
                      </a:r>
                    </a:p>
                  </a:txBody>
                  <a:tcPr anchor="ctr"/>
                </a:tc>
                <a:tc>
                  <a:txBody>
                    <a:bodyPr/>
                    <a:lstStyle/>
                    <a:p>
                      <a:pPr algn="ctr"/>
                      <a:r>
                        <a:rPr lang="en-US" dirty="0"/>
                        <a:t>ZY-3 01 (</a:t>
                      </a:r>
                      <a:r>
                        <a:rPr lang="en-US" i="1" dirty="0"/>
                        <a:t>Fan et al, 2012</a:t>
                      </a:r>
                      <a:r>
                        <a:rPr lang="en-US" dirty="0"/>
                        <a:t>)</a:t>
                      </a:r>
                    </a:p>
                  </a:txBody>
                  <a:tcPr anchor="ctr"/>
                </a:tc>
                <a:tc>
                  <a:txBody>
                    <a:bodyPr/>
                    <a:lstStyle/>
                    <a:p>
                      <a:pPr algn="ctr"/>
                      <a:r>
                        <a:rPr lang="en-US" dirty="0"/>
                        <a:t>ZY-3 03</a:t>
                      </a:r>
                    </a:p>
                  </a:txBody>
                  <a:tcPr anchor="ctr"/>
                </a:tc>
                <a:extLst>
                  <a:ext uri="{0D108BD9-81ED-4DB2-BD59-A6C34878D82A}">
                    <a16:rowId xmlns:a16="http://schemas.microsoft.com/office/drawing/2014/main" val="2836216396"/>
                  </a:ext>
                </a:extLst>
              </a:tr>
              <a:tr h="370840">
                <a:tc>
                  <a:txBody>
                    <a:bodyPr/>
                    <a:lstStyle/>
                    <a:p>
                      <a:r>
                        <a:rPr lang="en-US" dirty="0"/>
                        <a:t>Nadir Pan GSD</a:t>
                      </a:r>
                    </a:p>
                  </a:txBody>
                  <a:tcPr/>
                </a:tc>
                <a:tc>
                  <a:txBody>
                    <a:bodyPr/>
                    <a:lstStyle/>
                    <a:p>
                      <a:pPr algn="ctr"/>
                      <a:r>
                        <a:rPr lang="en-US" dirty="0"/>
                        <a:t>2.1 m</a:t>
                      </a:r>
                    </a:p>
                  </a:txBody>
                  <a:tcPr/>
                </a:tc>
                <a:tc>
                  <a:txBody>
                    <a:bodyPr/>
                    <a:lstStyle/>
                    <a:p>
                      <a:pPr algn="ctr"/>
                      <a:r>
                        <a:rPr lang="en-US" dirty="0"/>
                        <a:t>2.1 m</a:t>
                      </a:r>
                    </a:p>
                  </a:txBody>
                  <a:tcPr/>
                </a:tc>
                <a:extLst>
                  <a:ext uri="{0D108BD9-81ED-4DB2-BD59-A6C34878D82A}">
                    <a16:rowId xmlns:a16="http://schemas.microsoft.com/office/drawing/2014/main" val="904460727"/>
                  </a:ext>
                </a:extLst>
              </a:tr>
              <a:tr h="370840">
                <a:tc>
                  <a:txBody>
                    <a:bodyPr/>
                    <a:lstStyle/>
                    <a:p>
                      <a:r>
                        <a:rPr lang="en-US" dirty="0"/>
                        <a:t>Forward/Backward Stereo Pan GSD</a:t>
                      </a:r>
                    </a:p>
                  </a:txBody>
                  <a:tcPr/>
                </a:tc>
                <a:tc>
                  <a:txBody>
                    <a:bodyPr/>
                    <a:lstStyle/>
                    <a:p>
                      <a:pPr algn="ctr"/>
                      <a:r>
                        <a:rPr lang="en-US" dirty="0">
                          <a:solidFill>
                            <a:srgbClr val="FF0000"/>
                          </a:solidFill>
                        </a:rPr>
                        <a:t>3.5 m</a:t>
                      </a:r>
                    </a:p>
                  </a:txBody>
                  <a:tcPr/>
                </a:tc>
                <a:tc>
                  <a:txBody>
                    <a:bodyPr/>
                    <a:lstStyle/>
                    <a:p>
                      <a:pPr algn="ctr"/>
                      <a:r>
                        <a:rPr lang="en-US" dirty="0">
                          <a:solidFill>
                            <a:srgbClr val="00B050"/>
                          </a:solidFill>
                        </a:rPr>
                        <a:t>2.6 m</a:t>
                      </a:r>
                    </a:p>
                  </a:txBody>
                  <a:tcPr/>
                </a:tc>
                <a:extLst>
                  <a:ext uri="{0D108BD9-81ED-4DB2-BD59-A6C34878D82A}">
                    <a16:rowId xmlns:a16="http://schemas.microsoft.com/office/drawing/2014/main" val="630647109"/>
                  </a:ext>
                </a:extLst>
              </a:tr>
              <a:tr h="370840">
                <a:tc>
                  <a:txBody>
                    <a:bodyPr/>
                    <a:lstStyle/>
                    <a:p>
                      <a:r>
                        <a:rPr lang="en-US" dirty="0"/>
                        <a:t>Pan Pixel Pitch (microns)</a:t>
                      </a:r>
                    </a:p>
                  </a:txBody>
                  <a:tcPr/>
                </a:tc>
                <a:tc>
                  <a:txBody>
                    <a:bodyPr/>
                    <a:lstStyle/>
                    <a:p>
                      <a:pPr algn="ctr"/>
                      <a:r>
                        <a:rPr lang="en-US" i="0" dirty="0"/>
                        <a:t>7</a:t>
                      </a:r>
                    </a:p>
                  </a:txBody>
                  <a:tcPr/>
                </a:tc>
                <a:tc>
                  <a:txBody>
                    <a:bodyPr/>
                    <a:lstStyle/>
                    <a:p>
                      <a:pPr algn="ctr"/>
                      <a:r>
                        <a:rPr lang="en-US" dirty="0"/>
                        <a:t>7</a:t>
                      </a:r>
                    </a:p>
                  </a:txBody>
                  <a:tcPr/>
                </a:tc>
                <a:extLst>
                  <a:ext uri="{0D108BD9-81ED-4DB2-BD59-A6C34878D82A}">
                    <a16:rowId xmlns:a16="http://schemas.microsoft.com/office/drawing/2014/main" val="2313814637"/>
                  </a:ext>
                </a:extLst>
              </a:tr>
              <a:tr h="370840">
                <a:tc>
                  <a:txBody>
                    <a:bodyPr/>
                    <a:lstStyle/>
                    <a:p>
                      <a:r>
                        <a:rPr lang="en-US" dirty="0"/>
                        <a:t>Multispectral (4-band VNIR) GSD</a:t>
                      </a:r>
                    </a:p>
                  </a:txBody>
                  <a:tcPr/>
                </a:tc>
                <a:tc>
                  <a:txBody>
                    <a:bodyPr/>
                    <a:lstStyle/>
                    <a:p>
                      <a:pPr algn="ctr"/>
                      <a:r>
                        <a:rPr lang="en-US" i="0" dirty="0"/>
                        <a:t>5.8 m</a:t>
                      </a:r>
                    </a:p>
                  </a:txBody>
                  <a:tcPr/>
                </a:tc>
                <a:tc>
                  <a:txBody>
                    <a:bodyPr/>
                    <a:lstStyle/>
                    <a:p>
                      <a:pPr algn="ctr"/>
                      <a:r>
                        <a:rPr lang="en-US" dirty="0"/>
                        <a:t>5.8 m</a:t>
                      </a:r>
                    </a:p>
                  </a:txBody>
                  <a:tcPr/>
                </a:tc>
                <a:extLst>
                  <a:ext uri="{0D108BD9-81ED-4DB2-BD59-A6C34878D82A}">
                    <a16:rowId xmlns:a16="http://schemas.microsoft.com/office/drawing/2014/main" val="1840777443"/>
                  </a:ext>
                </a:extLst>
              </a:tr>
              <a:tr h="370840">
                <a:tc>
                  <a:txBody>
                    <a:bodyPr/>
                    <a:lstStyle/>
                    <a:p>
                      <a:r>
                        <a:rPr lang="en-US" dirty="0"/>
                        <a:t>Spectral Range (microns)</a:t>
                      </a:r>
                    </a:p>
                  </a:txBody>
                  <a:tcPr/>
                </a:tc>
                <a:tc>
                  <a:txBody>
                    <a:bodyPr/>
                    <a:lstStyle/>
                    <a:p>
                      <a:pPr algn="ctr"/>
                      <a:r>
                        <a:rPr lang="en-US" i="0" dirty="0">
                          <a:solidFill>
                            <a:srgbClr val="FF0000"/>
                          </a:solidFill>
                        </a:rPr>
                        <a:t>0.5-0.8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solidFill>
                            <a:srgbClr val="00B050"/>
                          </a:solidFill>
                        </a:rPr>
                        <a:t>0.45-0.89</a:t>
                      </a:r>
                    </a:p>
                  </a:txBody>
                  <a:tcPr/>
                </a:tc>
                <a:extLst>
                  <a:ext uri="{0D108BD9-81ED-4DB2-BD59-A6C34878D82A}">
                    <a16:rowId xmlns:a16="http://schemas.microsoft.com/office/drawing/2014/main" val="1967464152"/>
                  </a:ext>
                </a:extLst>
              </a:tr>
              <a:tr h="370840">
                <a:tc>
                  <a:txBody>
                    <a:bodyPr/>
                    <a:lstStyle/>
                    <a:p>
                      <a:r>
                        <a:rPr lang="en-US" dirty="0"/>
                        <a:t>Laser Altimeter (1 m elev. accuracy)</a:t>
                      </a:r>
                    </a:p>
                  </a:txBody>
                  <a:tcPr/>
                </a:tc>
                <a:tc>
                  <a:txBody>
                    <a:bodyPr/>
                    <a:lstStyle/>
                    <a:p>
                      <a:pPr algn="ctr"/>
                      <a:r>
                        <a:rPr lang="en-US" i="0" dirty="0">
                          <a:solidFill>
                            <a:srgbClr val="FF0000"/>
                          </a:solidFill>
                        </a:rPr>
                        <a:t>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solidFill>
                            <a:srgbClr val="00B050"/>
                          </a:solidFill>
                        </a:rPr>
                        <a:t>✓</a:t>
                      </a:r>
                    </a:p>
                  </a:txBody>
                  <a:tcPr/>
                </a:tc>
                <a:extLst>
                  <a:ext uri="{0D108BD9-81ED-4DB2-BD59-A6C34878D82A}">
                    <a16:rowId xmlns:a16="http://schemas.microsoft.com/office/drawing/2014/main" val="1119539381"/>
                  </a:ext>
                </a:extLst>
              </a:tr>
            </a:tbl>
          </a:graphicData>
        </a:graphic>
      </p:graphicFrame>
    </p:spTree>
    <p:extLst>
      <p:ext uri="{BB962C8B-B14F-4D97-AF65-F5344CB8AC3E}">
        <p14:creationId xmlns:p14="http://schemas.microsoft.com/office/powerpoint/2010/main" val="4071763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F73EC81-A2B7-E271-3C70-62298E9B60FB}"/>
                  </a:ext>
                </a:extLst>
              </p:cNvPr>
              <p:cNvSpPr>
                <a:spLocks noGrp="1"/>
              </p:cNvSpPr>
              <p:nvPr>
                <p:ph idx="1"/>
              </p:nvPr>
            </p:nvSpPr>
            <p:spPr/>
            <p:txBody>
              <a:bodyPr>
                <a:normAutofit/>
              </a:bodyPr>
              <a:lstStyle/>
              <a:p>
                <a:r>
                  <a:rPr lang="en-US" i="1" dirty="0"/>
                  <a:t>Fan et al, 2012 </a:t>
                </a:r>
                <a:r>
                  <a:rPr lang="en-US" dirty="0"/>
                  <a:t>asserts:</a:t>
                </a:r>
              </a:p>
              <a:p>
                <a:pPr lvl="1"/>
                <a:r>
                  <a:rPr lang="en-US" dirty="0"/>
                  <a:t>“nearly diffraction limited performance” (under Table II)</a:t>
                </a:r>
              </a:p>
              <a:p>
                <a:pPr lvl="1"/>
                <a:r>
                  <a:rPr lang="en-US" dirty="0"/>
                  <a:t>MTF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0.456 for all MTF values</a:t>
                </a:r>
              </a:p>
              <a:p>
                <a:r>
                  <a:rPr lang="en-US" dirty="0"/>
                  <a:t>Modulation Transfer Function (MTF) is the magnitude of the Optical Transfer Function (OTF) of any optical device, based on the physics of diffraction</a:t>
                </a:r>
              </a:p>
              <a:p>
                <a:pPr lvl="1"/>
                <a:r>
                  <a:rPr lang="en-US" dirty="0"/>
                  <a:t>MTF tells you the diffraction limited resolution of the optics as a function of spatial frequency</a:t>
                </a:r>
              </a:p>
              <a:p>
                <a:pPr lvl="1"/>
                <a:r>
                  <a:rPr lang="en-US" dirty="0"/>
                  <a:t>At right below are MTFs for circular optics with varying circular obscurations (black)</a:t>
                </a:r>
              </a:p>
              <a:p>
                <a:pPr lvl="1"/>
                <a:r>
                  <a:rPr lang="en-US" dirty="0"/>
                  <a:t>A simple line from zero to cutoff spatial frequency at 1.0 is expected in </a:t>
                </a:r>
                <a:r>
                  <a:rPr lang="en-US" i="1" dirty="0"/>
                  <a:t>Fan et al, 2012</a:t>
                </a:r>
              </a:p>
              <a:p>
                <a:pPr lvl="2"/>
                <a:r>
                  <a:rPr lang="en-US" dirty="0"/>
                  <a:t>i.e., no obscurations</a:t>
                </a:r>
                <a:endParaRPr lang="en-US" i="1" dirty="0"/>
              </a:p>
              <a:p>
                <a:pPr lvl="1"/>
                <a:r>
                  <a:rPr lang="en-US" dirty="0"/>
                  <a:t>MTF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0.456 is </a:t>
                </a:r>
                <a:r>
                  <a:rPr lang="en-US" i="1" u="sng" dirty="0"/>
                  <a:t>not</a:t>
                </a:r>
                <a:r>
                  <a:rPr lang="en-US" dirty="0"/>
                  <a:t> meaningful in the absence </a:t>
                </a:r>
                <a:br>
                  <a:rPr lang="en-US" dirty="0"/>
                </a:br>
                <a:r>
                  <a:rPr lang="en-US" dirty="0"/>
                  <a:t>of obscurations, because diffraction limited </a:t>
                </a:r>
                <a:br>
                  <a:rPr lang="en-US" dirty="0"/>
                </a:br>
                <a:r>
                  <a:rPr lang="en-US" dirty="0"/>
                  <a:t>MTFs are zero cutoff spatial frequency</a:t>
                </a:r>
              </a:p>
              <a:p>
                <a:pPr lvl="1"/>
                <a:r>
                  <a:rPr lang="en-US" dirty="0"/>
                  <a:t>This is also true for rectangular optics</a:t>
                </a:r>
              </a:p>
              <a:p>
                <a:r>
                  <a:rPr lang="en-US" dirty="0"/>
                  <a:t>In the following, we examine the </a:t>
                </a:r>
                <a:br>
                  <a:rPr lang="en-US" dirty="0"/>
                </a:br>
                <a:r>
                  <a:rPr lang="en-US" dirty="0"/>
                  <a:t>contradictions in these statements, </a:t>
                </a:r>
                <a:br>
                  <a:rPr lang="en-US" dirty="0"/>
                </a:br>
                <a:r>
                  <a:rPr lang="en-US" dirty="0"/>
                  <a:t>from physical optics</a:t>
                </a:r>
              </a:p>
            </p:txBody>
          </p:sp>
        </mc:Choice>
        <mc:Fallback xmlns="">
          <p:sp>
            <p:nvSpPr>
              <p:cNvPr id="2" name="Content Placeholder 1">
                <a:extLst>
                  <a:ext uri="{FF2B5EF4-FFF2-40B4-BE49-F238E27FC236}">
                    <a16:creationId xmlns:a16="http://schemas.microsoft.com/office/drawing/2014/main" id="{8F73EC81-A2B7-E271-3C70-62298E9B60FB}"/>
                  </a:ext>
                </a:extLst>
              </p:cNvPr>
              <p:cNvSpPr>
                <a:spLocks noGrp="1" noRot="1" noChangeAspect="1" noMove="1" noResize="1" noEditPoints="1" noAdjustHandles="1" noChangeArrowheads="1" noChangeShapeType="1" noTextEdit="1"/>
              </p:cNvSpPr>
              <p:nvPr>
                <p:ph idx="1"/>
              </p:nvPr>
            </p:nvSpPr>
            <p:spPr>
              <a:blipFill>
                <a:blip r:embed="rId2"/>
                <a:stretch>
                  <a:fillRect l="-696" t="-872" b="-10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2DB0255-198C-8E17-7F86-01CD311C07DF}"/>
              </a:ext>
            </a:extLst>
          </p:cNvPr>
          <p:cNvSpPr>
            <a:spLocks noGrp="1"/>
          </p:cNvSpPr>
          <p:nvPr>
            <p:ph type="sldNum" sz="quarter" idx="12"/>
          </p:nvPr>
        </p:nvSpPr>
        <p:spPr/>
        <p:txBody>
          <a:bodyPr/>
          <a:lstStyle/>
          <a:p>
            <a:fld id="{9EA51DAC-3F90-4AAD-A1AF-FE7171D4A594}" type="slidenum">
              <a:rPr lang="en-US" smtClean="0"/>
              <a:pPr/>
              <a:t>14</a:t>
            </a:fld>
            <a:endParaRPr lang="en-US"/>
          </a:p>
        </p:txBody>
      </p:sp>
      <p:sp>
        <p:nvSpPr>
          <p:cNvPr id="4" name="Title 3">
            <a:extLst>
              <a:ext uri="{FF2B5EF4-FFF2-40B4-BE49-F238E27FC236}">
                <a16:creationId xmlns:a16="http://schemas.microsoft.com/office/drawing/2014/main" id="{9D52FC70-5075-3796-02A7-2EC04CBA79DB}"/>
              </a:ext>
            </a:extLst>
          </p:cNvPr>
          <p:cNvSpPr>
            <a:spLocks noGrp="1"/>
          </p:cNvSpPr>
          <p:nvPr>
            <p:ph type="title"/>
          </p:nvPr>
        </p:nvSpPr>
        <p:spPr/>
        <p:txBody>
          <a:bodyPr/>
          <a:lstStyle/>
          <a:p>
            <a:r>
              <a:rPr lang="en-US" dirty="0"/>
              <a:t>MTF Statements in </a:t>
            </a:r>
            <a:r>
              <a:rPr lang="en-US" i="1" dirty="0"/>
              <a:t>Fan et al, 2012</a:t>
            </a:r>
          </a:p>
        </p:txBody>
      </p:sp>
      <p:pic>
        <p:nvPicPr>
          <p:cNvPr id="5" name="Picture 4">
            <a:extLst>
              <a:ext uri="{FF2B5EF4-FFF2-40B4-BE49-F238E27FC236}">
                <a16:creationId xmlns:a16="http://schemas.microsoft.com/office/drawing/2014/main" id="{46FAFF71-7789-81C7-73EA-539271518568}"/>
              </a:ext>
            </a:extLst>
          </p:cNvPr>
          <p:cNvPicPr>
            <a:picLocks noChangeAspect="1"/>
          </p:cNvPicPr>
          <p:nvPr/>
        </p:nvPicPr>
        <p:blipFill>
          <a:blip r:embed="rId3"/>
          <a:stretch>
            <a:fillRect/>
          </a:stretch>
        </p:blipFill>
        <p:spPr>
          <a:xfrm>
            <a:off x="6080919" y="3724730"/>
            <a:ext cx="5485491" cy="2742746"/>
          </a:xfrm>
          <a:prstGeom prst="rect">
            <a:avLst/>
          </a:prstGeom>
        </p:spPr>
      </p:pic>
    </p:spTree>
    <p:extLst>
      <p:ext uri="{BB962C8B-B14F-4D97-AF65-F5344CB8AC3E}">
        <p14:creationId xmlns:p14="http://schemas.microsoft.com/office/powerpoint/2010/main" val="2561443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42E68F7-F673-0399-4690-BF64F664F5DC}"/>
                  </a:ext>
                </a:extLst>
              </p:cNvPr>
              <p:cNvSpPr>
                <a:spLocks noGrp="1"/>
              </p:cNvSpPr>
              <p:nvPr>
                <p:ph idx="1"/>
              </p:nvPr>
            </p:nvSpPr>
            <p:spPr/>
            <p:txBody>
              <a:bodyPr>
                <a:normAutofit/>
              </a:bodyPr>
              <a:lstStyle/>
              <a:p>
                <a:pPr marL="346075" indent="-342900"/>
                <a:r>
                  <a:rPr lang="en-US" dirty="0"/>
                  <a:t>Digital sampling impacts spatial frequency information</a:t>
                </a:r>
              </a:p>
              <a:p>
                <a:pPr marL="577850" lvl="1" indent="-342900"/>
                <a:r>
                  <a:rPr lang="en-US" dirty="0"/>
                  <a:t>As seen on the previous slide, the optical MTF </a:t>
                </a:r>
                <a:r>
                  <a:rPr lang="en-US" i="1" u="sng" dirty="0"/>
                  <a:t>must</a:t>
                </a:r>
                <a:r>
                  <a:rPr lang="en-US" dirty="0"/>
                  <a:t> go to zero</a:t>
                </a:r>
              </a:p>
              <a:p>
                <a:pPr marL="577850" lvl="1" indent="-342900"/>
                <a:r>
                  <a:rPr lang="en-US" dirty="0"/>
                  <a:t>The point where MTF goes to zero is known as the “diffraction-limited cut-off”</a:t>
                </a:r>
              </a:p>
              <a:p>
                <a:pPr marL="577850" lvl="1" indent="-342900"/>
                <a:r>
                  <a:rPr lang="en-US" dirty="0">
                    <a:ea typeface="Cambria Math" panose="02040503050406030204" pitchFamily="18" charset="0"/>
                  </a:rPr>
                  <a:t>What does this mean when </a:t>
                </a:r>
                <a:r>
                  <a:rPr lang="en-US" i="1" dirty="0">
                    <a:ea typeface="Cambria Math" panose="02040503050406030204" pitchFamily="18" charset="0"/>
                  </a:rPr>
                  <a:t>Fan et al, </a:t>
                </a:r>
                <a:r>
                  <a:rPr lang="en-US" i="1" dirty="0"/>
                  <a:t>2012</a:t>
                </a:r>
                <a:r>
                  <a:rPr lang="en-US" dirty="0">
                    <a:ea typeface="Cambria Math" panose="02040503050406030204" pitchFamily="18" charset="0"/>
                  </a:rPr>
                  <a:t> states: MTF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0.456 for all MTF values</a:t>
                </a:r>
              </a:p>
              <a:p>
                <a:pPr marL="346075" indent="-342900"/>
                <a:r>
                  <a:rPr lang="en-US" dirty="0"/>
                  <a:t>The physics of diffraction, combined with the mathematics of sampled data, mean that the ODM of ZY-3 </a:t>
                </a:r>
                <a:r>
                  <a:rPr lang="en-US" i="1" u="sng" dirty="0"/>
                  <a:t>cannot</a:t>
                </a:r>
                <a:r>
                  <a:rPr lang="en-US" dirty="0"/>
                  <a:t> give “nearly diffraction limited performance”</a:t>
                </a:r>
              </a:p>
              <a:p>
                <a:pPr lvl="1"/>
                <a:r>
                  <a:rPr lang="en-US" dirty="0"/>
                  <a:t>The images collected by ZY-3 optics are recorded by a digital focal plane</a:t>
                </a:r>
              </a:p>
              <a:p>
                <a:pPr lvl="2"/>
                <a:r>
                  <a:rPr lang="en-US" dirty="0"/>
                  <a:t>The focal plane samples the optical field over small areas – the 7 </a:t>
                </a:r>
                <a14:m>
                  <m:oMath xmlns:m="http://schemas.openxmlformats.org/officeDocument/2006/math">
                    <m:r>
                      <a:rPr lang="en-US" i="1">
                        <a:latin typeface="Cambria Math" panose="02040503050406030204" pitchFamily="18" charset="0"/>
                        <a:ea typeface="Cambria Math" panose="02040503050406030204" pitchFamily="18" charset="0"/>
                      </a:rPr>
                      <m:t>𝜇</m:t>
                    </m:r>
                  </m:oMath>
                </a14:m>
                <a:r>
                  <a:rPr lang="en-US" dirty="0"/>
                  <a:t>m focal plane detector pixels</a:t>
                </a:r>
              </a:p>
              <a:p>
                <a:pPr marL="346075" indent="-342900"/>
                <a:r>
                  <a:rPr lang="en-US" dirty="0"/>
                  <a:t>Diffraction limited performance is contraindicated because: </a:t>
                </a:r>
              </a:p>
              <a:p>
                <a:pPr marL="577850" lvl="1" indent="-342900"/>
                <a:r>
                  <a:rPr lang="en-US" dirty="0"/>
                  <a:t>Diffraction physics forces </a:t>
                </a:r>
                <a:r>
                  <a:rPr lang="en-US" i="1" u="sng" dirty="0"/>
                  <a:t>any</a:t>
                </a:r>
                <a:r>
                  <a:rPr lang="en-US" dirty="0"/>
                  <a:t> optical MTF to zero beyond some value of spatial frequency</a:t>
                </a:r>
              </a:p>
              <a:p>
                <a:pPr marL="577850" lvl="1" indent="-342900"/>
                <a:r>
                  <a:rPr lang="en-US" dirty="0"/>
                  <a:t>The spatial frequency where the MTF goes to zero imposes a critical size for sampling pixels</a:t>
                </a:r>
              </a:p>
              <a:p>
                <a:pPr marL="798512" lvl="2" indent="-342900"/>
                <a:r>
                  <a:rPr lang="en-US" dirty="0"/>
                  <a:t>If the sampling pixels are greater than the critical size the result is to distort the optical information collected in the samples</a:t>
                </a:r>
              </a:p>
              <a:p>
                <a:pPr marL="798512" lvl="2" indent="-342900"/>
                <a:r>
                  <a:rPr lang="en-US" dirty="0"/>
                  <a:t>This distortion is called “aliasing” of data or information</a:t>
                </a:r>
              </a:p>
              <a:p>
                <a:pPr marL="346075" indent="-342900"/>
                <a:r>
                  <a:rPr lang="en-US" dirty="0"/>
                  <a:t>The next slide illustrates actual effects of aliasing</a:t>
                </a:r>
              </a:p>
            </p:txBody>
          </p:sp>
        </mc:Choice>
        <mc:Fallback xmlns="">
          <p:sp>
            <p:nvSpPr>
              <p:cNvPr id="2" name="Content Placeholder 1">
                <a:extLst>
                  <a:ext uri="{FF2B5EF4-FFF2-40B4-BE49-F238E27FC236}">
                    <a16:creationId xmlns:a16="http://schemas.microsoft.com/office/drawing/2014/main" id="{042E68F7-F673-0399-4690-BF64F664F5DC}"/>
                  </a:ext>
                </a:extLst>
              </p:cNvPr>
              <p:cNvSpPr>
                <a:spLocks noGrp="1" noRot="1" noChangeAspect="1" noMove="1" noResize="1" noEditPoints="1" noAdjustHandles="1" noChangeArrowheads="1" noChangeShapeType="1" noTextEdit="1"/>
              </p:cNvSpPr>
              <p:nvPr>
                <p:ph idx="1"/>
              </p:nvPr>
            </p:nvSpPr>
            <p:spPr>
              <a:blipFill>
                <a:blip r:embed="rId2"/>
                <a:stretch>
                  <a:fillRect l="-642" t="-872" r="-53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FDCF465-ABC3-0B1D-38DE-971F30760634}"/>
              </a:ext>
            </a:extLst>
          </p:cNvPr>
          <p:cNvSpPr>
            <a:spLocks noGrp="1"/>
          </p:cNvSpPr>
          <p:nvPr>
            <p:ph type="sldNum" sz="quarter" idx="12"/>
          </p:nvPr>
        </p:nvSpPr>
        <p:spPr/>
        <p:txBody>
          <a:bodyPr/>
          <a:lstStyle/>
          <a:p>
            <a:fld id="{9EA51DAC-3F90-4AAD-A1AF-FE7171D4A594}" type="slidenum">
              <a:rPr lang="en-US" smtClean="0"/>
              <a:pPr/>
              <a:t>15</a:t>
            </a:fld>
            <a:endParaRPr lang="en-US"/>
          </a:p>
        </p:txBody>
      </p:sp>
      <p:sp>
        <p:nvSpPr>
          <p:cNvPr id="4" name="Title 3">
            <a:extLst>
              <a:ext uri="{FF2B5EF4-FFF2-40B4-BE49-F238E27FC236}">
                <a16:creationId xmlns:a16="http://schemas.microsoft.com/office/drawing/2014/main" id="{61CCEB00-3297-07A8-951C-D82EA615D46C}"/>
              </a:ext>
            </a:extLst>
          </p:cNvPr>
          <p:cNvSpPr>
            <a:spLocks noGrp="1"/>
          </p:cNvSpPr>
          <p:nvPr>
            <p:ph type="title"/>
          </p:nvPr>
        </p:nvSpPr>
        <p:spPr/>
        <p:txBody>
          <a:bodyPr/>
          <a:lstStyle/>
          <a:p>
            <a:r>
              <a:rPr lang="en-US" dirty="0"/>
              <a:t>Sampling of Optical Data</a:t>
            </a:r>
          </a:p>
        </p:txBody>
      </p:sp>
    </p:spTree>
    <p:extLst>
      <p:ext uri="{BB962C8B-B14F-4D97-AF65-F5344CB8AC3E}">
        <p14:creationId xmlns:p14="http://schemas.microsoft.com/office/powerpoint/2010/main" val="2148947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0036C4-0CAB-32B0-4B4B-59DD24597CC0}"/>
              </a:ext>
            </a:extLst>
          </p:cNvPr>
          <p:cNvSpPr>
            <a:spLocks noGrp="1"/>
          </p:cNvSpPr>
          <p:nvPr>
            <p:ph type="sldNum" sz="quarter" idx="12"/>
          </p:nvPr>
        </p:nvSpPr>
        <p:spPr/>
        <p:txBody>
          <a:bodyPr/>
          <a:lstStyle/>
          <a:p>
            <a:fld id="{9EA51DAC-3F90-4AAD-A1AF-FE7171D4A594}" type="slidenum">
              <a:rPr lang="en-US" smtClean="0"/>
              <a:pPr/>
              <a:t>16</a:t>
            </a:fld>
            <a:endParaRPr lang="en-US"/>
          </a:p>
        </p:txBody>
      </p:sp>
      <p:sp>
        <p:nvSpPr>
          <p:cNvPr id="4" name="Title 3">
            <a:extLst>
              <a:ext uri="{FF2B5EF4-FFF2-40B4-BE49-F238E27FC236}">
                <a16:creationId xmlns:a16="http://schemas.microsoft.com/office/drawing/2014/main" id="{C91950D0-8927-10F3-B7B8-8A80159ACE8A}"/>
              </a:ext>
            </a:extLst>
          </p:cNvPr>
          <p:cNvSpPr>
            <a:spLocks noGrp="1"/>
          </p:cNvSpPr>
          <p:nvPr>
            <p:ph type="title"/>
          </p:nvPr>
        </p:nvSpPr>
        <p:spPr/>
        <p:txBody>
          <a:bodyPr/>
          <a:lstStyle/>
          <a:p>
            <a:r>
              <a:rPr lang="en-US" dirty="0"/>
              <a:t>Example of Optical Aliasing Effects (1 of 2)</a:t>
            </a:r>
          </a:p>
        </p:txBody>
      </p:sp>
      <p:pic>
        <p:nvPicPr>
          <p:cNvPr id="5" name="Picture 4">
            <a:extLst>
              <a:ext uri="{FF2B5EF4-FFF2-40B4-BE49-F238E27FC236}">
                <a16:creationId xmlns:a16="http://schemas.microsoft.com/office/drawing/2014/main" id="{92C7D3E2-D083-D4B9-84ED-7AF97922643D}"/>
              </a:ext>
            </a:extLst>
          </p:cNvPr>
          <p:cNvPicPr>
            <a:picLocks noChangeAspect="1"/>
          </p:cNvPicPr>
          <p:nvPr/>
        </p:nvPicPr>
        <p:blipFill>
          <a:blip r:embed="rId2"/>
          <a:stretch>
            <a:fillRect/>
          </a:stretch>
        </p:blipFill>
        <p:spPr>
          <a:xfrm>
            <a:off x="504195" y="832845"/>
            <a:ext cx="5611838" cy="5321454"/>
          </a:xfrm>
          <a:prstGeom prst="rect">
            <a:avLst/>
          </a:prstGeom>
        </p:spPr>
      </p:pic>
      <p:pic>
        <p:nvPicPr>
          <p:cNvPr id="6" name="Picture 5">
            <a:extLst>
              <a:ext uri="{FF2B5EF4-FFF2-40B4-BE49-F238E27FC236}">
                <a16:creationId xmlns:a16="http://schemas.microsoft.com/office/drawing/2014/main" id="{2A629E68-0DB7-61D5-2E59-B87D82F3F765}"/>
              </a:ext>
            </a:extLst>
          </p:cNvPr>
          <p:cNvPicPr>
            <a:picLocks noChangeAspect="1"/>
          </p:cNvPicPr>
          <p:nvPr/>
        </p:nvPicPr>
        <p:blipFill>
          <a:blip r:embed="rId3"/>
          <a:stretch>
            <a:fillRect/>
          </a:stretch>
        </p:blipFill>
        <p:spPr>
          <a:xfrm>
            <a:off x="6087884" y="832845"/>
            <a:ext cx="5610555" cy="5312050"/>
          </a:xfrm>
          <a:prstGeom prst="rect">
            <a:avLst/>
          </a:prstGeom>
        </p:spPr>
      </p:pic>
      <p:sp>
        <p:nvSpPr>
          <p:cNvPr id="7" name="TextBox 6">
            <a:extLst>
              <a:ext uri="{FF2B5EF4-FFF2-40B4-BE49-F238E27FC236}">
                <a16:creationId xmlns:a16="http://schemas.microsoft.com/office/drawing/2014/main" id="{B7710C50-110C-6F4F-F8B5-BA9BCB2AAF5E}"/>
              </a:ext>
            </a:extLst>
          </p:cNvPr>
          <p:cNvSpPr txBox="1"/>
          <p:nvPr/>
        </p:nvSpPr>
        <p:spPr>
          <a:xfrm>
            <a:off x="2806994" y="6113716"/>
            <a:ext cx="960519" cy="369332"/>
          </a:xfrm>
          <a:prstGeom prst="rect">
            <a:avLst/>
          </a:prstGeom>
          <a:noFill/>
        </p:spPr>
        <p:txBody>
          <a:bodyPr wrap="none" rtlCol="0">
            <a:spAutoFit/>
          </a:bodyPr>
          <a:lstStyle/>
          <a:p>
            <a:r>
              <a:rPr lang="en-US" dirty="0"/>
              <a:t>Original</a:t>
            </a:r>
          </a:p>
        </p:txBody>
      </p:sp>
      <p:sp>
        <p:nvSpPr>
          <p:cNvPr id="8" name="TextBox 7">
            <a:extLst>
              <a:ext uri="{FF2B5EF4-FFF2-40B4-BE49-F238E27FC236}">
                <a16:creationId xmlns:a16="http://schemas.microsoft.com/office/drawing/2014/main" id="{96A42C8E-B23B-50BB-83FC-09897282EE63}"/>
              </a:ext>
            </a:extLst>
          </p:cNvPr>
          <p:cNvSpPr txBox="1"/>
          <p:nvPr/>
        </p:nvSpPr>
        <p:spPr>
          <a:xfrm>
            <a:off x="8431622" y="6092448"/>
            <a:ext cx="922047" cy="369332"/>
          </a:xfrm>
          <a:prstGeom prst="rect">
            <a:avLst/>
          </a:prstGeom>
          <a:noFill/>
        </p:spPr>
        <p:txBody>
          <a:bodyPr wrap="none" rtlCol="0">
            <a:spAutoFit/>
          </a:bodyPr>
          <a:lstStyle/>
          <a:p>
            <a:r>
              <a:rPr lang="en-US" dirty="0"/>
              <a:t>Aliased</a:t>
            </a:r>
          </a:p>
        </p:txBody>
      </p:sp>
    </p:spTree>
    <p:extLst>
      <p:ext uri="{BB962C8B-B14F-4D97-AF65-F5344CB8AC3E}">
        <p14:creationId xmlns:p14="http://schemas.microsoft.com/office/powerpoint/2010/main" val="2069333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E849E2-EB2D-E875-6A13-F2C968B32865}"/>
              </a:ext>
            </a:extLst>
          </p:cNvPr>
          <p:cNvSpPr>
            <a:spLocks noGrp="1"/>
          </p:cNvSpPr>
          <p:nvPr>
            <p:ph idx="1"/>
          </p:nvPr>
        </p:nvSpPr>
        <p:spPr/>
        <p:txBody>
          <a:bodyPr/>
          <a:lstStyle/>
          <a:p>
            <a:endParaRPr lang="en-US" dirty="0"/>
          </a:p>
          <a:p>
            <a:pPr marL="0" indent="0">
              <a:buNone/>
            </a:pPr>
            <a:endParaRPr lang="en-US" sz="800" dirty="0"/>
          </a:p>
          <a:p>
            <a:r>
              <a:rPr lang="en-US" dirty="0"/>
              <a:t>The previous slide shows two examples of a classic 1950’s TV Test Pattern</a:t>
            </a:r>
          </a:p>
          <a:p>
            <a:pPr lvl="1"/>
            <a:r>
              <a:rPr lang="en-US" dirty="0"/>
              <a:t>The left image is the original test pattern</a:t>
            </a:r>
          </a:p>
          <a:p>
            <a:pPr lvl="1"/>
            <a:r>
              <a:rPr lang="en-US" dirty="0"/>
              <a:t>The right image shows the effects of aliasing, as created when the image is sampled with pixels that are twice as large as allowed by the actual resolution of the optical system</a:t>
            </a:r>
          </a:p>
          <a:p>
            <a:pPr lvl="1"/>
            <a:endParaRPr lang="en-US" dirty="0"/>
          </a:p>
          <a:p>
            <a:r>
              <a:rPr lang="en-US" dirty="0"/>
              <a:t>There are three “classic” distortions present in this image</a:t>
            </a:r>
          </a:p>
          <a:p>
            <a:pPr lvl="1"/>
            <a:r>
              <a:rPr lang="en-US" dirty="0"/>
              <a:t>(1) Notice that the general background is “whiter” in the image on the right</a:t>
            </a:r>
          </a:p>
          <a:p>
            <a:pPr lvl="2"/>
            <a:r>
              <a:rPr lang="en-US" dirty="0"/>
              <a:t>This is because of the added energy that is present by collecting samples with more light energy than the smaller pixels for the diffraction limit of the optics</a:t>
            </a:r>
          </a:p>
          <a:p>
            <a:pPr lvl="1"/>
            <a:r>
              <a:rPr lang="en-US" dirty="0"/>
              <a:t>(2) Notice how smooth lines in the left image have become “jagged” or “stair-stepped”</a:t>
            </a:r>
          </a:p>
          <a:p>
            <a:pPr lvl="2"/>
            <a:r>
              <a:rPr lang="en-US" dirty="0"/>
              <a:t>This is sometimes referred to as “pixelation” of features</a:t>
            </a:r>
          </a:p>
          <a:p>
            <a:pPr lvl="1"/>
            <a:r>
              <a:rPr lang="en-US" dirty="0"/>
              <a:t>(3) Notice how adjacent lines in the converging horizonal / vertical patterns merge or disappear</a:t>
            </a:r>
          </a:p>
          <a:p>
            <a:pPr lvl="2"/>
            <a:r>
              <a:rPr lang="en-US" dirty="0"/>
              <a:t>This is due to features being clumped together by the improper sample size</a:t>
            </a:r>
          </a:p>
        </p:txBody>
      </p:sp>
      <p:sp>
        <p:nvSpPr>
          <p:cNvPr id="3" name="Slide Number Placeholder 2">
            <a:extLst>
              <a:ext uri="{FF2B5EF4-FFF2-40B4-BE49-F238E27FC236}">
                <a16:creationId xmlns:a16="http://schemas.microsoft.com/office/drawing/2014/main" id="{48F073F6-4773-F23A-BF54-4309188284C4}"/>
              </a:ext>
            </a:extLst>
          </p:cNvPr>
          <p:cNvSpPr>
            <a:spLocks noGrp="1"/>
          </p:cNvSpPr>
          <p:nvPr>
            <p:ph type="sldNum" sz="quarter" idx="12"/>
          </p:nvPr>
        </p:nvSpPr>
        <p:spPr/>
        <p:txBody>
          <a:bodyPr/>
          <a:lstStyle/>
          <a:p>
            <a:fld id="{9EA51DAC-3F90-4AAD-A1AF-FE7171D4A594}" type="slidenum">
              <a:rPr lang="en-US" smtClean="0"/>
              <a:pPr/>
              <a:t>17</a:t>
            </a:fld>
            <a:endParaRPr lang="en-US"/>
          </a:p>
        </p:txBody>
      </p:sp>
      <p:sp>
        <p:nvSpPr>
          <p:cNvPr id="4" name="Title 3">
            <a:extLst>
              <a:ext uri="{FF2B5EF4-FFF2-40B4-BE49-F238E27FC236}">
                <a16:creationId xmlns:a16="http://schemas.microsoft.com/office/drawing/2014/main" id="{04427060-FF0D-835F-939D-197C7713A3CB}"/>
              </a:ext>
            </a:extLst>
          </p:cNvPr>
          <p:cNvSpPr>
            <a:spLocks noGrp="1"/>
          </p:cNvSpPr>
          <p:nvPr>
            <p:ph type="title"/>
          </p:nvPr>
        </p:nvSpPr>
        <p:spPr/>
        <p:txBody>
          <a:bodyPr/>
          <a:lstStyle/>
          <a:p>
            <a:r>
              <a:rPr lang="en-US" dirty="0"/>
              <a:t>Example of Optical Aliasing Effects (2 of 2)</a:t>
            </a:r>
          </a:p>
        </p:txBody>
      </p:sp>
    </p:spTree>
    <p:extLst>
      <p:ext uri="{BB962C8B-B14F-4D97-AF65-F5344CB8AC3E}">
        <p14:creationId xmlns:p14="http://schemas.microsoft.com/office/powerpoint/2010/main" val="185875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0D03D1D-C542-F2D1-D9B8-CB0E55F6B622}"/>
                  </a:ext>
                </a:extLst>
              </p:cNvPr>
              <p:cNvSpPr>
                <a:spLocks noGrp="1"/>
              </p:cNvSpPr>
              <p:nvPr>
                <p:ph idx="1"/>
              </p:nvPr>
            </p:nvSpPr>
            <p:spPr>
              <a:xfrm>
                <a:off x="420802" y="878564"/>
                <a:ext cx="6937097" cy="5588912"/>
              </a:xfrm>
            </p:spPr>
            <p:txBody>
              <a:bodyPr>
                <a:normAutofit fontScale="92500" lnSpcReduction="10000"/>
              </a:bodyPr>
              <a:lstStyle/>
              <a:p>
                <a:r>
                  <a:rPr lang="en-US" dirty="0"/>
                  <a:t>Image science specifies diffraction limited sampling sampling by the Quality factor, Q</a:t>
                </a:r>
              </a:p>
              <a:p>
                <a:r>
                  <a:rPr lang="en-US" dirty="0"/>
                  <a:t>Pixel pitch (spacing) relates to sensor Q as:</a:t>
                </a:r>
              </a:p>
              <a:p>
                <a:pPr marL="0" indent="0">
                  <a:buNone/>
                </a:pPr>
                <a:endParaRPr lang="en-US" sz="800" dirty="0"/>
              </a:p>
              <a:p>
                <a:pPr marL="0" indent="0" algn="ctr">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𝑄</m:t>
                      </m:r>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𝜆</m:t>
                      </m:r>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ea typeface="Cambria Math" panose="02040503050406030204" pitchFamily="18" charset="0"/>
                            </a:rPr>
                            <m:t>𝜆</m:t>
                          </m:r>
                          <m:r>
                            <a:rPr lang="en-US" sz="2000" b="0" i="1" dirty="0" smtClean="0">
                              <a:latin typeface="Cambria Math" panose="02040503050406030204" pitchFamily="18" charset="0"/>
                              <a:ea typeface="Cambria Math" panose="02040503050406030204" pitchFamily="18" charset="0"/>
                            </a:rPr>
                            <m:t> × </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𝐹</m:t>
                              </m:r>
                            </m:e>
                            <m:sub>
                              <m:r>
                                <a:rPr lang="en-US" sz="2000" b="0" i="1" dirty="0" smtClean="0">
                                  <a:latin typeface="Cambria Math" panose="02040503050406030204" pitchFamily="18" charset="0"/>
                                  <a:ea typeface="Cambria Math" panose="02040503050406030204" pitchFamily="18" charset="0"/>
                                </a:rPr>
                                <m:t>𝑁</m:t>
                              </m:r>
                            </m:sub>
                          </m:sSub>
                        </m:num>
                        <m:den>
                          <m:r>
                            <a:rPr lang="en-US" sz="2000" b="0" i="1" dirty="0" smtClean="0">
                              <a:latin typeface="Cambria Math" panose="02040503050406030204" pitchFamily="18" charset="0"/>
                            </a:rPr>
                            <m:t>𝑝𝑖𝑡𝑐h</m:t>
                          </m:r>
                        </m:den>
                      </m:f>
                    </m:oMath>
                  </m:oMathPara>
                </a14:m>
                <a:endParaRPr lang="en-US" dirty="0"/>
              </a:p>
              <a:p>
                <a:pPr marL="0" indent="0" algn="ctr">
                  <a:buNone/>
                </a:pPr>
                <a:endParaRPr lang="en-US" sz="900" dirty="0"/>
              </a:p>
              <a:p>
                <a:pPr lvl="1"/>
                <a:r>
                  <a:rPr lang="en-US" dirty="0"/>
                  <a:t>To accurately reconstruct a signal, pixels must sample at least twice the highest spatial present</a:t>
                </a:r>
              </a:p>
              <a:p>
                <a:pPr lvl="2"/>
                <a:r>
                  <a:rPr lang="en-US" dirty="0"/>
                  <a:t>Q = 2 (Nyquist sampling) for samples without aliasing</a:t>
                </a:r>
              </a:p>
              <a:p>
                <a:pPr lvl="2"/>
                <a:r>
                  <a:rPr lang="en-US" dirty="0"/>
                  <a:t>The upper graphic at right shows this in spatial frequency</a:t>
                </a:r>
              </a:p>
              <a:p>
                <a:r>
                  <a:rPr lang="en-US" dirty="0"/>
                  <a:t>When Q &lt; 2, </a:t>
                </a:r>
                <a:r>
                  <a:rPr lang="en-US" b="1" i="1" dirty="0">
                    <a:solidFill>
                      <a:schemeClr val="accent1"/>
                    </a:solidFill>
                  </a:rPr>
                  <a:t>aliasing</a:t>
                </a:r>
                <a:r>
                  <a:rPr lang="en-US" i="1" dirty="0"/>
                  <a:t> </a:t>
                </a:r>
                <a:r>
                  <a:rPr lang="en-US" dirty="0"/>
                  <a:t>is the result </a:t>
                </a:r>
              </a:p>
              <a:p>
                <a:pPr lvl="1"/>
                <a:r>
                  <a:rPr lang="en-US" dirty="0"/>
                  <a:t>This occurs when optics can resolve spatial features, but detectors are too wide to sense separations in the optical field falling on the detector pixels</a:t>
                </a:r>
              </a:p>
              <a:p>
                <a:pPr lvl="1"/>
                <a:r>
                  <a:rPr lang="en-US" dirty="0"/>
                  <a:t>The lower graphic at right shows how sampling in the focal plane creates spatial domain aliasing</a:t>
                </a:r>
              </a:p>
              <a:p>
                <a:pPr lvl="1"/>
                <a:r>
                  <a:rPr lang="en-US" dirty="0"/>
                  <a:t>The Test Pattern previous emphasizes frequency domain effects of aliasing</a:t>
                </a:r>
              </a:p>
            </p:txBody>
          </p:sp>
        </mc:Choice>
        <mc:Fallback xmlns="">
          <p:sp>
            <p:nvSpPr>
              <p:cNvPr id="2" name="Content Placeholder 1">
                <a:extLst>
                  <a:ext uri="{FF2B5EF4-FFF2-40B4-BE49-F238E27FC236}">
                    <a16:creationId xmlns:a16="http://schemas.microsoft.com/office/drawing/2014/main" id="{80D03D1D-C542-F2D1-D9B8-CB0E55F6B622}"/>
                  </a:ext>
                </a:extLst>
              </p:cNvPr>
              <p:cNvSpPr>
                <a:spLocks noGrp="1" noRot="1" noChangeAspect="1" noMove="1" noResize="1" noEditPoints="1" noAdjustHandles="1" noChangeArrowheads="1" noChangeShapeType="1" noTextEdit="1"/>
              </p:cNvSpPr>
              <p:nvPr>
                <p:ph idx="1"/>
              </p:nvPr>
            </p:nvSpPr>
            <p:spPr>
              <a:xfrm>
                <a:off x="420802" y="878564"/>
                <a:ext cx="6937097" cy="5588912"/>
              </a:xfrm>
              <a:blipFill>
                <a:blip r:embed="rId2"/>
                <a:stretch>
                  <a:fillRect l="-967" t="-130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117529C-6A6B-0000-8A03-572C7DD6A1FE}"/>
              </a:ext>
            </a:extLst>
          </p:cNvPr>
          <p:cNvSpPr>
            <a:spLocks noGrp="1"/>
          </p:cNvSpPr>
          <p:nvPr>
            <p:ph type="sldNum" sz="quarter" idx="12"/>
          </p:nvPr>
        </p:nvSpPr>
        <p:spPr/>
        <p:txBody>
          <a:bodyPr/>
          <a:lstStyle/>
          <a:p>
            <a:fld id="{9EA51DAC-3F90-4AAD-A1AF-FE7171D4A594}" type="slidenum">
              <a:rPr lang="en-US" smtClean="0"/>
              <a:pPr/>
              <a:t>18</a:t>
            </a:fld>
            <a:endParaRPr lang="en-US"/>
          </a:p>
        </p:txBody>
      </p:sp>
      <p:sp>
        <p:nvSpPr>
          <p:cNvPr id="4" name="Title 3">
            <a:extLst>
              <a:ext uri="{FF2B5EF4-FFF2-40B4-BE49-F238E27FC236}">
                <a16:creationId xmlns:a16="http://schemas.microsoft.com/office/drawing/2014/main" id="{A245A610-D37B-28A4-2E82-35DF961C5BB2}"/>
              </a:ext>
            </a:extLst>
          </p:cNvPr>
          <p:cNvSpPr>
            <a:spLocks noGrp="1"/>
          </p:cNvSpPr>
          <p:nvPr>
            <p:ph type="title"/>
          </p:nvPr>
        </p:nvSpPr>
        <p:spPr/>
        <p:txBody>
          <a:bodyPr/>
          <a:lstStyle/>
          <a:p>
            <a:r>
              <a:rPr lang="en-US" dirty="0"/>
              <a:t>Quality Factor (Q) Metric</a:t>
            </a:r>
          </a:p>
        </p:txBody>
      </p:sp>
      <p:grpSp>
        <p:nvGrpSpPr>
          <p:cNvPr id="10" name="Group 9">
            <a:extLst>
              <a:ext uri="{FF2B5EF4-FFF2-40B4-BE49-F238E27FC236}">
                <a16:creationId xmlns:a16="http://schemas.microsoft.com/office/drawing/2014/main" id="{AA3DFD43-5F1A-E563-FA92-4CD28C63984C}"/>
              </a:ext>
            </a:extLst>
          </p:cNvPr>
          <p:cNvGrpSpPr/>
          <p:nvPr/>
        </p:nvGrpSpPr>
        <p:grpSpPr>
          <a:xfrm>
            <a:off x="7357899" y="629843"/>
            <a:ext cx="4456145" cy="5824973"/>
            <a:chOff x="7357899" y="623580"/>
            <a:chExt cx="4456145" cy="5824973"/>
          </a:xfrm>
        </p:grpSpPr>
        <p:pic>
          <p:nvPicPr>
            <p:cNvPr id="6" name="Picture 5">
              <a:extLst>
                <a:ext uri="{FF2B5EF4-FFF2-40B4-BE49-F238E27FC236}">
                  <a16:creationId xmlns:a16="http://schemas.microsoft.com/office/drawing/2014/main" id="{E9DFF9C2-C5DE-76BC-AC23-55BFDFCB74AC}"/>
                </a:ext>
              </a:extLst>
            </p:cNvPr>
            <p:cNvPicPr>
              <a:picLocks noChangeAspect="1"/>
            </p:cNvPicPr>
            <p:nvPr/>
          </p:nvPicPr>
          <p:blipFill>
            <a:blip r:embed="rId3"/>
            <a:stretch>
              <a:fillRect/>
            </a:stretch>
          </p:blipFill>
          <p:spPr>
            <a:xfrm>
              <a:off x="7357899" y="623580"/>
              <a:ext cx="4456145" cy="2805420"/>
            </a:xfrm>
            <a:prstGeom prst="rect">
              <a:avLst/>
            </a:prstGeom>
          </p:spPr>
        </p:pic>
        <p:sp>
          <p:nvSpPr>
            <p:cNvPr id="7" name="TextBox 6">
              <a:extLst>
                <a:ext uri="{FF2B5EF4-FFF2-40B4-BE49-F238E27FC236}">
                  <a16:creationId xmlns:a16="http://schemas.microsoft.com/office/drawing/2014/main" id="{E27D7D55-07B2-6356-6C23-1CEAA7EE743E}"/>
                </a:ext>
              </a:extLst>
            </p:cNvPr>
            <p:cNvSpPr txBox="1"/>
            <p:nvPr/>
          </p:nvSpPr>
          <p:spPr>
            <a:xfrm>
              <a:off x="9418320" y="6202332"/>
              <a:ext cx="2395724" cy="246221"/>
            </a:xfrm>
            <a:prstGeom prst="rect">
              <a:avLst/>
            </a:prstGeom>
            <a:solidFill>
              <a:schemeClr val="bg1"/>
            </a:solidFill>
          </p:spPr>
          <p:txBody>
            <a:bodyPr wrap="square" rtlCol="0">
              <a:spAutoFit/>
            </a:bodyPr>
            <a:lstStyle/>
            <a:p>
              <a:pPr algn="r"/>
              <a:r>
                <a:rPr lang="en-US" sz="1000" dirty="0"/>
                <a:t>Fiete, 1999. Opt. Eng. 38(7), 1229-1240.</a:t>
              </a:r>
            </a:p>
          </p:txBody>
        </p:sp>
        <p:pic>
          <p:nvPicPr>
            <p:cNvPr id="9" name="Picture 8">
              <a:extLst>
                <a:ext uri="{FF2B5EF4-FFF2-40B4-BE49-F238E27FC236}">
                  <a16:creationId xmlns:a16="http://schemas.microsoft.com/office/drawing/2014/main" id="{6619966E-EF79-EACB-9F9D-88B1E4463434}"/>
                </a:ext>
              </a:extLst>
            </p:cNvPr>
            <p:cNvPicPr>
              <a:picLocks noChangeAspect="1"/>
            </p:cNvPicPr>
            <p:nvPr/>
          </p:nvPicPr>
          <p:blipFill>
            <a:blip r:embed="rId4"/>
            <a:stretch>
              <a:fillRect/>
            </a:stretch>
          </p:blipFill>
          <p:spPr>
            <a:xfrm>
              <a:off x="7360916" y="3373416"/>
              <a:ext cx="4453128" cy="2839076"/>
            </a:xfrm>
            <a:prstGeom prst="rect">
              <a:avLst/>
            </a:prstGeom>
          </p:spPr>
        </p:pic>
      </p:grpSp>
    </p:spTree>
    <p:extLst>
      <p:ext uri="{BB962C8B-B14F-4D97-AF65-F5344CB8AC3E}">
        <p14:creationId xmlns:p14="http://schemas.microsoft.com/office/powerpoint/2010/main" val="2043561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F243AFE-F037-339B-B81E-49432EEF364A}"/>
                  </a:ext>
                </a:extLst>
              </p:cNvPr>
              <p:cNvSpPr>
                <a:spLocks noGrp="1"/>
              </p:cNvSpPr>
              <p:nvPr>
                <p:ph idx="1"/>
              </p:nvPr>
            </p:nvSpPr>
            <p:spPr/>
            <p:txBody>
              <a:bodyPr>
                <a:normAutofit/>
              </a:bodyPr>
              <a:lstStyle/>
              <a:p>
                <a:pPr marL="457200" indent="-457200">
                  <a:buFont typeface="+mj-lt"/>
                  <a:buAutoNum type="arabicPeriod"/>
                </a:pPr>
                <a:r>
                  <a:rPr lang="en-US" dirty="0"/>
                  <a:t>The method by which MTF was measured is not explicitly stated</a:t>
                </a:r>
              </a:p>
              <a:p>
                <a:pPr lvl="1"/>
                <a:r>
                  <a:rPr lang="en-US" dirty="0"/>
                  <a:t>The logical assumption is that focal plane data was used with some kind of test chart</a:t>
                </a:r>
              </a:p>
              <a:p>
                <a:pPr marL="457200" indent="-457200">
                  <a:buFont typeface="+mj-lt"/>
                  <a:buAutoNum type="arabicPeriod"/>
                </a:pPr>
                <a:r>
                  <a:rPr lang="en-US" dirty="0"/>
                  <a:t>MTF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0.456, demonstrates that the data was undersampled</a:t>
                </a:r>
              </a:p>
              <a:p>
                <a:pPr lvl="1"/>
                <a:r>
                  <a:rPr lang="en-US" dirty="0"/>
                  <a:t>Data values added together at larger sample spacing cause a lower limit to the MTF as in plot on the top of the previous slide</a:t>
                </a:r>
              </a:p>
              <a:p>
                <a:pPr lvl="1"/>
                <a:r>
                  <a:rPr lang="en-US" dirty="0"/>
                  <a:t>This can be seen from sampling calculations for ZY-3 using the “Quality Factor”, </a:t>
                </a:r>
                <a14:m>
                  <m:oMath xmlns:m="http://schemas.openxmlformats.org/officeDocument/2006/math">
                    <m:r>
                      <a:rPr lang="en-US" i="1">
                        <a:latin typeface="Cambria Math" panose="02040503050406030204" pitchFamily="18" charset="0"/>
                      </a:rPr>
                      <m:t>𝑄</m:t>
                    </m:r>
                  </m:oMath>
                </a14:m>
                <a:r>
                  <a:rPr lang="en-US" dirty="0"/>
                  <a:t>:</a:t>
                </a:r>
              </a:p>
              <a:p>
                <a:pPr lvl="1"/>
                <a:endParaRPr lang="en-US" sz="800" dirty="0"/>
              </a:p>
              <a:p>
                <a:pPr marL="23495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𝐹</m:t>
                              </m:r>
                            </m:e>
                            <m:sub>
                              <m:r>
                                <a:rPr lang="en-US" b="0" i="1" smtClean="0">
                                  <a:latin typeface="Cambria Math" panose="02040503050406030204" pitchFamily="18" charset="0"/>
                                  <a:ea typeface="Cambria Math" panose="02040503050406030204" pitchFamily="18" charset="0"/>
                                </a:rPr>
                                <m:t>𝑁</m:t>
                              </m:r>
                            </m:sub>
                          </m:sSub>
                        </m:num>
                        <m:den>
                          <m:r>
                            <a:rPr lang="en-US" b="0" i="1" smtClean="0">
                              <a:latin typeface="Cambria Math" panose="02040503050406030204" pitchFamily="18" charset="0"/>
                            </a:rPr>
                            <m:t>𝑝</m:t>
                          </m:r>
                        </m:den>
                      </m:f>
                    </m:oMath>
                  </m:oMathPara>
                </a14:m>
                <a:endParaRPr lang="en-US" b="0" dirty="0"/>
              </a:p>
              <a:p>
                <a:pPr marL="234950" lvl="1" indent="0">
                  <a:buNone/>
                </a:pPr>
                <a:endParaRPr lang="en-US" sz="900" b="0" dirty="0"/>
              </a:p>
              <a:p>
                <a:pPr marL="234950" lvl="1" indent="0" algn="ctr">
                  <a:buNone/>
                </a:pPr>
                <a:r>
                  <a:rPr lang="en-US" sz="1800" dirty="0"/>
                  <a:t>Where, </a:t>
                </a:r>
                <a14:m>
                  <m:oMath xmlns:m="http://schemas.openxmlformats.org/officeDocument/2006/math">
                    <m:r>
                      <a:rPr lang="en-US" sz="1800" i="1">
                        <a:latin typeface="Cambria Math" panose="02040503050406030204" pitchFamily="18" charset="0"/>
                        <a:ea typeface="Cambria Math" panose="02040503050406030204" pitchFamily="18" charset="0"/>
                      </a:rPr>
                      <m:t>𝜆</m:t>
                    </m:r>
                  </m:oMath>
                </a14:m>
                <a:r>
                  <a:rPr lang="en-US" sz="1800" dirty="0"/>
                  <a:t> = the illumination wavelength,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𝐹</m:t>
                        </m:r>
                      </m:e>
                      <m:sub>
                        <m:r>
                          <a:rPr lang="en-US" sz="1800" i="1">
                            <a:latin typeface="Cambria Math" panose="02040503050406030204" pitchFamily="18" charset="0"/>
                            <a:ea typeface="Cambria Math" panose="02040503050406030204" pitchFamily="18" charset="0"/>
                          </a:rPr>
                          <m:t>𝑛</m:t>
                        </m:r>
                      </m:sub>
                    </m:sSub>
                  </m:oMath>
                </a14:m>
                <a:r>
                  <a:rPr lang="en-US" sz="1800" dirty="0"/>
                  <a:t>= optical F-Number, </a:t>
                </a:r>
                <a14:m>
                  <m:oMath xmlns:m="http://schemas.openxmlformats.org/officeDocument/2006/math">
                    <m:r>
                      <a:rPr lang="en-US" sz="1800" i="1">
                        <a:latin typeface="Cambria Math" panose="02040503050406030204" pitchFamily="18" charset="0"/>
                      </a:rPr>
                      <m:t>𝑝</m:t>
                    </m:r>
                  </m:oMath>
                </a14:m>
                <a:r>
                  <a:rPr lang="en-US" sz="1800" dirty="0"/>
                  <a:t> = detector sample size (“pitch”)</a:t>
                </a:r>
              </a:p>
              <a:p>
                <a:pPr marL="234950" lvl="1" indent="0" algn="ctr">
                  <a:buNone/>
                </a:pPr>
                <a:endParaRPr lang="en-US" sz="1800" dirty="0"/>
              </a:p>
              <a:p>
                <a:pPr lvl="2"/>
                <a:r>
                  <a:rPr lang="en-US" dirty="0"/>
                  <a:t>For ZY-3, with </a:t>
                </a:r>
                <a14:m>
                  <m:oMath xmlns:m="http://schemas.openxmlformats.org/officeDocument/2006/math">
                    <m:r>
                      <a:rPr lang="en-US" i="1">
                        <a:latin typeface="Cambria Math" panose="02040503050406030204" pitchFamily="18" charset="0"/>
                        <a:ea typeface="Cambria Math" panose="02040503050406030204" pitchFamily="18" charset="0"/>
                      </a:rPr>
                      <m:t>𝜆</m:t>
                    </m:r>
                  </m:oMath>
                </a14:m>
                <a:r>
                  <a:rPr lang="en-US" dirty="0"/>
                  <a:t> = 550 nm,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𝐹</m:t>
                        </m:r>
                      </m:e>
                      <m:sub>
                        <m:r>
                          <a:rPr lang="en-US" i="1">
                            <a:latin typeface="Cambria Math" panose="02040503050406030204" pitchFamily="18" charset="0"/>
                            <a:ea typeface="Cambria Math" panose="02040503050406030204" pitchFamily="18" charset="0"/>
                          </a:rPr>
                          <m:t>𝑛</m:t>
                        </m:r>
                      </m:sub>
                    </m:sSub>
                  </m:oMath>
                </a14:m>
                <a:r>
                  <a:rPr lang="en-US" dirty="0"/>
                  <a:t> = 1.75/0.217 (primary smallest dimension), </a:t>
                </a:r>
                <a14:m>
                  <m:oMath xmlns:m="http://schemas.openxmlformats.org/officeDocument/2006/math">
                    <m:r>
                      <a:rPr lang="en-US" i="1">
                        <a:latin typeface="Cambria Math" panose="02040503050406030204" pitchFamily="18" charset="0"/>
                      </a:rPr>
                      <m:t>𝑝</m:t>
                    </m:r>
                  </m:oMath>
                </a14:m>
                <a:r>
                  <a:rPr lang="en-US" dirty="0"/>
                  <a:t> = 7 </a:t>
                </a:r>
                <a14:m>
                  <m:oMath xmlns:m="http://schemas.openxmlformats.org/officeDocument/2006/math">
                    <m:r>
                      <m:rPr>
                        <m:sty m:val="p"/>
                      </m:rPr>
                      <a:rPr lang="en-US" i="0" smtClean="0">
                        <a:latin typeface="Cambria Math" panose="02040503050406030204" pitchFamily="18" charset="0"/>
                        <a:ea typeface="Cambria Math" panose="02040503050406030204" pitchFamily="18" charset="0"/>
                      </a:rPr>
                      <m:t>μ</m:t>
                    </m:r>
                    <m:r>
                      <m:rPr>
                        <m:sty m:val="p"/>
                      </m:rPr>
                      <a:rPr lang="en-US" b="0" i="0" smtClean="0">
                        <a:latin typeface="Cambria Math" panose="02040503050406030204" pitchFamily="18" charset="0"/>
                        <a:ea typeface="Cambria Math" panose="02040503050406030204" pitchFamily="18" charset="0"/>
                      </a:rPr>
                      <m:t>m</m:t>
                    </m:r>
                  </m:oMath>
                </a14:m>
                <a:r>
                  <a:rPr lang="en-US" dirty="0"/>
                  <a:t>, we have:</a:t>
                </a:r>
              </a:p>
              <a:p>
                <a:pPr lvl="2"/>
                <a:endParaRPr lang="en-US" sz="700" dirty="0"/>
              </a:p>
              <a:p>
                <a:pPr marL="455612" lvl="2"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𝑄</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0.64</m:t>
                      </m:r>
                    </m:oMath>
                  </m:oMathPara>
                </a14:m>
                <a:endParaRPr lang="en-US" dirty="0"/>
              </a:p>
              <a:p>
                <a:pPr marL="455612" lvl="2" indent="0">
                  <a:buNone/>
                </a:pPr>
                <a:endParaRPr lang="en-US" sz="600" dirty="0"/>
              </a:p>
              <a:p>
                <a:pPr lvl="2"/>
                <a:r>
                  <a:rPr lang="en-US" dirty="0"/>
                  <a:t>And for the case of the largest primary dimension (0.316 m)</a:t>
                </a:r>
              </a:p>
              <a:p>
                <a:pPr lvl="2"/>
                <a:endParaRPr lang="en-US" sz="600" dirty="0"/>
              </a:p>
              <a:p>
                <a:pPr marL="455612" lvl="2"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𝑄</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r>
                        <a:rPr lang="en-US" b="0" i="1" smtClean="0">
                          <a:latin typeface="Cambria Math" panose="02040503050406030204" pitchFamily="18" charset="0"/>
                        </a:rPr>
                        <m:t>4</m:t>
                      </m:r>
                      <m:r>
                        <a:rPr lang="en-US" i="1">
                          <a:latin typeface="Cambria Math" panose="02040503050406030204" pitchFamily="18" charset="0"/>
                        </a:rPr>
                        <m:t>4</m:t>
                      </m:r>
                    </m:oMath>
                  </m:oMathPara>
                </a14:m>
                <a:endParaRPr lang="en-US" dirty="0"/>
              </a:p>
              <a:p>
                <a:pPr marL="455612" lvl="2" indent="0">
                  <a:buNone/>
                </a:pPr>
                <a:endParaRPr lang="en-US" sz="600" dirty="0"/>
              </a:p>
              <a:p>
                <a:pPr lvl="2"/>
                <a:r>
                  <a:rPr lang="en-US" dirty="0"/>
                  <a:t>Unfortunately, </a:t>
                </a:r>
                <a:r>
                  <a:rPr lang="en-US" i="1" dirty="0"/>
                  <a:t>to prevent subsampling errors: the required value is  </a:t>
                </a:r>
                <a14:m>
                  <m:oMath xmlns:m="http://schemas.openxmlformats.org/officeDocument/2006/math">
                    <m:r>
                      <a:rPr lang="en-US" i="1">
                        <a:latin typeface="Cambria Math" panose="02040503050406030204" pitchFamily="18" charset="0"/>
                      </a:rPr>
                      <m:t>𝑄</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2.0</m:t>
                    </m:r>
                  </m:oMath>
                </a14:m>
                <a:endParaRPr lang="en-US" dirty="0"/>
              </a:p>
            </p:txBody>
          </p:sp>
        </mc:Choice>
        <mc:Fallback xmlns="">
          <p:sp>
            <p:nvSpPr>
              <p:cNvPr id="2" name="Content Placeholder 1">
                <a:extLst>
                  <a:ext uri="{FF2B5EF4-FFF2-40B4-BE49-F238E27FC236}">
                    <a16:creationId xmlns:a16="http://schemas.microsoft.com/office/drawing/2014/main" id="{5F243AFE-F037-339B-B81E-49432EEF364A}"/>
                  </a:ext>
                </a:extLst>
              </p:cNvPr>
              <p:cNvSpPr>
                <a:spLocks noGrp="1" noRot="1" noChangeAspect="1" noMove="1" noResize="1" noEditPoints="1" noAdjustHandles="1" noChangeArrowheads="1" noChangeShapeType="1" noTextEdit="1"/>
              </p:cNvSpPr>
              <p:nvPr>
                <p:ph idx="1"/>
              </p:nvPr>
            </p:nvSpPr>
            <p:spPr>
              <a:blipFill>
                <a:blip r:embed="rId2"/>
                <a:stretch>
                  <a:fillRect l="-856" t="-9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97518127-51EE-C599-CEAC-261E06FE0AF8}"/>
              </a:ext>
            </a:extLst>
          </p:cNvPr>
          <p:cNvSpPr>
            <a:spLocks noGrp="1"/>
          </p:cNvSpPr>
          <p:nvPr>
            <p:ph type="sldNum" sz="quarter" idx="12"/>
          </p:nvPr>
        </p:nvSpPr>
        <p:spPr/>
        <p:txBody>
          <a:bodyPr/>
          <a:lstStyle/>
          <a:p>
            <a:fld id="{9EA51DAC-3F90-4AAD-A1AF-FE7171D4A594}" type="slidenum">
              <a:rPr lang="en-US" smtClean="0"/>
              <a:pPr/>
              <a:t>19</a:t>
            </a:fld>
            <a:endParaRPr lang="en-US"/>
          </a:p>
        </p:txBody>
      </p:sp>
      <p:sp>
        <p:nvSpPr>
          <p:cNvPr id="4" name="Title 3">
            <a:extLst>
              <a:ext uri="{FF2B5EF4-FFF2-40B4-BE49-F238E27FC236}">
                <a16:creationId xmlns:a16="http://schemas.microsoft.com/office/drawing/2014/main" id="{F7113B53-6E85-3F20-0B5A-96D9575218EE}"/>
              </a:ext>
            </a:extLst>
          </p:cNvPr>
          <p:cNvSpPr>
            <a:spLocks noGrp="1"/>
          </p:cNvSpPr>
          <p:nvPr>
            <p:ph type="title"/>
          </p:nvPr>
        </p:nvSpPr>
        <p:spPr/>
        <p:txBody>
          <a:bodyPr/>
          <a:lstStyle/>
          <a:p>
            <a:r>
              <a:rPr lang="en-US" dirty="0"/>
              <a:t>Conclusions to Draw from MTF Data presented in </a:t>
            </a:r>
            <a:r>
              <a:rPr lang="en-US" i="1" dirty="0"/>
              <a:t>Fan et al 2012 </a:t>
            </a:r>
            <a:r>
              <a:rPr lang="en-US" dirty="0"/>
              <a:t>(1 of 2)</a:t>
            </a:r>
          </a:p>
        </p:txBody>
      </p:sp>
    </p:spTree>
    <p:extLst>
      <p:ext uri="{BB962C8B-B14F-4D97-AF65-F5344CB8AC3E}">
        <p14:creationId xmlns:p14="http://schemas.microsoft.com/office/powerpoint/2010/main" val="1459610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E6B777B-D23B-B80F-C385-089648297B4A}"/>
                  </a:ext>
                </a:extLst>
              </p:cNvPr>
              <p:cNvSpPr>
                <a:spLocks noGrp="1"/>
              </p:cNvSpPr>
              <p:nvPr>
                <p:ph idx="1"/>
              </p:nvPr>
            </p:nvSpPr>
            <p:spPr/>
            <p:txBody>
              <a:bodyPr/>
              <a:lstStyle/>
              <a:p>
                <a:pPr marL="457200" indent="-457200">
                  <a:buFont typeface="+mj-lt"/>
                  <a:buAutoNum type="arabicPeriod" startAt="3"/>
                </a:pPr>
                <a:r>
                  <a:rPr lang="en-US" dirty="0"/>
                  <a:t>The focal plane sampling present in the ZY-3 optical system is the reason that measured MTF values were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0.456</m:t>
                    </m:r>
                  </m:oMath>
                </a14:m>
                <a:endParaRPr lang="en-US" dirty="0"/>
              </a:p>
              <a:p>
                <a:pPr lvl="1"/>
                <a:r>
                  <a:rPr lang="en-US" dirty="0"/>
                  <a:t>A test chart for MTF measurements will have a given spectral content, and a good test chart will contain sufficient detail for very high spatial frequency content </a:t>
                </a:r>
              </a:p>
              <a:p>
                <a:pPr lvl="2"/>
                <a:r>
                  <a:rPr lang="en-US" dirty="0"/>
                  <a:t>The test chart spatial frequency spectrum will go to zero at the optical diffraction limit cutoff</a:t>
                </a:r>
              </a:p>
              <a:p>
                <a:pPr lvl="1"/>
                <a:r>
                  <a:rPr lang="en-US" dirty="0"/>
                  <a:t>In the optical system for the ZY-3 ODM, overlapping of optical information, as indicated by Q, add to no MTF values less than </a:t>
                </a:r>
                <a14:m>
                  <m:oMath xmlns:m="http://schemas.openxmlformats.org/officeDocument/2006/math">
                    <m:r>
                      <a:rPr lang="en-US" i="1">
                        <a:latin typeface="Cambria Math" panose="02040503050406030204" pitchFamily="18" charset="0"/>
                        <a:ea typeface="Cambria Math" panose="02040503050406030204" pitchFamily="18" charset="0"/>
                      </a:rPr>
                      <m:t>0.4</m:t>
                    </m:r>
                    <m:r>
                      <a:rPr lang="en-US" b="0" i="1" smtClean="0">
                        <a:latin typeface="Cambria Math" panose="02040503050406030204" pitchFamily="18" charset="0"/>
                        <a:ea typeface="Cambria Math" panose="02040503050406030204" pitchFamily="18" charset="0"/>
                      </a:rPr>
                      <m:t>56</m:t>
                    </m:r>
                  </m:oMath>
                </a14:m>
                <a:endParaRPr lang="en-US" dirty="0"/>
              </a:p>
              <a:p>
                <a:pPr lvl="1"/>
                <a:r>
                  <a:rPr lang="en-US" dirty="0"/>
                  <a:t>For the 7 </a:t>
                </a:r>
                <a14:m>
                  <m:oMath xmlns:m="http://schemas.openxmlformats.org/officeDocument/2006/math">
                    <m:r>
                      <m:rPr>
                        <m:sty m:val="p"/>
                      </m:rPr>
                      <a:rPr lang="en-US">
                        <a:latin typeface="Cambria Math" panose="02040503050406030204" pitchFamily="18" charset="0"/>
                        <a:ea typeface="Cambria Math" panose="02040503050406030204" pitchFamily="18" charset="0"/>
                      </a:rPr>
                      <m:t>μm</m:t>
                    </m:r>
                  </m:oMath>
                </a14:m>
                <a:r>
                  <a:rPr lang="en-US" dirty="0"/>
                  <a:t> detector pixels the optical focal length must be increased, the primary aperture sizes decreased, or some combination of the two, to prevent subsampling errors</a:t>
                </a:r>
              </a:p>
              <a:p>
                <a:pPr marL="457200" indent="-457200">
                  <a:buFont typeface="+mj-lt"/>
                  <a:buAutoNum type="arabicPeriod" startAt="4"/>
                </a:pPr>
                <a:r>
                  <a:rPr lang="en-US" dirty="0"/>
                  <a:t>For “nearly diffraction limited performance”, MTF values approach </a:t>
                </a:r>
                <a14:m>
                  <m:oMath xmlns:m="http://schemas.openxmlformats.org/officeDocument/2006/math">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0</m:t>
                    </m:r>
                  </m:oMath>
                </a14:m>
                <a:r>
                  <a:rPr lang="en-US" dirty="0"/>
                  <a:t> at the maximum resolvable spatial frequency</a:t>
                </a:r>
              </a:p>
              <a:p>
                <a:pPr lvl="1"/>
                <a:r>
                  <a:rPr lang="en-US" i="1" dirty="0"/>
                  <a:t>Fan et al, 2012 </a:t>
                </a:r>
                <a:r>
                  <a:rPr lang="en-US" dirty="0"/>
                  <a:t>does not explain the reason for MTF values being limited to a “floor value” of </a:t>
                </a:r>
                <a14:m>
                  <m:oMath xmlns:m="http://schemas.openxmlformats.org/officeDocument/2006/math">
                    <m:r>
                      <a:rPr lang="en-US" i="1">
                        <a:latin typeface="Cambria Math" panose="02040503050406030204" pitchFamily="18" charset="0"/>
                        <a:ea typeface="Cambria Math" panose="02040503050406030204" pitchFamily="18" charset="0"/>
                      </a:rPr>
                      <m:t>0.4</m:t>
                    </m:r>
                    <m:r>
                      <a:rPr lang="en-US" b="0" i="1" smtClean="0">
                        <a:latin typeface="Cambria Math" panose="02040503050406030204" pitchFamily="18" charset="0"/>
                        <a:ea typeface="Cambria Math" panose="02040503050406030204" pitchFamily="18" charset="0"/>
                      </a:rPr>
                      <m:t>56</m:t>
                    </m:r>
                  </m:oMath>
                </a14:m>
                <a:endParaRPr lang="en-US" dirty="0"/>
              </a:p>
              <a:p>
                <a:pPr lvl="1"/>
                <a:r>
                  <a:rPr lang="en-US" dirty="0"/>
                  <a:t>It is unclear if the authors are aware of the sampling problems and effects being described here</a:t>
                </a:r>
              </a:p>
            </p:txBody>
          </p:sp>
        </mc:Choice>
        <mc:Fallback xmlns="">
          <p:sp>
            <p:nvSpPr>
              <p:cNvPr id="2" name="Content Placeholder 1">
                <a:extLst>
                  <a:ext uri="{FF2B5EF4-FFF2-40B4-BE49-F238E27FC236}">
                    <a16:creationId xmlns:a16="http://schemas.microsoft.com/office/drawing/2014/main" id="{8E6B777B-D23B-B80F-C385-089648297B4A}"/>
                  </a:ext>
                </a:extLst>
              </p:cNvPr>
              <p:cNvSpPr>
                <a:spLocks noGrp="1" noRot="1" noChangeAspect="1" noMove="1" noResize="1" noEditPoints="1" noAdjustHandles="1" noChangeArrowheads="1" noChangeShapeType="1" noTextEdit="1"/>
              </p:cNvSpPr>
              <p:nvPr>
                <p:ph idx="1"/>
              </p:nvPr>
            </p:nvSpPr>
            <p:spPr>
              <a:blipFill>
                <a:blip r:embed="rId2"/>
                <a:stretch>
                  <a:fillRect l="-856" t="-9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2BCF80F-6086-0482-970E-68918DB46DE3}"/>
              </a:ext>
            </a:extLst>
          </p:cNvPr>
          <p:cNvSpPr>
            <a:spLocks noGrp="1"/>
          </p:cNvSpPr>
          <p:nvPr>
            <p:ph type="sldNum" sz="quarter" idx="12"/>
          </p:nvPr>
        </p:nvSpPr>
        <p:spPr/>
        <p:txBody>
          <a:bodyPr/>
          <a:lstStyle/>
          <a:p>
            <a:fld id="{9EA51DAC-3F90-4AAD-A1AF-FE7171D4A594}" type="slidenum">
              <a:rPr lang="en-US" smtClean="0"/>
              <a:pPr/>
              <a:t>20</a:t>
            </a:fld>
            <a:endParaRPr lang="en-US"/>
          </a:p>
        </p:txBody>
      </p:sp>
      <p:sp>
        <p:nvSpPr>
          <p:cNvPr id="4" name="Title 3">
            <a:extLst>
              <a:ext uri="{FF2B5EF4-FFF2-40B4-BE49-F238E27FC236}">
                <a16:creationId xmlns:a16="http://schemas.microsoft.com/office/drawing/2014/main" id="{6E35C7C3-BABB-C2DC-5019-D6FF593F080E}"/>
              </a:ext>
            </a:extLst>
          </p:cNvPr>
          <p:cNvSpPr>
            <a:spLocks noGrp="1"/>
          </p:cNvSpPr>
          <p:nvPr>
            <p:ph type="title"/>
          </p:nvPr>
        </p:nvSpPr>
        <p:spPr/>
        <p:txBody>
          <a:bodyPr/>
          <a:lstStyle/>
          <a:p>
            <a:r>
              <a:rPr lang="en-US" dirty="0"/>
              <a:t>Conclusions to Draw from MTF Data presented in </a:t>
            </a:r>
            <a:r>
              <a:rPr lang="en-US" i="1" dirty="0"/>
              <a:t>Fan et al 2012 </a:t>
            </a:r>
            <a:r>
              <a:rPr lang="en-US" dirty="0"/>
              <a:t>(2 of 2)</a:t>
            </a:r>
          </a:p>
        </p:txBody>
      </p:sp>
    </p:spTree>
    <p:extLst>
      <p:ext uri="{BB962C8B-B14F-4D97-AF65-F5344CB8AC3E}">
        <p14:creationId xmlns:p14="http://schemas.microsoft.com/office/powerpoint/2010/main" val="2915300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B30AF8E-43FE-7A2A-0031-3751AC1F6B83}"/>
                  </a:ext>
                </a:extLst>
              </p:cNvPr>
              <p:cNvSpPr>
                <a:spLocks noGrp="1"/>
              </p:cNvSpPr>
              <p:nvPr>
                <p:ph idx="1"/>
              </p:nvPr>
            </p:nvSpPr>
            <p:spPr/>
            <p:txBody>
              <a:bodyPr>
                <a:normAutofit/>
              </a:bodyPr>
              <a:lstStyle/>
              <a:p>
                <a:r>
                  <a:rPr lang="en-US" i="1" dirty="0"/>
                  <a:t>Fan et al, 2012 </a:t>
                </a:r>
                <a:r>
                  <a:rPr lang="en-US" dirty="0"/>
                  <a:t>states panchromatic 7 um pixel pitch</a:t>
                </a:r>
              </a:p>
              <a:p>
                <a:pPr lvl="1"/>
                <a:r>
                  <a:rPr lang="en-US" dirty="0"/>
                  <a:t>Cell phone cameras can have pixels that are much smaller (1-3 um)</a:t>
                </a:r>
              </a:p>
              <a:p>
                <a:pPr lvl="1"/>
                <a:r>
                  <a:rPr lang="en-US" dirty="0"/>
                  <a:t>7 um pixel size is common for science </a:t>
                </a:r>
                <a:r>
                  <a:rPr lang="en-US"/>
                  <a:t>sensors (</a:t>
                </a:r>
                <a:r>
                  <a:rPr lang="en-US" dirty="0"/>
                  <a:t>for astronomy or high spatial resolution)</a:t>
                </a:r>
              </a:p>
              <a:p>
                <a:pPr lvl="1"/>
                <a:r>
                  <a:rPr lang="en-US" dirty="0"/>
                  <a:t>State-of-the-art TDI sensors are often this size</a:t>
                </a:r>
              </a:p>
              <a:p>
                <a:pPr lvl="2"/>
                <a:r>
                  <a:rPr lang="en-US" dirty="0"/>
                  <a:t>Teledyne offers high-speed, high-resolution CMOS TDI sensors at 7 um</a:t>
                </a:r>
              </a:p>
              <a:p>
                <a:pPr lvl="2"/>
                <a:r>
                  <a:rPr lang="en-US" dirty="0"/>
                  <a:t>Typical range is 3.5-7 um</a:t>
                </a:r>
              </a:p>
              <a:p>
                <a:r>
                  <a:rPr lang="en-US" dirty="0"/>
                  <a:t>Stated 7 um pitch does not equate to 3.5 m GSD at 500 km altitude:</a:t>
                </a:r>
              </a:p>
              <a:p>
                <a:pPr marL="0" indent="0">
                  <a:buNone/>
                </a:pPr>
                <a:endParaRPr lang="en-US" sz="800" dirty="0"/>
              </a:p>
              <a:p>
                <a:pPr marL="0" indent="0">
                  <a:spcAft>
                    <a:spcPts val="600"/>
                  </a:spcAft>
                  <a:buNone/>
                </a:pPr>
                <a14:m>
                  <m:oMathPara xmlns:m="http://schemas.openxmlformats.org/officeDocument/2006/math">
                    <m:oMathParaPr>
                      <m:jc m:val="center"/>
                    </m:oMathParaPr>
                    <m:oMath xmlns:m="http://schemas.openxmlformats.org/officeDocument/2006/math">
                      <m:r>
                        <a:rPr lang="en-US" sz="2000" b="0" i="1" smtClean="0">
                          <a:latin typeface="Cambria Math" panose="02040503050406030204" pitchFamily="18" charset="0"/>
                        </a:rPr>
                        <m:t>𝐺𝑆𝐷</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𝑝𝑖𝑡𝑐h</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𝑎𝑙𝑡𝑖𝑡𝑢𝑑𝑒</m:t>
                          </m:r>
                        </m:num>
                        <m:den>
                          <m:r>
                            <a:rPr lang="en-US" sz="2000" b="0" i="1" smtClean="0">
                              <a:latin typeface="Cambria Math" panose="02040503050406030204" pitchFamily="18" charset="0"/>
                            </a:rPr>
                            <m:t>𝑓𝑜𝑐𝑎𝑙</m:t>
                          </m:r>
                          <m:r>
                            <a:rPr lang="en-US" sz="2000" b="0" i="1" smtClean="0">
                              <a:latin typeface="Cambria Math" panose="02040503050406030204" pitchFamily="18" charset="0"/>
                            </a:rPr>
                            <m:t> </m:t>
                          </m:r>
                          <m:r>
                            <a:rPr lang="en-US" sz="2000" b="0" i="1" smtClean="0">
                              <a:latin typeface="Cambria Math" panose="02040503050406030204" pitchFamily="18" charset="0"/>
                            </a:rPr>
                            <m:t>𝑙𝑒𝑛𝑔𝑡h</m:t>
                          </m:r>
                        </m:den>
                      </m:f>
                    </m:oMath>
                  </m:oMathPara>
                </a14:m>
                <a:endParaRPr lang="en-US" sz="2000" b="0" dirty="0"/>
              </a:p>
              <a:p>
                <a:pPr marL="0" indent="0">
                  <a:spcAft>
                    <a:spcPts val="600"/>
                  </a:spcAft>
                  <a:buNone/>
                </a:pPr>
                <a:endParaRPr lang="en-US" sz="800" b="0" dirty="0"/>
              </a:p>
              <a:p>
                <a:pPr marL="0" indent="0" algn="ctr">
                  <a:spcAft>
                    <a:spcPts val="600"/>
                  </a:spcAft>
                  <a:buNone/>
                </a:pPr>
                <a:r>
                  <a:rPr lang="en-US" sz="2000" dirty="0"/>
                  <a:t>Thus:  </a:t>
                </a:r>
                <a14:m>
                  <m:oMath xmlns:m="http://schemas.openxmlformats.org/officeDocument/2006/math">
                    <m:r>
                      <a:rPr lang="en-US" sz="2000" i="1">
                        <a:latin typeface="Cambria Math" panose="02040503050406030204" pitchFamily="18" charset="0"/>
                      </a:rPr>
                      <m:t>𝐺𝑆𝐷</m:t>
                    </m:r>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b="0" i="1" smtClean="0">
                            <a:latin typeface="Cambria Math" panose="02040503050406030204" pitchFamily="18" charset="0"/>
                          </a:rPr>
                          <m:t>0.007 </m:t>
                        </m:r>
                        <m:r>
                          <a:rPr lang="en-US" sz="2000" b="0" i="1" smtClean="0">
                            <a:latin typeface="Cambria Math" panose="02040503050406030204" pitchFamily="18" charset="0"/>
                          </a:rPr>
                          <m:t>𝑚𝑚</m:t>
                        </m:r>
                        <m:r>
                          <a:rPr lang="en-US" sz="2000" i="1">
                            <a:latin typeface="Cambria Math" panose="02040503050406030204" pitchFamily="18" charset="0"/>
                          </a:rPr>
                          <m:t> ×</m:t>
                        </m:r>
                        <m:r>
                          <a:rPr lang="en-US" sz="2000" b="0" i="1" smtClean="0">
                            <a:latin typeface="Cambria Math" panose="02040503050406030204" pitchFamily="18" charset="0"/>
                          </a:rPr>
                          <m:t>500,000 </m:t>
                        </m:r>
                        <m:r>
                          <a:rPr lang="en-US" sz="2000" b="0" i="1" smtClean="0">
                            <a:latin typeface="Cambria Math" panose="02040503050406030204" pitchFamily="18" charset="0"/>
                          </a:rPr>
                          <m:t>𝑚</m:t>
                        </m:r>
                      </m:num>
                      <m:den>
                        <m:r>
                          <a:rPr lang="en-US" sz="2000" b="0" i="1" smtClean="0">
                            <a:latin typeface="Cambria Math" panose="02040503050406030204" pitchFamily="18" charset="0"/>
                          </a:rPr>
                          <m:t>1750 </m:t>
                        </m:r>
                        <m:r>
                          <a:rPr lang="en-US" sz="2000" b="0" i="1" smtClean="0">
                            <a:latin typeface="Cambria Math" panose="02040503050406030204" pitchFamily="18" charset="0"/>
                          </a:rPr>
                          <m:t>𝑚𝑚</m:t>
                        </m:r>
                      </m:den>
                    </m:f>
                  </m:oMath>
                </a14:m>
                <a:endParaRPr lang="en-US" sz="2000" dirty="0"/>
              </a:p>
              <a:p>
                <a:pPr marL="0" indent="0" algn="ctr">
                  <a:buNone/>
                </a:pPr>
                <a14:m>
                  <m:oMathPara xmlns:m="http://schemas.openxmlformats.org/officeDocument/2006/math">
                    <m:oMathParaPr>
                      <m:jc m:val="center"/>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𝐺𝑆𝐷</m:t>
                      </m:r>
                      <m:r>
                        <a:rPr lang="en-US" sz="2000" i="1">
                          <a:latin typeface="Cambria Math" panose="02040503050406030204" pitchFamily="18" charset="0"/>
                        </a:rPr>
                        <m:t>=2 </m:t>
                      </m:r>
                      <m:r>
                        <a:rPr lang="en-US" sz="2000" b="0" i="1" smtClean="0">
                          <a:latin typeface="Cambria Math" panose="02040503050406030204" pitchFamily="18" charset="0"/>
                        </a:rPr>
                        <m:t>𝑚</m:t>
                      </m:r>
                    </m:oMath>
                  </m:oMathPara>
                </a14:m>
                <a:endParaRPr lang="en-US" sz="2000" dirty="0"/>
              </a:p>
              <a:p>
                <a:pPr marL="0" indent="0" algn="ctr">
                  <a:buNone/>
                </a:pPr>
                <a:endParaRPr lang="en-US" sz="800" dirty="0"/>
              </a:p>
              <a:p>
                <a:pPr lvl="1"/>
                <a:r>
                  <a:rPr lang="en-US" dirty="0"/>
                  <a:t>Discrepancy may be due to stability issues, imprecise absolute altitude, discussed sampling error</a:t>
                </a:r>
              </a:p>
              <a:p>
                <a:pPr lvl="2"/>
                <a:r>
                  <a:rPr lang="en-US" dirty="0"/>
                  <a:t>Both significantly improved on ZY-3 03, enabling near diffraction-limited performance</a:t>
                </a:r>
              </a:p>
              <a:p>
                <a:pPr lvl="1"/>
                <a:endParaRPr lang="en-US" dirty="0"/>
              </a:p>
            </p:txBody>
          </p:sp>
        </mc:Choice>
        <mc:Fallback xmlns="">
          <p:sp>
            <p:nvSpPr>
              <p:cNvPr id="2" name="Content Placeholder 1">
                <a:extLst>
                  <a:ext uri="{FF2B5EF4-FFF2-40B4-BE49-F238E27FC236}">
                    <a16:creationId xmlns:a16="http://schemas.microsoft.com/office/drawing/2014/main" id="{7B30AF8E-43FE-7A2A-0031-3751AC1F6B83}"/>
                  </a:ext>
                </a:extLst>
              </p:cNvPr>
              <p:cNvSpPr>
                <a:spLocks noGrp="1" noRot="1" noChangeAspect="1" noMove="1" noResize="1" noEditPoints="1" noAdjustHandles="1" noChangeArrowheads="1" noChangeShapeType="1" noTextEdit="1"/>
              </p:cNvSpPr>
              <p:nvPr>
                <p:ph idx="1"/>
              </p:nvPr>
            </p:nvSpPr>
            <p:spPr>
              <a:blipFill>
                <a:blip r:embed="rId2"/>
                <a:stretch>
                  <a:fillRect l="-696" t="-87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32BF3644-4E31-DE72-3EEB-3E28810BF444}"/>
              </a:ext>
            </a:extLst>
          </p:cNvPr>
          <p:cNvSpPr>
            <a:spLocks noGrp="1"/>
          </p:cNvSpPr>
          <p:nvPr>
            <p:ph type="sldNum" sz="quarter" idx="12"/>
          </p:nvPr>
        </p:nvSpPr>
        <p:spPr/>
        <p:txBody>
          <a:bodyPr/>
          <a:lstStyle/>
          <a:p>
            <a:fld id="{9EA51DAC-3F90-4AAD-A1AF-FE7171D4A594}" type="slidenum">
              <a:rPr lang="en-US" smtClean="0"/>
              <a:pPr/>
              <a:t>21</a:t>
            </a:fld>
            <a:endParaRPr lang="en-US"/>
          </a:p>
        </p:txBody>
      </p:sp>
      <p:sp>
        <p:nvSpPr>
          <p:cNvPr id="4" name="Title 3">
            <a:extLst>
              <a:ext uri="{FF2B5EF4-FFF2-40B4-BE49-F238E27FC236}">
                <a16:creationId xmlns:a16="http://schemas.microsoft.com/office/drawing/2014/main" id="{08E5FAA3-9C3C-33B0-9674-CB9B3435D7EC}"/>
              </a:ext>
            </a:extLst>
          </p:cNvPr>
          <p:cNvSpPr>
            <a:spLocks noGrp="1"/>
          </p:cNvSpPr>
          <p:nvPr>
            <p:ph type="title"/>
          </p:nvPr>
        </p:nvSpPr>
        <p:spPr/>
        <p:txBody>
          <a:bodyPr/>
          <a:lstStyle/>
          <a:p>
            <a:r>
              <a:rPr lang="en-US" dirty="0"/>
              <a:t>Pixel Size and GSD</a:t>
            </a:r>
          </a:p>
        </p:txBody>
      </p:sp>
    </p:spTree>
    <p:extLst>
      <p:ext uri="{BB962C8B-B14F-4D97-AF65-F5344CB8AC3E}">
        <p14:creationId xmlns:p14="http://schemas.microsoft.com/office/powerpoint/2010/main" val="370943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63D39F-8272-8F15-4A3A-241E7654CB6E}"/>
              </a:ext>
            </a:extLst>
          </p:cNvPr>
          <p:cNvSpPr>
            <a:spLocks noGrp="1"/>
          </p:cNvSpPr>
          <p:nvPr>
            <p:ph idx="1"/>
          </p:nvPr>
        </p:nvSpPr>
        <p:spPr>
          <a:xfrm>
            <a:off x="420802" y="878564"/>
            <a:ext cx="5837758" cy="5588912"/>
          </a:xfrm>
        </p:spPr>
        <p:txBody>
          <a:bodyPr>
            <a:normAutofit lnSpcReduction="10000"/>
          </a:bodyPr>
          <a:lstStyle/>
          <a:p>
            <a:r>
              <a:rPr lang="en-US" dirty="0"/>
              <a:t>Spectral range of 500-800 nm indicates:</a:t>
            </a:r>
          </a:p>
          <a:p>
            <a:pPr lvl="1"/>
            <a:r>
              <a:rPr lang="en-US" dirty="0"/>
              <a:t>Sensitivity in visible band from green through near-infrared (NIR)</a:t>
            </a:r>
          </a:p>
          <a:p>
            <a:pPr lvl="2"/>
            <a:r>
              <a:rPr lang="en-US" dirty="0"/>
              <a:t>Typical of silicon-based sensors</a:t>
            </a:r>
          </a:p>
          <a:p>
            <a:pPr lvl="2"/>
            <a:r>
              <a:rPr lang="en-US" dirty="0"/>
              <a:t>Blue light typically 400-500 nm</a:t>
            </a:r>
          </a:p>
          <a:p>
            <a:pPr lvl="2"/>
            <a:r>
              <a:rPr lang="en-US" dirty="0"/>
              <a:t>Standard NIR wavelengths used for night vision/CCTV: 850 and 940 nm</a:t>
            </a:r>
          </a:p>
          <a:p>
            <a:r>
              <a:rPr lang="en-US" dirty="0"/>
              <a:t>Reasons for blue exclusion</a:t>
            </a:r>
          </a:p>
          <a:p>
            <a:pPr lvl="1"/>
            <a:r>
              <a:rPr lang="en-US" dirty="0"/>
              <a:t>Rayleigh (atmospheric) scattering causes haze and noise for blue photons</a:t>
            </a:r>
          </a:p>
          <a:p>
            <a:pPr lvl="1"/>
            <a:r>
              <a:rPr lang="en-US" dirty="0"/>
              <a:t>Most CCD and CMOS sensors are less efficient in the blue band, resulting in higher noise</a:t>
            </a:r>
          </a:p>
          <a:p>
            <a:pPr lvl="1"/>
            <a:r>
              <a:rPr lang="en-US" dirty="0"/>
              <a:t>Assumes no need for water penetration</a:t>
            </a:r>
          </a:p>
          <a:p>
            <a:r>
              <a:rPr lang="en-US" dirty="0"/>
              <a:t>We suspect range provided refers to Pan band and multispectral range may extend further with specialized calibration of blue and NIR bands</a:t>
            </a:r>
          </a:p>
          <a:p>
            <a:pPr marL="454025" lvl="2" indent="0">
              <a:buNone/>
            </a:pPr>
            <a:endParaRPr lang="en-US" dirty="0"/>
          </a:p>
          <a:p>
            <a:pPr lvl="1"/>
            <a:endParaRPr lang="en-US" dirty="0"/>
          </a:p>
        </p:txBody>
      </p:sp>
      <p:sp>
        <p:nvSpPr>
          <p:cNvPr id="3" name="Slide Number Placeholder 2">
            <a:extLst>
              <a:ext uri="{FF2B5EF4-FFF2-40B4-BE49-F238E27FC236}">
                <a16:creationId xmlns:a16="http://schemas.microsoft.com/office/drawing/2014/main" id="{8F6AFC18-F314-D3A5-F116-74D7CB3E1047}"/>
              </a:ext>
            </a:extLst>
          </p:cNvPr>
          <p:cNvSpPr>
            <a:spLocks noGrp="1"/>
          </p:cNvSpPr>
          <p:nvPr>
            <p:ph type="sldNum" sz="quarter" idx="12"/>
          </p:nvPr>
        </p:nvSpPr>
        <p:spPr/>
        <p:txBody>
          <a:bodyPr/>
          <a:lstStyle/>
          <a:p>
            <a:fld id="{9EA51DAC-3F90-4AAD-A1AF-FE7171D4A594}" type="slidenum">
              <a:rPr lang="en-US" smtClean="0"/>
              <a:pPr/>
              <a:t>22</a:t>
            </a:fld>
            <a:endParaRPr lang="en-US"/>
          </a:p>
        </p:txBody>
      </p:sp>
      <p:sp>
        <p:nvSpPr>
          <p:cNvPr id="4" name="Title 3">
            <a:extLst>
              <a:ext uri="{FF2B5EF4-FFF2-40B4-BE49-F238E27FC236}">
                <a16:creationId xmlns:a16="http://schemas.microsoft.com/office/drawing/2014/main" id="{DC7CD3B8-38B6-A646-49AF-8A8F28D08C70}"/>
              </a:ext>
            </a:extLst>
          </p:cNvPr>
          <p:cNvSpPr>
            <a:spLocks noGrp="1"/>
          </p:cNvSpPr>
          <p:nvPr>
            <p:ph type="title"/>
          </p:nvPr>
        </p:nvSpPr>
        <p:spPr/>
        <p:txBody>
          <a:bodyPr/>
          <a:lstStyle/>
          <a:p>
            <a:r>
              <a:rPr lang="en-US" dirty="0"/>
              <a:t>What Does Choice of Spectral Range Tell Us?</a:t>
            </a:r>
          </a:p>
        </p:txBody>
      </p:sp>
      <p:grpSp>
        <p:nvGrpSpPr>
          <p:cNvPr id="12" name="Group 11">
            <a:extLst>
              <a:ext uri="{FF2B5EF4-FFF2-40B4-BE49-F238E27FC236}">
                <a16:creationId xmlns:a16="http://schemas.microsoft.com/office/drawing/2014/main" id="{887B46B1-E27C-A389-F33B-B1B52CC10E19}"/>
              </a:ext>
            </a:extLst>
          </p:cNvPr>
          <p:cNvGrpSpPr/>
          <p:nvPr/>
        </p:nvGrpSpPr>
        <p:grpSpPr>
          <a:xfrm>
            <a:off x="6258560" y="1587911"/>
            <a:ext cx="5620602" cy="4442334"/>
            <a:chOff x="6258560" y="1587911"/>
            <a:chExt cx="5620602" cy="4442334"/>
          </a:xfrm>
        </p:grpSpPr>
        <p:grpSp>
          <p:nvGrpSpPr>
            <p:cNvPr id="10" name="Group 9">
              <a:extLst>
                <a:ext uri="{FF2B5EF4-FFF2-40B4-BE49-F238E27FC236}">
                  <a16:creationId xmlns:a16="http://schemas.microsoft.com/office/drawing/2014/main" id="{768BC2BC-8B1D-725C-8CD0-B2E78CD6456A}"/>
                </a:ext>
              </a:extLst>
            </p:cNvPr>
            <p:cNvGrpSpPr/>
            <p:nvPr/>
          </p:nvGrpSpPr>
          <p:grpSpPr>
            <a:xfrm>
              <a:off x="6258560" y="1587911"/>
              <a:ext cx="5620602" cy="4170218"/>
              <a:chOff x="6117422" y="1427942"/>
              <a:chExt cx="5620602" cy="4170218"/>
            </a:xfrm>
          </p:grpSpPr>
          <p:pic>
            <p:nvPicPr>
              <p:cNvPr id="6" name="Picture 5">
                <a:extLst>
                  <a:ext uri="{FF2B5EF4-FFF2-40B4-BE49-F238E27FC236}">
                    <a16:creationId xmlns:a16="http://schemas.microsoft.com/office/drawing/2014/main" id="{54A27C19-DBC3-EAC0-3BC1-C54918483087}"/>
                  </a:ext>
                </a:extLst>
              </p:cNvPr>
              <p:cNvPicPr>
                <a:picLocks noChangeAspect="1"/>
              </p:cNvPicPr>
              <p:nvPr/>
            </p:nvPicPr>
            <p:blipFill>
              <a:blip r:embed="rId2" cstate="screen">
                <a:extLst>
                  <a:ext uri="{28A0092B-C50C-407E-A947-70E740481C1C}">
                    <a14:useLocalDpi xmlns:a14="http://schemas.microsoft.com/office/drawing/2010/main" val="0"/>
                  </a:ext>
                </a:extLst>
              </a:blip>
              <a:srcRect r="22726"/>
              <a:stretch>
                <a:fillRect/>
              </a:stretch>
            </p:blipFill>
            <p:spPr>
              <a:xfrm>
                <a:off x="6117422" y="1427942"/>
                <a:ext cx="5620602" cy="4170218"/>
              </a:xfrm>
              <a:prstGeom prst="rect">
                <a:avLst/>
              </a:prstGeom>
            </p:spPr>
          </p:pic>
          <p:pic>
            <p:nvPicPr>
              <p:cNvPr id="9" name="Picture 8">
                <a:extLst>
                  <a:ext uri="{FF2B5EF4-FFF2-40B4-BE49-F238E27FC236}">
                    <a16:creationId xmlns:a16="http://schemas.microsoft.com/office/drawing/2014/main" id="{3AAE19BF-3543-6221-25DE-89E3E1FC6804}"/>
                  </a:ext>
                </a:extLst>
              </p:cNvPr>
              <p:cNvPicPr>
                <a:picLocks noChangeAspect="1"/>
              </p:cNvPicPr>
              <p:nvPr/>
            </p:nvPicPr>
            <p:blipFill>
              <a:blip r:embed="rId2" cstate="screen">
                <a:extLst>
                  <a:ext uri="{28A0092B-C50C-407E-A947-70E740481C1C}">
                    <a14:useLocalDpi xmlns:a14="http://schemas.microsoft.com/office/drawing/2010/main" val="0"/>
                  </a:ext>
                </a:extLst>
              </a:blip>
              <a:srcRect l="77599" t="43256" b="43411"/>
              <a:stretch>
                <a:fillRect/>
              </a:stretch>
            </p:blipFill>
            <p:spPr>
              <a:xfrm>
                <a:off x="9992870" y="1615683"/>
                <a:ext cx="1607028" cy="548396"/>
              </a:xfrm>
              <a:prstGeom prst="rect">
                <a:avLst/>
              </a:prstGeom>
            </p:spPr>
          </p:pic>
        </p:grpSp>
        <p:sp>
          <p:nvSpPr>
            <p:cNvPr id="11" name="TextBox 10">
              <a:extLst>
                <a:ext uri="{FF2B5EF4-FFF2-40B4-BE49-F238E27FC236}">
                  <a16:creationId xmlns:a16="http://schemas.microsoft.com/office/drawing/2014/main" id="{8D07C82F-EE52-8998-557B-B1A72D911A59}"/>
                </a:ext>
              </a:extLst>
            </p:cNvPr>
            <p:cNvSpPr txBox="1"/>
            <p:nvPr/>
          </p:nvSpPr>
          <p:spPr>
            <a:xfrm>
              <a:off x="8595360" y="5784024"/>
              <a:ext cx="3283802" cy="246221"/>
            </a:xfrm>
            <a:prstGeom prst="rect">
              <a:avLst/>
            </a:prstGeom>
            <a:noFill/>
          </p:spPr>
          <p:txBody>
            <a:bodyPr wrap="square" rtlCol="0">
              <a:spAutoFit/>
            </a:bodyPr>
            <a:lstStyle/>
            <a:p>
              <a:pPr algn="r"/>
              <a:r>
                <a:rPr lang="en-US" sz="1000" i="1" dirty="0"/>
                <a:t>Courtesy: Teledyne Princeton Instruments</a:t>
              </a:r>
            </a:p>
          </p:txBody>
        </p:sp>
      </p:grpSp>
    </p:spTree>
    <p:extLst>
      <p:ext uri="{BB962C8B-B14F-4D97-AF65-F5344CB8AC3E}">
        <p14:creationId xmlns:p14="http://schemas.microsoft.com/office/powerpoint/2010/main" val="3342390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A637E-7226-8EC0-53A4-3AE5CF3BE0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018E72-1BC9-C5B8-D7D2-8513EB8DD22D}"/>
              </a:ext>
            </a:extLst>
          </p:cNvPr>
          <p:cNvSpPr>
            <a:spLocks noGrp="1"/>
          </p:cNvSpPr>
          <p:nvPr>
            <p:ph idx="1"/>
          </p:nvPr>
        </p:nvSpPr>
        <p:spPr/>
        <p:txBody>
          <a:bodyPr/>
          <a:lstStyle/>
          <a:p>
            <a:r>
              <a:rPr lang="en-US" dirty="0">
                <a:solidFill>
                  <a:schemeClr val="bg1">
                    <a:lumMod val="75000"/>
                  </a:schemeClr>
                </a:solidFill>
              </a:rPr>
              <a:t>Purpose</a:t>
            </a:r>
          </a:p>
          <a:p>
            <a:r>
              <a:rPr lang="en-US" dirty="0">
                <a:solidFill>
                  <a:schemeClr val="bg1">
                    <a:lumMod val="75000"/>
                  </a:schemeClr>
                </a:solidFill>
              </a:rPr>
              <a:t>Background</a:t>
            </a:r>
          </a:p>
          <a:p>
            <a:r>
              <a:rPr lang="en-US" dirty="0">
                <a:solidFill>
                  <a:schemeClr val="bg1">
                    <a:lumMod val="75000"/>
                  </a:schemeClr>
                </a:solidFill>
              </a:rPr>
              <a:t>ZY-3 Details</a:t>
            </a:r>
          </a:p>
          <a:p>
            <a:r>
              <a:rPr lang="en-US" dirty="0"/>
              <a:t>Comments</a:t>
            </a:r>
          </a:p>
          <a:p>
            <a:endParaRPr lang="en-US" dirty="0"/>
          </a:p>
          <a:p>
            <a:endParaRPr lang="en-US" dirty="0"/>
          </a:p>
        </p:txBody>
      </p:sp>
      <p:sp>
        <p:nvSpPr>
          <p:cNvPr id="3" name="Slide Number Placeholder 2">
            <a:extLst>
              <a:ext uri="{FF2B5EF4-FFF2-40B4-BE49-F238E27FC236}">
                <a16:creationId xmlns:a16="http://schemas.microsoft.com/office/drawing/2014/main" id="{489C6929-5337-F877-9ED2-2C84BF9B70D1}"/>
              </a:ext>
            </a:extLst>
          </p:cNvPr>
          <p:cNvSpPr>
            <a:spLocks noGrp="1"/>
          </p:cNvSpPr>
          <p:nvPr>
            <p:ph type="sldNum" sz="quarter" idx="12"/>
          </p:nvPr>
        </p:nvSpPr>
        <p:spPr/>
        <p:txBody>
          <a:bodyPr/>
          <a:lstStyle/>
          <a:p>
            <a:fld id="{9EA51DAC-3F90-4AAD-A1AF-FE7171D4A594}" type="slidenum">
              <a:rPr lang="en-US" smtClean="0"/>
              <a:pPr/>
              <a:t>23</a:t>
            </a:fld>
            <a:endParaRPr lang="en-US"/>
          </a:p>
        </p:txBody>
      </p:sp>
      <p:sp>
        <p:nvSpPr>
          <p:cNvPr id="4" name="Title 3">
            <a:extLst>
              <a:ext uri="{FF2B5EF4-FFF2-40B4-BE49-F238E27FC236}">
                <a16:creationId xmlns:a16="http://schemas.microsoft.com/office/drawing/2014/main" id="{6BCD3582-6BCD-D7C2-1705-5D56B8D4A1EF}"/>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2796833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4E40-6443-D652-5C82-35F44C75D8FB}"/>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5358848-9A8B-208F-F76C-5D7D7BD3C608}"/>
              </a:ext>
            </a:extLst>
          </p:cNvPr>
          <p:cNvGraphicFramePr>
            <a:graphicFrameLocks noGrp="1"/>
          </p:cNvGraphicFramePr>
          <p:nvPr>
            <p:ph idx="1"/>
            <p:extLst>
              <p:ext uri="{D42A27DB-BD31-4B8C-83A1-F6EECF244321}">
                <p14:modId xmlns:p14="http://schemas.microsoft.com/office/powerpoint/2010/main" val="3803521285"/>
              </p:ext>
            </p:extLst>
          </p:nvPr>
        </p:nvGraphicFramePr>
        <p:xfrm>
          <a:off x="420688" y="877888"/>
          <a:ext cx="11393242" cy="5034280"/>
        </p:xfrm>
        <a:graphic>
          <a:graphicData uri="http://schemas.openxmlformats.org/drawingml/2006/table">
            <a:tbl>
              <a:tblPr firstRow="1" bandRow="1">
                <a:tableStyleId>{5C22544A-7EE6-4342-B048-85BDC9FD1C3A}</a:tableStyleId>
              </a:tblPr>
              <a:tblGrid>
                <a:gridCol w="2332560">
                  <a:extLst>
                    <a:ext uri="{9D8B030D-6E8A-4147-A177-3AD203B41FA5}">
                      <a16:colId xmlns:a16="http://schemas.microsoft.com/office/drawing/2014/main" val="1450216350"/>
                    </a:ext>
                  </a:extLst>
                </a:gridCol>
                <a:gridCol w="5657222">
                  <a:extLst>
                    <a:ext uri="{9D8B030D-6E8A-4147-A177-3AD203B41FA5}">
                      <a16:colId xmlns:a16="http://schemas.microsoft.com/office/drawing/2014/main" val="3304224461"/>
                    </a:ext>
                  </a:extLst>
                </a:gridCol>
                <a:gridCol w="3403460">
                  <a:extLst>
                    <a:ext uri="{9D8B030D-6E8A-4147-A177-3AD203B41FA5}">
                      <a16:colId xmlns:a16="http://schemas.microsoft.com/office/drawing/2014/main" val="1120421727"/>
                    </a:ext>
                  </a:extLst>
                </a:gridCol>
              </a:tblGrid>
              <a:tr h="370840">
                <a:tc>
                  <a:txBody>
                    <a:bodyPr/>
                    <a:lstStyle/>
                    <a:p>
                      <a:r>
                        <a:rPr lang="en-US" dirty="0"/>
                        <a:t>Problem Area</a:t>
                      </a:r>
                    </a:p>
                  </a:txBody>
                  <a:tcPr/>
                </a:tc>
                <a:tc>
                  <a:txBody>
                    <a:bodyPr/>
                    <a:lstStyle/>
                    <a:p>
                      <a:r>
                        <a:rPr lang="en-US" dirty="0"/>
                        <a:t>Description</a:t>
                      </a:r>
                    </a:p>
                  </a:txBody>
                  <a:tcPr/>
                </a:tc>
                <a:tc>
                  <a:txBody>
                    <a:bodyPr/>
                    <a:lstStyle/>
                    <a:p>
                      <a:r>
                        <a:rPr lang="en-US" dirty="0"/>
                        <a:t>Implication</a:t>
                      </a:r>
                    </a:p>
                  </a:txBody>
                  <a:tcPr/>
                </a:tc>
                <a:extLst>
                  <a:ext uri="{0D108BD9-81ED-4DB2-BD59-A6C34878D82A}">
                    <a16:rowId xmlns:a16="http://schemas.microsoft.com/office/drawing/2014/main" val="42927166"/>
                  </a:ext>
                </a:extLst>
              </a:tr>
              <a:tr h="370840">
                <a:tc>
                  <a:txBody>
                    <a:bodyPr/>
                    <a:lstStyle/>
                    <a:p>
                      <a:r>
                        <a:rPr lang="en-US" dirty="0"/>
                        <a:t>Unjustified performance values</a:t>
                      </a:r>
                    </a:p>
                  </a:txBody>
                  <a:tcPr/>
                </a:tc>
                <a:tc>
                  <a:txBody>
                    <a:bodyPr/>
                    <a:lstStyle/>
                    <a:p>
                      <a:r>
                        <a:rPr lang="en-US" dirty="0"/>
                        <a:t>Optical parameters don’t produce GSD or MTF claimed, and don’t come anywhere near “diffraction limited”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Sensor instability or optical principles flaws may explain discrepancies</a:t>
                      </a:r>
                    </a:p>
                  </a:txBody>
                  <a:tcPr/>
                </a:tc>
                <a:extLst>
                  <a:ext uri="{0D108BD9-81ED-4DB2-BD59-A6C34878D82A}">
                    <a16:rowId xmlns:a16="http://schemas.microsoft.com/office/drawing/2014/main" val="3812395283"/>
                  </a:ext>
                </a:extLst>
              </a:tr>
              <a:tr h="370840">
                <a:tc>
                  <a:txBody>
                    <a:bodyPr/>
                    <a:lstStyle/>
                    <a:p>
                      <a:r>
                        <a:rPr lang="en-US" dirty="0"/>
                        <a:t>Complex optical path</a:t>
                      </a:r>
                    </a:p>
                  </a:txBody>
                  <a:tcPr/>
                </a:tc>
                <a:tc>
                  <a:txBody>
                    <a:bodyPr/>
                    <a:lstStyle/>
                    <a:p>
                      <a:r>
                        <a:rPr lang="en-US" dirty="0"/>
                        <a:t>Numerous mirror offsets, no central optical axis, no optical obscurations of other components</a:t>
                      </a:r>
                    </a:p>
                  </a:txBody>
                  <a:tcPr/>
                </a:tc>
                <a:tc>
                  <a:txBody>
                    <a:bodyPr/>
                    <a:lstStyle/>
                    <a:p>
                      <a:r>
                        <a:rPr lang="en-US" dirty="0"/>
                        <a:t>May indicate packaging (for launch) problems</a:t>
                      </a:r>
                    </a:p>
                  </a:txBody>
                  <a:tcPr/>
                </a:tc>
                <a:extLst>
                  <a:ext uri="{0D108BD9-81ED-4DB2-BD59-A6C34878D82A}">
                    <a16:rowId xmlns:a16="http://schemas.microsoft.com/office/drawing/2014/main" val="1612948216"/>
                  </a:ext>
                </a:extLst>
              </a:tr>
              <a:tr h="370840">
                <a:tc>
                  <a:txBody>
                    <a:bodyPr/>
                    <a:lstStyle/>
                    <a:p>
                      <a:r>
                        <a:rPr lang="en-US" dirty="0" err="1"/>
                        <a:t>Telecentricity</a:t>
                      </a:r>
                      <a:r>
                        <a:rPr lang="en-US" dirty="0"/>
                        <a:t> without justification</a:t>
                      </a:r>
                    </a:p>
                  </a:txBody>
                  <a:tcPr/>
                </a:tc>
                <a:tc>
                  <a:txBody>
                    <a:bodyPr/>
                    <a:lstStyle/>
                    <a:p>
                      <a:r>
                        <a:rPr lang="en-US" dirty="0"/>
                        <a:t>Authors state system is “near telecentric” with no explanation as to why</a:t>
                      </a:r>
                    </a:p>
                  </a:txBody>
                  <a:tcPr/>
                </a:tc>
                <a:tc>
                  <a:txBody>
                    <a:bodyPr/>
                    <a:lstStyle/>
                    <a:p>
                      <a:r>
                        <a:rPr lang="en-US" dirty="0"/>
                        <a:t>May not understand value of </a:t>
                      </a:r>
                      <a:r>
                        <a:rPr lang="en-US" dirty="0" err="1"/>
                        <a:t>telecentricity</a:t>
                      </a:r>
                      <a:endParaRPr lang="en-US" dirty="0"/>
                    </a:p>
                  </a:txBody>
                  <a:tcPr/>
                </a:tc>
                <a:extLst>
                  <a:ext uri="{0D108BD9-81ED-4DB2-BD59-A6C34878D82A}">
                    <a16:rowId xmlns:a16="http://schemas.microsoft.com/office/drawing/2014/main" val="1051634701"/>
                  </a:ext>
                </a:extLst>
              </a:tr>
              <a:tr h="370840">
                <a:tc>
                  <a:txBody>
                    <a:bodyPr/>
                    <a:lstStyle/>
                    <a:p>
                      <a:r>
                        <a:rPr lang="en-US" dirty="0"/>
                        <a:t>No common axis</a:t>
                      </a:r>
                    </a:p>
                  </a:txBody>
                  <a:tcPr/>
                </a:tc>
                <a:tc>
                  <a:txBody>
                    <a:bodyPr/>
                    <a:lstStyle/>
                    <a:p>
                      <a:r>
                        <a:rPr lang="en-US" dirty="0"/>
                        <a:t>Multiple mirror folds impact optical performance in terms of stability, aberrations, lost photons</a:t>
                      </a:r>
                    </a:p>
                  </a:txBody>
                  <a:tcPr/>
                </a:tc>
                <a:tc>
                  <a:txBody>
                    <a:bodyPr/>
                    <a:lstStyle/>
                    <a:p>
                      <a:r>
                        <a:rPr lang="en-US" dirty="0"/>
                        <a:t>Willingness to accept degraded performance over larger system</a:t>
                      </a:r>
                    </a:p>
                  </a:txBody>
                  <a:tcPr/>
                </a:tc>
                <a:extLst>
                  <a:ext uri="{0D108BD9-81ED-4DB2-BD59-A6C34878D82A}">
                    <a16:rowId xmlns:a16="http://schemas.microsoft.com/office/drawing/2014/main" val="1885038224"/>
                  </a:ext>
                </a:extLst>
              </a:tr>
              <a:tr h="370840">
                <a:tc>
                  <a:txBody>
                    <a:bodyPr/>
                    <a:lstStyle/>
                    <a:p>
                      <a:r>
                        <a:rPr lang="en-US" dirty="0"/>
                        <a:t>Rectangular mirror inconsistency</a:t>
                      </a:r>
                    </a:p>
                  </a:txBody>
                  <a:tcPr/>
                </a:tc>
                <a:tc>
                  <a:txBody>
                    <a:bodyPr/>
                    <a:lstStyle/>
                    <a:p>
                      <a:r>
                        <a:rPr lang="en-US" dirty="0"/>
                        <a:t>Optical design principles usually avoid geometrically inconsistent reflective surfaces (mixtures of rectangular and circular mirrors)</a:t>
                      </a:r>
                    </a:p>
                  </a:txBody>
                  <a:tcPr/>
                </a:tc>
                <a:tc>
                  <a:txBody>
                    <a:bodyPr/>
                    <a:lstStyle/>
                    <a:p>
                      <a:r>
                        <a:rPr lang="en-US" dirty="0"/>
                        <a:t>Manufacturing of mirrors will be unduly complicated</a:t>
                      </a:r>
                    </a:p>
                  </a:txBody>
                  <a:tcPr/>
                </a:tc>
                <a:extLst>
                  <a:ext uri="{0D108BD9-81ED-4DB2-BD59-A6C34878D82A}">
                    <a16:rowId xmlns:a16="http://schemas.microsoft.com/office/drawing/2014/main" val="2244509999"/>
                  </a:ext>
                </a:extLst>
              </a:tr>
              <a:tr h="370840">
                <a:tc>
                  <a:txBody>
                    <a:bodyPr/>
                    <a:lstStyle/>
                    <a:p>
                      <a:r>
                        <a:rPr lang="en-US" dirty="0"/>
                        <a:t>Spectral range questionable</a:t>
                      </a:r>
                    </a:p>
                  </a:txBody>
                  <a:tcPr/>
                </a:tc>
                <a:tc>
                  <a:txBody>
                    <a:bodyPr/>
                    <a:lstStyle/>
                    <a:p>
                      <a:r>
                        <a:rPr lang="en-US" dirty="0"/>
                        <a:t>Bandwidth provided is narrower than usual for a multispectral sensor and doesn’t match future systems</a:t>
                      </a:r>
                    </a:p>
                  </a:txBody>
                  <a:tcPr/>
                </a:tc>
                <a:tc>
                  <a:txBody>
                    <a:bodyPr/>
                    <a:lstStyle/>
                    <a:p>
                      <a:r>
                        <a:rPr lang="en-US" dirty="0"/>
                        <a:t>Either misstated range or were constrained by unknowns not disclosed in the Paper</a:t>
                      </a:r>
                    </a:p>
                  </a:txBody>
                  <a:tcPr/>
                </a:tc>
                <a:extLst>
                  <a:ext uri="{0D108BD9-81ED-4DB2-BD59-A6C34878D82A}">
                    <a16:rowId xmlns:a16="http://schemas.microsoft.com/office/drawing/2014/main" val="1466625691"/>
                  </a:ext>
                </a:extLst>
              </a:tr>
            </a:tbl>
          </a:graphicData>
        </a:graphic>
      </p:graphicFrame>
      <p:sp>
        <p:nvSpPr>
          <p:cNvPr id="3" name="Slide Number Placeholder 2">
            <a:extLst>
              <a:ext uri="{FF2B5EF4-FFF2-40B4-BE49-F238E27FC236}">
                <a16:creationId xmlns:a16="http://schemas.microsoft.com/office/drawing/2014/main" id="{2509184D-4269-E967-53E6-70AB489DE765}"/>
              </a:ext>
            </a:extLst>
          </p:cNvPr>
          <p:cNvSpPr>
            <a:spLocks noGrp="1"/>
          </p:cNvSpPr>
          <p:nvPr>
            <p:ph type="sldNum" sz="quarter" idx="12"/>
          </p:nvPr>
        </p:nvSpPr>
        <p:spPr/>
        <p:txBody>
          <a:bodyPr/>
          <a:lstStyle/>
          <a:p>
            <a:fld id="{9EA51DAC-3F90-4AAD-A1AF-FE7171D4A594}" type="slidenum">
              <a:rPr lang="en-US" smtClean="0"/>
              <a:pPr/>
              <a:t>24</a:t>
            </a:fld>
            <a:endParaRPr lang="en-US"/>
          </a:p>
        </p:txBody>
      </p:sp>
      <p:sp>
        <p:nvSpPr>
          <p:cNvPr id="4" name="Title 3">
            <a:extLst>
              <a:ext uri="{FF2B5EF4-FFF2-40B4-BE49-F238E27FC236}">
                <a16:creationId xmlns:a16="http://schemas.microsoft.com/office/drawing/2014/main" id="{44D6634B-3F3A-9180-9615-ABEF8B5B7ABC}"/>
              </a:ext>
            </a:extLst>
          </p:cNvPr>
          <p:cNvSpPr>
            <a:spLocks noGrp="1"/>
          </p:cNvSpPr>
          <p:nvPr>
            <p:ph type="title"/>
          </p:nvPr>
        </p:nvSpPr>
        <p:spPr/>
        <p:txBody>
          <a:bodyPr/>
          <a:lstStyle/>
          <a:p>
            <a:r>
              <a:rPr lang="en-US" dirty="0"/>
              <a:t>Summary of Findings</a:t>
            </a:r>
          </a:p>
        </p:txBody>
      </p:sp>
    </p:spTree>
    <p:extLst>
      <p:ext uri="{BB962C8B-B14F-4D97-AF65-F5344CB8AC3E}">
        <p14:creationId xmlns:p14="http://schemas.microsoft.com/office/powerpoint/2010/main" val="912226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37E2FB-AA02-FE9B-5190-33DAADFAF8EB}"/>
              </a:ext>
            </a:extLst>
          </p:cNvPr>
          <p:cNvSpPr>
            <a:spLocks noGrp="1"/>
          </p:cNvSpPr>
          <p:nvPr>
            <p:ph idx="1"/>
          </p:nvPr>
        </p:nvSpPr>
        <p:spPr/>
        <p:txBody>
          <a:bodyPr>
            <a:normAutofit lnSpcReduction="10000"/>
          </a:bodyPr>
          <a:lstStyle/>
          <a:p>
            <a:r>
              <a:rPr lang="en-US" dirty="0"/>
              <a:t>Choice of pixel pitch had consequences to GSD and MTF</a:t>
            </a:r>
          </a:p>
          <a:p>
            <a:pPr lvl="1"/>
            <a:r>
              <a:rPr lang="en-US" dirty="0"/>
              <a:t>A smaller pitch would have improved GSD</a:t>
            </a:r>
          </a:p>
          <a:p>
            <a:pPr lvl="1"/>
            <a:r>
              <a:rPr lang="en-US" dirty="0"/>
              <a:t>Smaller pitch would have minimized distortions due to aliasing and improved the MTF</a:t>
            </a:r>
          </a:p>
          <a:p>
            <a:pPr lvl="1"/>
            <a:r>
              <a:rPr lang="en-US" dirty="0"/>
              <a:t>Could the choice of pixel size been a consequence of high performance semiconductor trade restrictions?</a:t>
            </a:r>
          </a:p>
          <a:p>
            <a:r>
              <a:rPr lang="en-US" dirty="0"/>
              <a:t>Fan et al, 2012 paper is unclear about whether additional optical paths exist</a:t>
            </a:r>
          </a:p>
          <a:p>
            <a:pPr lvl="1"/>
            <a:r>
              <a:rPr lang="en-US" dirty="0"/>
              <a:t>Both stereo Pan and multispectral referred to, but specifications only refer to ODM</a:t>
            </a:r>
          </a:p>
          <a:p>
            <a:pPr lvl="1"/>
            <a:r>
              <a:rPr lang="en-US" dirty="0"/>
              <a:t>Stereo Pan GSD substantially worse than Forward/Backward Stereo Pan GSD on ZY-3 03</a:t>
            </a:r>
          </a:p>
          <a:p>
            <a:pPr lvl="2"/>
            <a:r>
              <a:rPr lang="en-US" dirty="0"/>
              <a:t>Sensor instability or optical principles flaws may explain discrepancies</a:t>
            </a:r>
          </a:p>
          <a:p>
            <a:pPr lvl="1"/>
            <a:r>
              <a:rPr lang="en-US" dirty="0"/>
              <a:t>Implies multiple cameras that are not described in the context of ODM as a “Model” for systems</a:t>
            </a:r>
          </a:p>
          <a:p>
            <a:r>
              <a:rPr lang="en-US" dirty="0"/>
              <a:t>The overall optical design features, in pursuit of “high resolution stereo mapping”, are significant for building competence in space system optics </a:t>
            </a:r>
          </a:p>
          <a:p>
            <a:pPr lvl="1"/>
            <a:r>
              <a:rPr lang="en-US" dirty="0"/>
              <a:t>Hyperboloid optical designs offer the elimination of the off-axis coma aberrations, and are an important improvement to the classical Cassegrain telescope</a:t>
            </a:r>
          </a:p>
          <a:p>
            <a:pPr lvl="1"/>
            <a:r>
              <a:rPr lang="en-US" dirty="0"/>
              <a:t>Advances in optical metrology, during figuring and polishing mirrors, have made more complex designs a cost-feasible capability for optical telescopes</a:t>
            </a:r>
          </a:p>
          <a:p>
            <a:pPr lvl="1"/>
            <a:r>
              <a:rPr lang="en-US" dirty="0"/>
              <a:t>Three-mirror anastigmats are sophisticated optical designs</a:t>
            </a:r>
          </a:p>
          <a:p>
            <a:pPr lvl="2"/>
            <a:r>
              <a:rPr lang="en-US" dirty="0"/>
              <a:t>James Webb Space telescope is a TMA design</a:t>
            </a:r>
          </a:p>
          <a:p>
            <a:pPr lvl="1"/>
            <a:endParaRPr lang="en-US" dirty="0"/>
          </a:p>
          <a:p>
            <a:endParaRPr lang="en-US" dirty="0"/>
          </a:p>
        </p:txBody>
      </p:sp>
      <p:sp>
        <p:nvSpPr>
          <p:cNvPr id="3" name="Slide Number Placeholder 2">
            <a:extLst>
              <a:ext uri="{FF2B5EF4-FFF2-40B4-BE49-F238E27FC236}">
                <a16:creationId xmlns:a16="http://schemas.microsoft.com/office/drawing/2014/main" id="{7CD9B219-1C59-467A-6796-126BFFF4653D}"/>
              </a:ext>
            </a:extLst>
          </p:cNvPr>
          <p:cNvSpPr>
            <a:spLocks noGrp="1"/>
          </p:cNvSpPr>
          <p:nvPr>
            <p:ph type="sldNum" sz="quarter" idx="12"/>
          </p:nvPr>
        </p:nvSpPr>
        <p:spPr/>
        <p:txBody>
          <a:bodyPr/>
          <a:lstStyle/>
          <a:p>
            <a:fld id="{9EA51DAC-3F90-4AAD-A1AF-FE7171D4A594}" type="slidenum">
              <a:rPr lang="en-US" smtClean="0"/>
              <a:pPr/>
              <a:t>25</a:t>
            </a:fld>
            <a:endParaRPr lang="en-US"/>
          </a:p>
        </p:txBody>
      </p:sp>
      <p:sp>
        <p:nvSpPr>
          <p:cNvPr id="4" name="Title 3">
            <a:extLst>
              <a:ext uri="{FF2B5EF4-FFF2-40B4-BE49-F238E27FC236}">
                <a16:creationId xmlns:a16="http://schemas.microsoft.com/office/drawing/2014/main" id="{5C805637-C315-90FC-3F4A-69E00F46C13F}"/>
              </a:ext>
            </a:extLst>
          </p:cNvPr>
          <p:cNvSpPr>
            <a:spLocks noGrp="1"/>
          </p:cNvSpPr>
          <p:nvPr>
            <p:ph type="title"/>
          </p:nvPr>
        </p:nvSpPr>
        <p:spPr/>
        <p:txBody>
          <a:bodyPr/>
          <a:lstStyle/>
          <a:p>
            <a:r>
              <a:rPr lang="en-US" dirty="0"/>
              <a:t>Comments on the Optical Disclosures in </a:t>
            </a:r>
            <a:r>
              <a:rPr lang="en-US" i="1" dirty="0"/>
              <a:t>Fan et al, 2012 </a:t>
            </a:r>
            <a:r>
              <a:rPr lang="en-US" dirty="0"/>
              <a:t>(1 of 4)</a:t>
            </a:r>
          </a:p>
        </p:txBody>
      </p:sp>
    </p:spTree>
    <p:extLst>
      <p:ext uri="{BB962C8B-B14F-4D97-AF65-F5344CB8AC3E}">
        <p14:creationId xmlns:p14="http://schemas.microsoft.com/office/powerpoint/2010/main" val="829850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65FCB-3AC3-B6F0-C89C-1234B437A619}"/>
              </a:ext>
            </a:extLst>
          </p:cNvPr>
          <p:cNvSpPr>
            <a:spLocks noGrp="1"/>
          </p:cNvSpPr>
          <p:nvPr>
            <p:ph idx="1"/>
          </p:nvPr>
        </p:nvSpPr>
        <p:spPr/>
        <p:txBody>
          <a:bodyPr/>
          <a:lstStyle/>
          <a:p>
            <a:r>
              <a:rPr lang="en-US" dirty="0"/>
              <a:t>The advantages of “nearly” telecentric TMA design, and the extra complexity of same, also support the design goals of “high-resolution stereo mapping”</a:t>
            </a:r>
          </a:p>
          <a:p>
            <a:pPr lvl="1"/>
            <a:r>
              <a:rPr lang="en-US" dirty="0"/>
              <a:t>Minimal distortions in raw image data yield a minimum of optical distortion computations in the compilation of precision mapping products</a:t>
            </a:r>
          </a:p>
          <a:p>
            <a:r>
              <a:rPr lang="en-US" dirty="0"/>
              <a:t>Summarizing Fan et al, the two main optical “design themes” are:</a:t>
            </a:r>
          </a:p>
          <a:p>
            <a:pPr lvl="1"/>
            <a:r>
              <a:rPr lang="en-US" dirty="0"/>
              <a:t>TMA optics</a:t>
            </a:r>
          </a:p>
          <a:p>
            <a:pPr lvl="1"/>
            <a:r>
              <a:rPr lang="en-US" dirty="0"/>
              <a:t>Telecentric optics</a:t>
            </a:r>
            <a:endParaRPr lang="en-US" sz="800" dirty="0"/>
          </a:p>
          <a:p>
            <a:r>
              <a:rPr lang="en-US" dirty="0"/>
              <a:t>When these two themes are considered together, they support the desire for a “high-resolution stereo-mapping” optical system</a:t>
            </a:r>
          </a:p>
          <a:p>
            <a:pPr lvl="1"/>
            <a:r>
              <a:rPr lang="en-US" dirty="0"/>
              <a:t>TMA designs minimize distortions of objects within the optical field-of-view, due to the inherent limitations of simpler optical designs</a:t>
            </a:r>
          </a:p>
          <a:p>
            <a:pPr lvl="1"/>
            <a:r>
              <a:rPr lang="en-US" dirty="0"/>
              <a:t>Telecentric designs minimize distortions due to different distances from the focal plane to objects within in the optical field-of-view</a:t>
            </a:r>
          </a:p>
          <a:p>
            <a:pPr lvl="1"/>
            <a:r>
              <a:rPr lang="en-US" dirty="0"/>
              <a:t>Images, and products from images, with these characteristics are simpler and less-costly to produce, meeting goals that can be associated with “market demand”</a:t>
            </a:r>
          </a:p>
          <a:p>
            <a:pPr lvl="1"/>
            <a:endParaRPr lang="en-US" sz="800" dirty="0"/>
          </a:p>
          <a:p>
            <a:pPr lvl="1"/>
            <a:endParaRPr lang="en-US" dirty="0"/>
          </a:p>
        </p:txBody>
      </p:sp>
      <p:sp>
        <p:nvSpPr>
          <p:cNvPr id="3" name="Slide Number Placeholder 2">
            <a:extLst>
              <a:ext uri="{FF2B5EF4-FFF2-40B4-BE49-F238E27FC236}">
                <a16:creationId xmlns:a16="http://schemas.microsoft.com/office/drawing/2014/main" id="{E79EF74E-5796-DAF7-67A1-BC7F56986AE9}"/>
              </a:ext>
            </a:extLst>
          </p:cNvPr>
          <p:cNvSpPr>
            <a:spLocks noGrp="1"/>
          </p:cNvSpPr>
          <p:nvPr>
            <p:ph type="sldNum" sz="quarter" idx="12"/>
          </p:nvPr>
        </p:nvSpPr>
        <p:spPr/>
        <p:txBody>
          <a:bodyPr/>
          <a:lstStyle/>
          <a:p>
            <a:fld id="{9EA51DAC-3F90-4AAD-A1AF-FE7171D4A594}" type="slidenum">
              <a:rPr lang="en-US" smtClean="0"/>
              <a:pPr/>
              <a:t>26</a:t>
            </a:fld>
            <a:endParaRPr lang="en-US"/>
          </a:p>
        </p:txBody>
      </p:sp>
      <p:sp>
        <p:nvSpPr>
          <p:cNvPr id="4" name="Title 3">
            <a:extLst>
              <a:ext uri="{FF2B5EF4-FFF2-40B4-BE49-F238E27FC236}">
                <a16:creationId xmlns:a16="http://schemas.microsoft.com/office/drawing/2014/main" id="{D590E5EE-533F-9422-2EC1-8E23A59C41F7}"/>
              </a:ext>
            </a:extLst>
          </p:cNvPr>
          <p:cNvSpPr>
            <a:spLocks noGrp="1"/>
          </p:cNvSpPr>
          <p:nvPr>
            <p:ph type="title"/>
          </p:nvPr>
        </p:nvSpPr>
        <p:spPr/>
        <p:txBody>
          <a:bodyPr/>
          <a:lstStyle/>
          <a:p>
            <a:r>
              <a:rPr lang="en-US" dirty="0"/>
              <a:t>Comments on the Optical Disclosures in </a:t>
            </a:r>
            <a:r>
              <a:rPr lang="en-US" i="1" dirty="0"/>
              <a:t>Fan et al, 2012 </a:t>
            </a:r>
            <a:r>
              <a:rPr lang="en-US" dirty="0"/>
              <a:t>(2 of 4)</a:t>
            </a:r>
          </a:p>
        </p:txBody>
      </p:sp>
    </p:spTree>
    <p:extLst>
      <p:ext uri="{BB962C8B-B14F-4D97-AF65-F5344CB8AC3E}">
        <p14:creationId xmlns:p14="http://schemas.microsoft.com/office/powerpoint/2010/main" val="3373881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2F490F-9570-9F82-D3E3-B4B8F4A30DD8}"/>
              </a:ext>
            </a:extLst>
          </p:cNvPr>
          <p:cNvSpPr>
            <a:spLocks noGrp="1"/>
          </p:cNvSpPr>
          <p:nvPr>
            <p:ph idx="1"/>
          </p:nvPr>
        </p:nvSpPr>
        <p:spPr/>
        <p:txBody>
          <a:bodyPr>
            <a:normAutofit lnSpcReduction="10000"/>
          </a:bodyPr>
          <a:lstStyle/>
          <a:p>
            <a:r>
              <a:rPr lang="en-US" dirty="0"/>
              <a:t>Since “market demand” is not often a goal of Chinese state-funded projects, an additional question occurs: </a:t>
            </a:r>
          </a:p>
          <a:p>
            <a:pPr lvl="1"/>
            <a:r>
              <a:rPr lang="en-US" b="1" i="1" dirty="0">
                <a:solidFill>
                  <a:schemeClr val="accent1"/>
                </a:solidFill>
              </a:rPr>
              <a:t>What other capabilities are enabled by the experience to build a “high-resolution stereo mapping” optical system? For example: strategic/tactical reconnaissance?</a:t>
            </a:r>
          </a:p>
          <a:p>
            <a:r>
              <a:rPr lang="en-US" dirty="0"/>
              <a:t>It is worth noting that </a:t>
            </a:r>
            <a:r>
              <a:rPr lang="en-US" i="1" dirty="0"/>
              <a:t>Fan et al, 2012 </a:t>
            </a:r>
            <a:r>
              <a:rPr lang="en-US" dirty="0"/>
              <a:t>explicitly states that the elements in the optical design come from a desire to create an “Optical Demonstration Model” (ODM)</a:t>
            </a:r>
          </a:p>
          <a:p>
            <a:pPr lvl="1"/>
            <a:r>
              <a:rPr lang="en-US" dirty="0"/>
              <a:t>The acronym “ODM” occurs six times in the opening paragraphs of the paper</a:t>
            </a:r>
          </a:p>
          <a:p>
            <a:r>
              <a:rPr lang="en-US" dirty="0"/>
              <a:t>This focus suggests a strong desire in the optical design team to:</a:t>
            </a:r>
          </a:p>
          <a:p>
            <a:pPr lvl="1"/>
            <a:r>
              <a:rPr lang="en-US" dirty="0"/>
              <a:t>Work through various elements of optical design for ZY-3 sensors</a:t>
            </a:r>
          </a:p>
          <a:p>
            <a:pPr lvl="1"/>
            <a:r>
              <a:rPr lang="en-US" dirty="0"/>
              <a:t>Understand the pros/cons of different optical trade-offs</a:t>
            </a:r>
          </a:p>
          <a:p>
            <a:pPr lvl="1"/>
            <a:r>
              <a:rPr lang="en-US" dirty="0"/>
              <a:t>Gain experience in actual construction and packaging of sensors prior to commitment into a launch-qualified system</a:t>
            </a:r>
          </a:p>
          <a:p>
            <a:pPr lvl="1"/>
            <a:r>
              <a:rPr lang="en-US" dirty="0"/>
              <a:t>Create a legacy that would survive to guide subsequent modifications and upgrades for improved and advanced versions</a:t>
            </a:r>
          </a:p>
          <a:p>
            <a:pPr lvl="1"/>
            <a:r>
              <a:rPr lang="en-US" dirty="0"/>
              <a:t>Build capability and credibility for Chinese Government optical capabilities and applications </a:t>
            </a:r>
          </a:p>
          <a:p>
            <a:r>
              <a:rPr lang="en-US" dirty="0"/>
              <a:t>Total “spectral range” is substandard to state-of-the-art multispectral systems</a:t>
            </a:r>
          </a:p>
          <a:p>
            <a:pPr lvl="1"/>
            <a:r>
              <a:rPr lang="en-US" dirty="0"/>
              <a:t>No blue for water, and shortened IR limits use for many survey applications</a:t>
            </a:r>
          </a:p>
          <a:p>
            <a:pPr lvl="1"/>
            <a:r>
              <a:rPr lang="en-US" dirty="0"/>
              <a:t>The stated range is more common for Pan cameras</a:t>
            </a:r>
          </a:p>
          <a:p>
            <a:pPr lvl="1"/>
            <a:endParaRPr lang="en-US" dirty="0"/>
          </a:p>
        </p:txBody>
      </p:sp>
      <p:sp>
        <p:nvSpPr>
          <p:cNvPr id="3" name="Slide Number Placeholder 2">
            <a:extLst>
              <a:ext uri="{FF2B5EF4-FFF2-40B4-BE49-F238E27FC236}">
                <a16:creationId xmlns:a16="http://schemas.microsoft.com/office/drawing/2014/main" id="{00C795BA-EC7A-FF5B-169D-A1D29BEA877C}"/>
              </a:ext>
            </a:extLst>
          </p:cNvPr>
          <p:cNvSpPr>
            <a:spLocks noGrp="1"/>
          </p:cNvSpPr>
          <p:nvPr>
            <p:ph type="sldNum" sz="quarter" idx="12"/>
          </p:nvPr>
        </p:nvSpPr>
        <p:spPr/>
        <p:txBody>
          <a:bodyPr/>
          <a:lstStyle/>
          <a:p>
            <a:fld id="{9EA51DAC-3F90-4AAD-A1AF-FE7171D4A594}" type="slidenum">
              <a:rPr lang="en-US" smtClean="0"/>
              <a:pPr/>
              <a:t>27</a:t>
            </a:fld>
            <a:endParaRPr lang="en-US"/>
          </a:p>
        </p:txBody>
      </p:sp>
      <p:sp>
        <p:nvSpPr>
          <p:cNvPr id="4" name="Title 3">
            <a:extLst>
              <a:ext uri="{FF2B5EF4-FFF2-40B4-BE49-F238E27FC236}">
                <a16:creationId xmlns:a16="http://schemas.microsoft.com/office/drawing/2014/main" id="{636D6C12-401C-85DF-6CB8-816E1C56ACAC}"/>
              </a:ext>
            </a:extLst>
          </p:cNvPr>
          <p:cNvSpPr>
            <a:spLocks noGrp="1"/>
          </p:cNvSpPr>
          <p:nvPr>
            <p:ph type="title"/>
          </p:nvPr>
        </p:nvSpPr>
        <p:spPr/>
        <p:txBody>
          <a:bodyPr/>
          <a:lstStyle/>
          <a:p>
            <a:r>
              <a:rPr lang="en-US" dirty="0"/>
              <a:t>Comments on the Optical Disclosures in </a:t>
            </a:r>
            <a:r>
              <a:rPr lang="en-US" i="1" dirty="0"/>
              <a:t>Fan et al, 2012 </a:t>
            </a:r>
            <a:r>
              <a:rPr lang="en-US" dirty="0"/>
              <a:t>(3 of 4)</a:t>
            </a:r>
            <a:endParaRPr lang="en-US" b="1" dirty="0"/>
          </a:p>
        </p:txBody>
      </p:sp>
    </p:spTree>
    <p:extLst>
      <p:ext uri="{BB962C8B-B14F-4D97-AF65-F5344CB8AC3E}">
        <p14:creationId xmlns:p14="http://schemas.microsoft.com/office/powerpoint/2010/main" val="2369161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0C08F6-F9B2-738E-62A5-6E34C2D7AD37}"/>
              </a:ext>
            </a:extLst>
          </p:cNvPr>
          <p:cNvSpPr>
            <a:spLocks noGrp="1"/>
          </p:cNvSpPr>
          <p:nvPr>
            <p:ph idx="1"/>
          </p:nvPr>
        </p:nvSpPr>
        <p:spPr/>
        <p:txBody>
          <a:bodyPr/>
          <a:lstStyle/>
          <a:p>
            <a:r>
              <a:rPr lang="en-US" dirty="0"/>
              <a:t>It is worth noting that </a:t>
            </a:r>
            <a:r>
              <a:rPr lang="en-US" i="1" dirty="0"/>
              <a:t>Fan et al, 2012 </a:t>
            </a:r>
            <a:r>
              <a:rPr lang="en-US" dirty="0"/>
              <a:t>explicitly states that the elements in the optical design come from a desire to create an “Optical Demonstration Model” (ODM)</a:t>
            </a:r>
          </a:p>
          <a:p>
            <a:pPr lvl="1"/>
            <a:r>
              <a:rPr lang="en-US" dirty="0"/>
              <a:t>The acronym “ODM” occurs six times in the opening paragraphs of the paper</a:t>
            </a:r>
          </a:p>
          <a:p>
            <a:r>
              <a:rPr lang="en-US" dirty="0"/>
              <a:t>This focus suggests a strong desire in the optical design team to:</a:t>
            </a:r>
          </a:p>
          <a:p>
            <a:pPr lvl="1"/>
            <a:r>
              <a:rPr lang="en-US" dirty="0"/>
              <a:t>Work through various elements of optical design for ZY-3 sensors</a:t>
            </a:r>
          </a:p>
          <a:p>
            <a:pPr lvl="1"/>
            <a:r>
              <a:rPr lang="en-US" dirty="0"/>
              <a:t>Understand the pros/cons of different optical trade-offs</a:t>
            </a:r>
          </a:p>
          <a:p>
            <a:pPr lvl="1"/>
            <a:r>
              <a:rPr lang="en-US" dirty="0"/>
              <a:t>Gain experience in actual construction and packaging of sensors prior to commitment into a launch-qualified system</a:t>
            </a:r>
          </a:p>
          <a:p>
            <a:pPr lvl="1"/>
            <a:r>
              <a:rPr lang="en-US" dirty="0"/>
              <a:t>Create a legacy that would survive to guide subsequent modifications and upgrades for improved and advanced versions</a:t>
            </a:r>
          </a:p>
          <a:p>
            <a:pPr lvl="1"/>
            <a:r>
              <a:rPr lang="en-US" dirty="0"/>
              <a:t>Build capability and credibility for Chinese Government optical capabilities and applications </a:t>
            </a:r>
          </a:p>
        </p:txBody>
      </p:sp>
      <p:sp>
        <p:nvSpPr>
          <p:cNvPr id="3" name="Slide Number Placeholder 2">
            <a:extLst>
              <a:ext uri="{FF2B5EF4-FFF2-40B4-BE49-F238E27FC236}">
                <a16:creationId xmlns:a16="http://schemas.microsoft.com/office/drawing/2014/main" id="{881CBD2F-28BE-1DF3-CBA6-58B8B7C30096}"/>
              </a:ext>
            </a:extLst>
          </p:cNvPr>
          <p:cNvSpPr>
            <a:spLocks noGrp="1"/>
          </p:cNvSpPr>
          <p:nvPr>
            <p:ph type="sldNum" sz="quarter" idx="12"/>
          </p:nvPr>
        </p:nvSpPr>
        <p:spPr/>
        <p:txBody>
          <a:bodyPr/>
          <a:lstStyle/>
          <a:p>
            <a:fld id="{9EA51DAC-3F90-4AAD-A1AF-FE7171D4A594}" type="slidenum">
              <a:rPr lang="en-US" smtClean="0"/>
              <a:pPr/>
              <a:t>28</a:t>
            </a:fld>
            <a:endParaRPr lang="en-US"/>
          </a:p>
        </p:txBody>
      </p:sp>
      <p:sp>
        <p:nvSpPr>
          <p:cNvPr id="4" name="Title 3">
            <a:extLst>
              <a:ext uri="{FF2B5EF4-FFF2-40B4-BE49-F238E27FC236}">
                <a16:creationId xmlns:a16="http://schemas.microsoft.com/office/drawing/2014/main" id="{A0157632-D293-B306-5B3C-6F5EAC4CBA61}"/>
              </a:ext>
            </a:extLst>
          </p:cNvPr>
          <p:cNvSpPr>
            <a:spLocks noGrp="1"/>
          </p:cNvSpPr>
          <p:nvPr>
            <p:ph type="title"/>
          </p:nvPr>
        </p:nvSpPr>
        <p:spPr/>
        <p:txBody>
          <a:bodyPr/>
          <a:lstStyle/>
          <a:p>
            <a:r>
              <a:rPr lang="en-US" dirty="0"/>
              <a:t>Comments on the Optical Disclosures in </a:t>
            </a:r>
            <a:r>
              <a:rPr lang="en-US" i="1" dirty="0"/>
              <a:t>Fan et al, 2012 </a:t>
            </a:r>
            <a:r>
              <a:rPr lang="en-US" dirty="0"/>
              <a:t>(4 of 4)</a:t>
            </a:r>
          </a:p>
        </p:txBody>
      </p:sp>
    </p:spTree>
    <p:extLst>
      <p:ext uri="{BB962C8B-B14F-4D97-AF65-F5344CB8AC3E}">
        <p14:creationId xmlns:p14="http://schemas.microsoft.com/office/powerpoint/2010/main" val="4158409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5BEE71-D584-DC78-99FC-C9CCD36A7D75}"/>
              </a:ext>
            </a:extLst>
          </p:cNvPr>
          <p:cNvSpPr>
            <a:spLocks noGrp="1"/>
          </p:cNvSpPr>
          <p:nvPr>
            <p:ph idx="1"/>
          </p:nvPr>
        </p:nvSpPr>
        <p:spPr/>
        <p:txBody>
          <a:bodyPr/>
          <a:lstStyle/>
          <a:p>
            <a:endParaRPr lang="en-US" dirty="0"/>
          </a:p>
          <a:p>
            <a:r>
              <a:rPr lang="en-US" dirty="0"/>
              <a:t>The comments above are offered to be a background of motivations and design framework for interpreting the information disclosed</a:t>
            </a:r>
          </a:p>
          <a:p>
            <a:pPr marL="0" indent="0">
              <a:buNone/>
            </a:pPr>
            <a:endParaRPr lang="en-US" sz="800" dirty="0"/>
          </a:p>
          <a:p>
            <a:r>
              <a:rPr lang="en-US" dirty="0"/>
              <a:t>However, there are “contradictions, ambiguities, and errors” in the actual details that are disclosed</a:t>
            </a:r>
            <a:endParaRPr lang="en-US" sz="800" dirty="0"/>
          </a:p>
          <a:p>
            <a:endParaRPr lang="en-US" sz="800" dirty="0"/>
          </a:p>
          <a:p>
            <a:r>
              <a:rPr lang="en-US" dirty="0"/>
              <a:t>It is also possible the difficulties with </a:t>
            </a:r>
            <a:r>
              <a:rPr lang="en-US" i="1" dirty="0"/>
              <a:t>Fan et al, 2012 </a:t>
            </a:r>
            <a:r>
              <a:rPr lang="en-US" dirty="0"/>
              <a:t>content are known to responsible individuals in China, and the paper is considered more as publicity than archival </a:t>
            </a:r>
          </a:p>
          <a:p>
            <a:pPr marL="0" indent="0">
              <a:buNone/>
            </a:pPr>
            <a:endParaRPr lang="en-US" sz="800" dirty="0"/>
          </a:p>
          <a:p>
            <a:r>
              <a:rPr lang="en-US" dirty="0"/>
              <a:t>In this spirit, we have identified problems with blindly or unconditionally accepting the material in </a:t>
            </a:r>
            <a:r>
              <a:rPr lang="en-US" i="1" dirty="0"/>
              <a:t>Fan et al, 2012</a:t>
            </a:r>
          </a:p>
        </p:txBody>
      </p:sp>
      <p:sp>
        <p:nvSpPr>
          <p:cNvPr id="3" name="Slide Number Placeholder 2">
            <a:extLst>
              <a:ext uri="{FF2B5EF4-FFF2-40B4-BE49-F238E27FC236}">
                <a16:creationId xmlns:a16="http://schemas.microsoft.com/office/drawing/2014/main" id="{374FF3CD-C963-E9FD-422D-4C91C99390FC}"/>
              </a:ext>
            </a:extLst>
          </p:cNvPr>
          <p:cNvSpPr>
            <a:spLocks noGrp="1"/>
          </p:cNvSpPr>
          <p:nvPr>
            <p:ph type="sldNum" sz="quarter" idx="12"/>
          </p:nvPr>
        </p:nvSpPr>
        <p:spPr/>
        <p:txBody>
          <a:bodyPr/>
          <a:lstStyle/>
          <a:p>
            <a:fld id="{9EA51DAC-3F90-4AAD-A1AF-FE7171D4A594}" type="slidenum">
              <a:rPr lang="en-US" smtClean="0"/>
              <a:pPr/>
              <a:t>29</a:t>
            </a:fld>
            <a:endParaRPr lang="en-US"/>
          </a:p>
        </p:txBody>
      </p:sp>
      <p:sp>
        <p:nvSpPr>
          <p:cNvPr id="4" name="Title 3">
            <a:extLst>
              <a:ext uri="{FF2B5EF4-FFF2-40B4-BE49-F238E27FC236}">
                <a16:creationId xmlns:a16="http://schemas.microsoft.com/office/drawing/2014/main" id="{44506DAA-8867-7C0D-3376-39757773B4E0}"/>
              </a:ext>
            </a:extLst>
          </p:cNvPr>
          <p:cNvSpPr>
            <a:spLocks noGrp="1"/>
          </p:cNvSpPr>
          <p:nvPr>
            <p:ph type="title"/>
          </p:nvPr>
        </p:nvSpPr>
        <p:spPr/>
        <p:txBody>
          <a:bodyPr/>
          <a:lstStyle/>
          <a:p>
            <a:r>
              <a:rPr lang="en-US" dirty="0"/>
              <a:t>Concerns for the Information Disclosed in </a:t>
            </a:r>
            <a:r>
              <a:rPr lang="en-US" i="1" dirty="0"/>
              <a:t>Fan et al, 2012</a:t>
            </a:r>
          </a:p>
        </p:txBody>
      </p:sp>
    </p:spTree>
    <p:extLst>
      <p:ext uri="{BB962C8B-B14F-4D97-AF65-F5344CB8AC3E}">
        <p14:creationId xmlns:p14="http://schemas.microsoft.com/office/powerpoint/2010/main" val="1216939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2">
            <a:extLst>
              <a:ext uri="{FF2B5EF4-FFF2-40B4-BE49-F238E27FC236}">
                <a16:creationId xmlns:a16="http://schemas.microsoft.com/office/drawing/2014/main" id="{2847710A-A45F-48C8-B904-F2B5AC0446FA}"/>
              </a:ext>
            </a:extLst>
          </p:cNvPr>
          <p:cNvSpPr txBox="1">
            <a:spLocks/>
          </p:cNvSpPr>
          <p:nvPr/>
        </p:nvSpPr>
        <p:spPr>
          <a:xfrm>
            <a:off x="384298" y="5348688"/>
            <a:ext cx="5696622" cy="960597"/>
          </a:xfrm>
          <a:prstGeom prst="rect">
            <a:avLst/>
          </a:prstGeom>
        </p:spPr>
        <p:txBody>
          <a:bodyPr/>
          <a:lstStyle>
            <a:lvl1pPr marL="230188" indent="-230188" algn="l" defTabSz="914400" rtl="0" eaLnBrk="1" latinLnBrk="0" hangingPunct="1">
              <a:spcBef>
                <a:spcPts val="1200"/>
              </a:spcBef>
              <a:buClr>
                <a:srgbClr val="0F578E"/>
              </a:buClr>
              <a:buFont typeface="Wingdings" panose="05000000000000000000" pitchFamily="2" charset="2"/>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61963" indent="-227013" algn="l" defTabSz="914400" rtl="0" eaLnBrk="1" latinLnBrk="0" hangingPunct="1">
              <a:spcBef>
                <a:spcPts val="600"/>
              </a:spcBef>
              <a:buClr>
                <a:srgbClr val="0F578E"/>
              </a:buClr>
              <a:buFont typeface="Open Sans" panose="020B0606030504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682625" indent="-228600" algn="l" defTabSz="914400" rtl="0" eaLnBrk="1" latinLnBrk="0" hangingPunct="1">
              <a:spcBef>
                <a:spcPts val="600"/>
              </a:spcBef>
              <a:buClr>
                <a:srgbClr val="0F578E"/>
              </a:buClr>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915988" indent="-228600" algn="l" defTabSz="914400" rtl="0" eaLnBrk="1" latinLnBrk="0" hangingPunct="1">
              <a:spcBef>
                <a:spcPts val="600"/>
              </a:spcBef>
              <a:buClr>
                <a:srgbClr val="0F578E"/>
              </a:buClr>
              <a:buFont typeface="Open Sans" panose="020B0606030504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143000" indent="-228600" algn="l" defTabSz="914400" rtl="0" eaLnBrk="1" latinLnBrk="0" hangingPunct="1">
              <a:spcBef>
                <a:spcPts val="600"/>
              </a:spcBef>
              <a:buClr>
                <a:srgbClr val="0F578E"/>
              </a:buClr>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endParaRPr lang="en-US" sz="1800" i="1">
              <a:solidFill>
                <a:srgbClr val="0F578E"/>
              </a:solidFill>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 name="Title 1">
            <a:extLst>
              <a:ext uri="{FF2B5EF4-FFF2-40B4-BE49-F238E27FC236}">
                <a16:creationId xmlns:a16="http://schemas.microsoft.com/office/drawing/2014/main" id="{8DAF2919-A97C-FFB7-98BE-03075F2B3737}"/>
              </a:ext>
            </a:extLst>
          </p:cNvPr>
          <p:cNvSpPr>
            <a:spLocks noGrp="1"/>
          </p:cNvSpPr>
          <p:nvPr>
            <p:ph type="title"/>
          </p:nvPr>
        </p:nvSpPr>
        <p:spPr>
          <a:xfrm>
            <a:off x="740665" y="5753436"/>
            <a:ext cx="5176042" cy="1104563"/>
          </a:xfrm>
        </p:spPr>
        <p:txBody>
          <a:bodyPr/>
          <a:lstStyle/>
          <a:p>
            <a:r>
              <a:rPr lang="en-US" dirty="0"/>
              <a:t>Thank you. </a:t>
            </a:r>
          </a:p>
        </p:txBody>
      </p:sp>
      <p:pic>
        <p:nvPicPr>
          <p:cNvPr id="5" name="Picture 4" descr="Logo&#10;&#10;AI-generated content may be incorrect.">
            <a:extLst>
              <a:ext uri="{FF2B5EF4-FFF2-40B4-BE49-F238E27FC236}">
                <a16:creationId xmlns:a16="http://schemas.microsoft.com/office/drawing/2014/main" id="{A112DF42-E80D-3501-B255-0140BB9DD1CD}"/>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8296275" y="5681250"/>
            <a:ext cx="3657600" cy="1029066"/>
          </a:xfrm>
          <a:prstGeom prst="rect">
            <a:avLst/>
          </a:prstGeom>
        </p:spPr>
      </p:pic>
    </p:spTree>
    <p:extLst>
      <p:ext uri="{BB962C8B-B14F-4D97-AF65-F5344CB8AC3E}">
        <p14:creationId xmlns:p14="http://schemas.microsoft.com/office/powerpoint/2010/main" val="2874743668"/>
      </p:ext>
    </p:extLst>
  </p:cSld>
  <p:clrMapOvr>
    <a:masterClrMapping/>
  </p:clrMapOvr>
</p:sld>
</file>

<file path=ppt/theme/theme1.xml><?xml version="1.0" encoding="utf-8"?>
<a:theme xmlns:a="http://schemas.openxmlformats.org/drawingml/2006/main" name="Epsilon Template 1">
  <a:themeElements>
    <a:clrScheme name="Epsilon 2018">
      <a:dk1>
        <a:srgbClr val="000000"/>
      </a:dk1>
      <a:lt1>
        <a:srgbClr val="FFFFFF"/>
      </a:lt1>
      <a:dk2>
        <a:srgbClr val="3D3D3D"/>
      </a:dk2>
      <a:lt2>
        <a:srgbClr val="F4F4F4"/>
      </a:lt2>
      <a:accent1>
        <a:srgbClr val="11568C"/>
      </a:accent1>
      <a:accent2>
        <a:srgbClr val="FFBA00"/>
      </a:accent2>
      <a:accent3>
        <a:srgbClr val="00ABFE"/>
      </a:accent3>
      <a:accent4>
        <a:srgbClr val="71A1C6"/>
      </a:accent4>
      <a:accent5>
        <a:srgbClr val="252A3B"/>
      </a:accent5>
      <a:accent6>
        <a:srgbClr val="B51919"/>
      </a:accent6>
      <a:hlink>
        <a:srgbClr val="CC9900"/>
      </a:hlink>
      <a:folHlink>
        <a:srgbClr val="969696"/>
      </a:folHlink>
    </a:clrScheme>
    <a:fontScheme name="Epsilon Systems">
      <a:majorFont>
        <a:latin typeface="Arial Narrow"/>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f7d6748b-a306-4116-a69e-03d0d4dc3b08" xsi:nil="true"/>
    <MigrationWizIdDocumentLibraryPermissions xmlns="f7d6748b-a306-4116-a69e-03d0d4dc3b08" xsi:nil="true"/>
    <MigrationWizIdPermissions xmlns="f7d6748b-a306-4116-a69e-03d0d4dc3b08" xsi:nil="true"/>
    <MigrationWizIdSecurityGroups xmlns="f7d6748b-a306-4116-a69e-03d0d4dc3b08" xsi:nil="true"/>
    <MigrationWizIdPermissionLevels xmlns="f7d6748b-a306-4116-a69e-03d0d4dc3b08" xsi:nil="true"/>
    <MigrationWizId xmlns="f7d6748b-a306-4116-a69e-03d0d4dc3b08" xsi:nil="true"/>
    <lcf76f155ced4ddcb4097134ff3c332f xmlns="f7d6748b-a306-4116-a69e-03d0d4dc3b08">
      <Terms xmlns="http://schemas.microsoft.com/office/infopath/2007/PartnerControls"/>
    </lcf76f155ced4ddcb4097134ff3c332f>
    <TaxCatchAll xmlns="696ba6e9-29e8-47f9-b175-06379eed6e4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2FE2917B12CD846984B8194069F289E" ma:contentTypeVersion="20" ma:contentTypeDescription="Create a new document." ma:contentTypeScope="" ma:versionID="653b4046a5a8a32aecd122d05dc2f6da">
  <xsd:schema xmlns:xsd="http://www.w3.org/2001/XMLSchema" xmlns:xs="http://www.w3.org/2001/XMLSchema" xmlns:p="http://schemas.microsoft.com/office/2006/metadata/properties" xmlns:ns2="f7d6748b-a306-4116-a69e-03d0d4dc3b08" xmlns:ns3="696ba6e9-29e8-47f9-b175-06379eed6e48" targetNamespace="http://schemas.microsoft.com/office/2006/metadata/properties" ma:root="true" ma:fieldsID="b2c8f810b0c53518ddc5812d1a3f6c1a" ns2:_="" ns3:_="">
    <xsd:import namespace="f7d6748b-a306-4116-a69e-03d0d4dc3b08"/>
    <xsd:import namespace="696ba6e9-29e8-47f9-b175-06379eed6e48"/>
    <xsd:element name="properties">
      <xsd:complexType>
        <xsd:sequence>
          <xsd:element name="documentManagement">
            <xsd:complexType>
              <xsd:all>
                <xsd:element ref="ns2:MediaServiceMetadata" minOccurs="0"/>
                <xsd:element ref="ns2:MediaServiceFastMetadata" minOccurs="0"/>
                <xsd:element ref="ns2:Notes" minOccurs="0"/>
                <xsd:element ref="ns2:MediaServiceSearchProperties" minOccurs="0"/>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d6748b-a306-4116-a69e-03d0d4dc3b08"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Notes" ma:index="7" nillable="true" ma:displayName="Notes" ma:internalName="Notes0" ma:readOnly="false">
      <xsd:simpleType>
        <xsd:restriction base="dms:Text">
          <xsd:maxLength value="255"/>
        </xsd:restriction>
      </xsd:simpleType>
    </xsd:element>
    <xsd:element name="MediaServiceSearchProperties" ma:index="8" nillable="true" ma:displayName="MediaServiceSearchProperties" ma:hidden="true" ma:internalName="MediaServiceSearchProperties" ma:readOnly="true">
      <xsd:simpleType>
        <xsd:restriction base="dms:Note"/>
      </xsd:simpleType>
    </xsd:element>
    <xsd:element name="MigrationWizId" ma:index="12" nillable="true" ma:displayName="MigrationWizId" ma:internalName="MigrationWizId">
      <xsd:simpleType>
        <xsd:restriction base="dms:Text"/>
      </xsd:simpleType>
    </xsd:element>
    <xsd:element name="MigrationWizIdPermissions" ma:index="13" nillable="true" ma:displayName="MigrationWizIdPermissions" ma:internalName="MigrationWizIdPermissions">
      <xsd:simpleType>
        <xsd:restriction base="dms:Text"/>
      </xsd:simpleType>
    </xsd:element>
    <xsd:element name="MigrationWizIdPermissionLevels" ma:index="14" nillable="true" ma:displayName="MigrationWizIdPermissionLevels" ma:internalName="MigrationWizIdPermissionLevels">
      <xsd:simpleType>
        <xsd:restriction base="dms:Text"/>
      </xsd:simpleType>
    </xsd:element>
    <xsd:element name="MigrationWizIdDocumentLibraryPermissions" ma:index="15" nillable="true" ma:displayName="MigrationWizIdDocumentLibraryPermissions" ma:internalName="MigrationWizIdDocumentLibraryPermissions">
      <xsd:simpleType>
        <xsd:restriction base="dms:Text"/>
      </xsd:simpleType>
    </xsd:element>
    <xsd:element name="MigrationWizIdSecurityGroups" ma:index="16" nillable="true" ma:displayName="MigrationWizIdSecurityGroups" ma:internalName="MigrationWizIdSecurityGroups">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a9cc39-26e9-4049-b1fc-f50eeba7a061"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6ba6e9-29e8-47f9-b175-06379eed6e48"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25e27d50-898c-44ef-9757-551d1f9a1479}" ma:internalName="TaxCatchAll" ma:showField="CatchAllData" ma:web="696ba6e9-29e8-47f9-b175-06379eed6e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FEA402-FF83-4565-B7F3-710ECA69978D}">
  <ds:schemaRefs>
    <ds:schemaRef ds:uri="http://schemas.microsoft.com/office/infopath/2007/PartnerControls"/>
    <ds:schemaRef ds:uri="http://schemas.microsoft.com/office/2006/documentManagement/types"/>
    <ds:schemaRef ds:uri="http://schemas.microsoft.com/office/2006/metadata/properties"/>
    <ds:schemaRef ds:uri="http://purl.org/dc/dcmitype/"/>
    <ds:schemaRef ds:uri="http://purl.org/dc/terms/"/>
    <ds:schemaRef ds:uri="696ba6e9-29e8-47f9-b175-06379eed6e48"/>
    <ds:schemaRef ds:uri="f7d6748b-a306-4116-a69e-03d0d4dc3b08"/>
    <ds:schemaRef ds:uri="http://www.w3.org/XML/1998/namespace"/>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FFC83993-4B46-4FF0-A585-62104296C0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d6748b-a306-4116-a69e-03d0d4dc3b08"/>
    <ds:schemaRef ds:uri="696ba6e9-29e8-47f9-b175-06379eed6e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103AAF8-B8DE-4CE9-B9E7-7D82F3D9F9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6225</TotalTime>
  <Words>3861</Words>
  <Application>Microsoft Office PowerPoint</Application>
  <PresentationFormat>Custom</PresentationFormat>
  <Paragraphs>415</Paragraphs>
  <Slides>30</Slides>
  <Notes>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30</vt:i4>
      </vt:variant>
    </vt:vector>
  </HeadingPairs>
  <TitlesOfParts>
    <vt:vector size="45" baseType="lpstr">
      <vt:lpstr>Aptos</vt:lpstr>
      <vt:lpstr>Aptos Display</vt:lpstr>
      <vt:lpstr>Aptos Narrow</vt:lpstr>
      <vt:lpstr>Arial</vt:lpstr>
      <vt:lpstr>Arial Narrow</vt:lpstr>
      <vt:lpstr>Bell MT</vt:lpstr>
      <vt:lpstr>Calibri</vt:lpstr>
      <vt:lpstr>Cambria Math</vt:lpstr>
      <vt:lpstr>Open Sans</vt:lpstr>
      <vt:lpstr>Roboto Condensed</vt:lpstr>
      <vt:lpstr>Roboto Condensed Light</vt:lpstr>
      <vt:lpstr>Times New Roman</vt:lpstr>
      <vt:lpstr>Wingdings</vt:lpstr>
      <vt:lpstr>Epsilon Template 1</vt:lpstr>
      <vt:lpstr>Custom Design</vt:lpstr>
      <vt:lpstr>Chinese ZY-3 Satellite Disclosures: Analysis and Comments, Part 1 Bobby Hunt Amber Iler</vt:lpstr>
      <vt:lpstr>Outline</vt:lpstr>
      <vt:lpstr>Purpose</vt:lpstr>
      <vt:lpstr>Summary of Discrepancies</vt:lpstr>
      <vt:lpstr>Outline</vt:lpstr>
      <vt:lpstr>Basic Concepts of Optics</vt:lpstr>
      <vt:lpstr>Optics: From Pinhole to Large Aperture</vt:lpstr>
      <vt:lpstr>Outline</vt:lpstr>
      <vt:lpstr>Overview of the Optical System of ZY-3</vt:lpstr>
      <vt:lpstr>Optical System Design Details of ZY-3</vt:lpstr>
      <vt:lpstr>“Nearly” Telecentric Optics in ZY-3</vt:lpstr>
      <vt:lpstr>Gleaning Information from the “Optical System Design Details of ZY-3”</vt:lpstr>
      <vt:lpstr>ZY-3 01 vs. ZY-3 03 Sensor Comparisons</vt:lpstr>
      <vt:lpstr>MTF Statements in Fan et al, 2012</vt:lpstr>
      <vt:lpstr>Sampling of Optical Data</vt:lpstr>
      <vt:lpstr>Example of Optical Aliasing Effects (1 of 2)</vt:lpstr>
      <vt:lpstr>Example of Optical Aliasing Effects (2 of 2)</vt:lpstr>
      <vt:lpstr>Quality Factor (Q) Metric</vt:lpstr>
      <vt:lpstr>Conclusions to Draw from MTF Data presented in Fan et al 2012 (1 of 2)</vt:lpstr>
      <vt:lpstr>Conclusions to Draw from MTF Data presented in Fan et al 2012 (2 of 2)</vt:lpstr>
      <vt:lpstr>Pixel Size and GSD</vt:lpstr>
      <vt:lpstr>What Does Choice of Spectral Range Tell Us?</vt:lpstr>
      <vt:lpstr>Outline</vt:lpstr>
      <vt:lpstr>Summary of Findings</vt:lpstr>
      <vt:lpstr>Comments on the Optical Disclosures in Fan et al, 2012 (1 of 4)</vt:lpstr>
      <vt:lpstr>Comments on the Optical Disclosures in Fan et al, 2012 (2 of 4)</vt:lpstr>
      <vt:lpstr>Comments on the Optical Disclosures in Fan et al, 2012 (3 of 4)</vt:lpstr>
      <vt:lpstr>Comments on the Optical Disclosures in Fan et al, 2012 (4 of 4)</vt:lpstr>
      <vt:lpstr>Concerns for the Information Disclosed in Fan et al, 2012</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Amber Iler</dc:creator>
  <cp:lastModifiedBy>Amber Iler</cp:lastModifiedBy>
  <cp:revision>37</cp:revision>
  <cp:lastPrinted>2018-02-22T00:13:47Z</cp:lastPrinted>
  <dcterms:created xsi:type="dcterms:W3CDTF">2018-03-22T17:44:01Z</dcterms:created>
  <dcterms:modified xsi:type="dcterms:W3CDTF">2026-05-19T18:21:48Z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0x01010072FE2917B12CD846984B8194069F289E</vt:lpwstr>
  </property>
  <property fmtid="{D5CDD505-2E9C-101B-9397-08002B2CF9AE}" pid="3" name="MediaServiceImageTags">
    <vt:lpwstr/>
  </property>
  <property fmtid="{D5CDD505-2E9C-101B-9397-08002B2CF9AE}" pid="4" name="_ExtendedDescription">
    <vt:lpwstr/>
  </property>
</Properties>
</file>